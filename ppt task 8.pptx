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24" r:id="rId1"/>
  </p:sldMasterIdLst>
  <p:notesMasterIdLst>
    <p:notesMasterId r:id="rId37"/>
  </p:notesMasterIdLst>
  <p:sldIdLst>
    <p:sldId id="256" r:id="rId2"/>
    <p:sldId id="257" r:id="rId3"/>
    <p:sldId id="258" r:id="rId4"/>
    <p:sldId id="273" r:id="rId5"/>
    <p:sldId id="275" r:id="rId6"/>
    <p:sldId id="276" r:id="rId7"/>
    <p:sldId id="279" r:id="rId8"/>
    <p:sldId id="281" r:id="rId9"/>
    <p:sldId id="282" r:id="rId10"/>
    <p:sldId id="283" r:id="rId11"/>
    <p:sldId id="284" r:id="rId12"/>
    <p:sldId id="285" r:id="rId13"/>
    <p:sldId id="286" r:id="rId14"/>
    <p:sldId id="287" r:id="rId15"/>
    <p:sldId id="288" r:id="rId16"/>
    <p:sldId id="289" r:id="rId17"/>
    <p:sldId id="290" r:id="rId18"/>
    <p:sldId id="291" r:id="rId19"/>
    <p:sldId id="293" r:id="rId20"/>
    <p:sldId id="294" r:id="rId21"/>
    <p:sldId id="295" r:id="rId22"/>
    <p:sldId id="296" r:id="rId23"/>
    <p:sldId id="297" r:id="rId24"/>
    <p:sldId id="298" r:id="rId25"/>
    <p:sldId id="299" r:id="rId26"/>
    <p:sldId id="309" r:id="rId27"/>
    <p:sldId id="300" r:id="rId28"/>
    <p:sldId id="301" r:id="rId29"/>
    <p:sldId id="302" r:id="rId30"/>
    <p:sldId id="303" r:id="rId31"/>
    <p:sldId id="304" r:id="rId32"/>
    <p:sldId id="305" r:id="rId33"/>
    <p:sldId id="306" r:id="rId34"/>
    <p:sldId id="307" r:id="rId35"/>
    <p:sldId id="308" r:id="rId36"/>
  </p:sldIdLst>
  <p:sldSz cx="9144000" cy="5143500" type="screen16x9"/>
  <p:notesSz cx="6858000" cy="9144000"/>
  <p:embeddedFontLst>
    <p:embeddedFont>
      <p:font typeface="Calibri" panose="020F0502020204030204" pitchFamily="34" charset="0"/>
      <p:regular r:id="rId38"/>
      <p:bold r:id="rId39"/>
      <p:italic r:id="rId40"/>
      <p:boldItalic r:id="rId41"/>
    </p:embeddedFont>
    <p:embeddedFont>
      <p:font typeface="Covered By Your Grace" panose="020B0604020202020204" charset="0"/>
      <p:regular r:id="rId42"/>
    </p:embeddedFont>
    <p:embeddedFont>
      <p:font typeface="Roboto Serif" panose="020B0604020202020204" charset="0"/>
      <p:regular r:id="rId43"/>
      <p:bold r:id="rId44"/>
      <p:italic r:id="rId45"/>
      <p:boldItalic r:id="rId46"/>
    </p:embeddedFont>
    <p:embeddedFont>
      <p:font typeface="Segoe Script" panose="030B0504020000000003" pitchFamily="66" charset="0"/>
      <p:regular r:id="rId47"/>
      <p:bold r:id="rId4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FA7DA"/>
    <a:srgbClr val="F7F73F"/>
    <a:srgbClr val="A4DEF2"/>
    <a:srgbClr val="FCF7D0"/>
    <a:srgbClr val="FFFF00"/>
    <a:srgbClr val="3C804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BCA7BCE-6A5B-444C-A6F1-3AD6A30E99FE}">
  <a:tblStyle styleId="{CBCA7BCE-6A5B-444C-A6F1-3AD6A30E99FE}"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04" autoAdjust="0"/>
    <p:restoredTop sz="94660"/>
  </p:normalViewPr>
  <p:slideViewPr>
    <p:cSldViewPr snapToGrid="0">
      <p:cViewPr varScale="1">
        <p:scale>
          <a:sx n="94" d="100"/>
          <a:sy n="94" d="100"/>
        </p:scale>
        <p:origin x="636" y="90"/>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2.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5.fntdata"/><Relationship Id="rId47" Type="http://schemas.openxmlformats.org/officeDocument/2006/relationships/font" Target="fonts/font10.fntdata"/><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font" Target="fonts/font3.fntdata"/><Relationship Id="rId45" Type="http://schemas.openxmlformats.org/officeDocument/2006/relationships/font" Target="fonts/font8.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7.fntdata"/><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6.fntdata"/><Relationship Id="rId48" Type="http://schemas.openxmlformats.org/officeDocument/2006/relationships/font" Target="fonts/font11.fntdata"/><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1.fntdata"/><Relationship Id="rId46" Type="http://schemas.openxmlformats.org/officeDocument/2006/relationships/font" Target="fonts/font9.fntdata"/><Relationship Id="rId20" Type="http://schemas.openxmlformats.org/officeDocument/2006/relationships/slide" Target="slides/slide19.xml"/><Relationship Id="rId41"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1"/>
        <p:cNvGrpSpPr/>
        <p:nvPr/>
      </p:nvGrpSpPr>
      <p:grpSpPr>
        <a:xfrm>
          <a:off x="0" y="0"/>
          <a:ext cx="0" cy="0"/>
          <a:chOff x="0" y="0"/>
          <a:chExt cx="0" cy="0"/>
        </a:xfrm>
      </p:grpSpPr>
      <p:sp>
        <p:nvSpPr>
          <p:cNvPr id="562" name="Google Shape;562;g3b87f8d6067_0_3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3" name="Google Shape;563;g3b87f8d6067_0_3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1"/>
        <p:cNvGrpSpPr/>
        <p:nvPr/>
      </p:nvGrpSpPr>
      <p:grpSpPr>
        <a:xfrm>
          <a:off x="0" y="0"/>
          <a:ext cx="0" cy="0"/>
          <a:chOff x="0" y="0"/>
          <a:chExt cx="0" cy="0"/>
        </a:xfrm>
      </p:grpSpPr>
      <p:sp>
        <p:nvSpPr>
          <p:cNvPr id="572" name="Google Shape;572;g3b87f8d6067_0_3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3" name="Google Shape;573;g3b87f8d6067_0_3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7"/>
        <p:cNvGrpSpPr/>
        <p:nvPr/>
      </p:nvGrpSpPr>
      <p:grpSpPr>
        <a:xfrm>
          <a:off x="0" y="0"/>
          <a:ext cx="0" cy="0"/>
          <a:chOff x="0" y="0"/>
          <a:chExt cx="0" cy="0"/>
        </a:xfrm>
      </p:grpSpPr>
      <p:sp>
        <p:nvSpPr>
          <p:cNvPr id="578" name="Google Shape;578;g3b87f8d6067_0_3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9" name="Google Shape;579;g3b87f8d6067_0_3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Custom title slide" type="title">
  <p:cSld name="TITLE">
    <p:bg>
      <p:bgPr>
        <a:solidFill>
          <a:schemeClr val="accent1"/>
        </a:solidFill>
        <a:effectLst/>
      </p:bgPr>
    </p:bg>
    <p:spTree>
      <p:nvGrpSpPr>
        <p:cNvPr id="1" name="Shape 294"/>
        <p:cNvGrpSpPr/>
        <p:nvPr/>
      </p:nvGrpSpPr>
      <p:grpSpPr>
        <a:xfrm>
          <a:off x="0" y="0"/>
          <a:ext cx="0" cy="0"/>
          <a:chOff x="0" y="0"/>
          <a:chExt cx="0" cy="0"/>
        </a:xfrm>
      </p:grpSpPr>
      <p:sp>
        <p:nvSpPr>
          <p:cNvPr id="295" name="Google Shape;295;p41"/>
          <p:cNvSpPr>
            <a:spLocks noGrp="1"/>
          </p:cNvSpPr>
          <p:nvPr>
            <p:ph type="pic" idx="2"/>
          </p:nvPr>
        </p:nvSpPr>
        <p:spPr>
          <a:xfrm>
            <a:off x="5640475" y="209200"/>
            <a:ext cx="3308100" cy="4725300"/>
          </a:xfrm>
          <a:prstGeom prst="rect">
            <a:avLst/>
          </a:prstGeom>
          <a:noFill/>
          <a:ln w="19050" cap="flat" cmpd="sng">
            <a:solidFill>
              <a:schemeClr val="dk2"/>
            </a:solidFill>
            <a:prstDash val="solid"/>
            <a:round/>
            <a:headEnd type="none" w="sm" len="sm"/>
            <a:tailEnd type="none" w="sm" len="sm"/>
          </a:ln>
        </p:spPr>
      </p:sp>
      <p:sp>
        <p:nvSpPr>
          <p:cNvPr id="296" name="Google Shape;296;p41"/>
          <p:cNvSpPr txBox="1">
            <a:spLocks noGrp="1"/>
          </p:cNvSpPr>
          <p:nvPr>
            <p:ph type="subTitle" idx="1"/>
          </p:nvPr>
        </p:nvSpPr>
        <p:spPr>
          <a:xfrm>
            <a:off x="85725" y="3814125"/>
            <a:ext cx="6422100" cy="632100"/>
          </a:xfrm>
          <a:prstGeom prst="rect">
            <a:avLst/>
          </a:prstGeom>
        </p:spPr>
        <p:txBody>
          <a:bodyPr spcFirstLastPara="1" wrap="square" lIns="91425" tIns="91425" rIns="91425" bIns="91425" anchor="t" anchorCtr="0">
            <a:noAutofit/>
          </a:bodyPr>
          <a:lstStyle>
            <a:lvl1pPr lvl="0">
              <a:spcBef>
                <a:spcPts val="0"/>
              </a:spcBef>
              <a:spcAft>
                <a:spcPts val="0"/>
              </a:spcAft>
              <a:buSzPts val="3600"/>
              <a:buFont typeface="Covered By Your Grace"/>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7" name="Google Shape;297;p41"/>
          <p:cNvSpPr txBox="1">
            <a:spLocks noGrp="1"/>
          </p:cNvSpPr>
          <p:nvPr>
            <p:ph type="body" idx="3"/>
          </p:nvPr>
        </p:nvSpPr>
        <p:spPr>
          <a:xfrm>
            <a:off x="165800" y="4845125"/>
            <a:ext cx="1248300" cy="157800"/>
          </a:xfrm>
          <a:prstGeom prst="rect">
            <a:avLst/>
          </a:prstGeom>
          <a:ln w="9525" cap="flat" cmpd="sng">
            <a:solidFill>
              <a:schemeClr val="dk2"/>
            </a:solidFill>
            <a:prstDash val="solid"/>
            <a:round/>
            <a:headEnd type="none" w="sm" len="sm"/>
            <a:tailEnd type="none" w="sm" len="sm"/>
          </a:ln>
        </p:spPr>
        <p:txBody>
          <a:bodyPr spcFirstLastPara="1" wrap="square" lIns="18275" tIns="18275" rIns="18275" bIns="0" anchor="t" anchorCtr="0">
            <a:noAutofit/>
          </a:bodyPr>
          <a:lstStyle>
            <a:lvl1pPr marL="457200" lvl="0" indent="-279400">
              <a:spcBef>
                <a:spcPts val="0"/>
              </a:spcBef>
              <a:spcAft>
                <a:spcPts val="0"/>
              </a:spcAft>
              <a:buSzPts val="800"/>
              <a:buFont typeface="Rubik"/>
              <a:buChar char="●"/>
              <a:defRPr sz="800"/>
            </a:lvl1pPr>
            <a:lvl2pPr marL="914400" lvl="1" indent="-279400">
              <a:spcBef>
                <a:spcPts val="0"/>
              </a:spcBef>
              <a:spcAft>
                <a:spcPts val="0"/>
              </a:spcAft>
              <a:buSzPts val="800"/>
              <a:buFont typeface="Rubik"/>
              <a:buChar char="○"/>
              <a:defRPr sz="800"/>
            </a:lvl2pPr>
            <a:lvl3pPr marL="1371600" lvl="2" indent="-279400">
              <a:spcBef>
                <a:spcPts val="0"/>
              </a:spcBef>
              <a:spcAft>
                <a:spcPts val="0"/>
              </a:spcAft>
              <a:buSzPts val="800"/>
              <a:buFont typeface="Rubik"/>
              <a:buChar char="■"/>
              <a:defRPr sz="800"/>
            </a:lvl3pPr>
            <a:lvl4pPr marL="1828800" lvl="3" indent="-279400">
              <a:spcBef>
                <a:spcPts val="0"/>
              </a:spcBef>
              <a:spcAft>
                <a:spcPts val="0"/>
              </a:spcAft>
              <a:buSzPts val="800"/>
              <a:buFont typeface="Rubik"/>
              <a:buChar char="●"/>
              <a:defRPr sz="800"/>
            </a:lvl4pPr>
            <a:lvl5pPr marL="2286000" lvl="4" indent="-279400">
              <a:spcBef>
                <a:spcPts val="0"/>
              </a:spcBef>
              <a:spcAft>
                <a:spcPts val="0"/>
              </a:spcAft>
              <a:buSzPts val="800"/>
              <a:buFont typeface="Rubik"/>
              <a:buChar char="○"/>
              <a:defRPr sz="800"/>
            </a:lvl5pPr>
            <a:lvl6pPr marL="2743200" lvl="5" indent="-279400">
              <a:spcBef>
                <a:spcPts val="0"/>
              </a:spcBef>
              <a:spcAft>
                <a:spcPts val="0"/>
              </a:spcAft>
              <a:buSzPts val="800"/>
              <a:buFont typeface="Rubik"/>
              <a:buChar char="■"/>
              <a:defRPr sz="800"/>
            </a:lvl6pPr>
            <a:lvl7pPr marL="3200400" lvl="6" indent="-279400">
              <a:spcBef>
                <a:spcPts val="0"/>
              </a:spcBef>
              <a:spcAft>
                <a:spcPts val="0"/>
              </a:spcAft>
              <a:buSzPts val="800"/>
              <a:buFont typeface="Rubik"/>
              <a:buChar char="●"/>
              <a:defRPr sz="800"/>
            </a:lvl7pPr>
            <a:lvl8pPr marL="3657600" lvl="7" indent="-279400">
              <a:spcBef>
                <a:spcPts val="0"/>
              </a:spcBef>
              <a:spcAft>
                <a:spcPts val="0"/>
              </a:spcAft>
              <a:buSzPts val="800"/>
              <a:buFont typeface="Rubik"/>
              <a:buChar char="○"/>
              <a:defRPr sz="800"/>
            </a:lvl8pPr>
            <a:lvl9pPr marL="4114800" lvl="8" indent="-279400">
              <a:spcBef>
                <a:spcPts val="0"/>
              </a:spcBef>
              <a:spcAft>
                <a:spcPts val="0"/>
              </a:spcAft>
              <a:buSzPts val="800"/>
              <a:buFont typeface="Rubik"/>
              <a:buChar char="■"/>
              <a:defRPr sz="800"/>
            </a:lvl9pPr>
          </a:lstStyle>
          <a:p>
            <a:endParaRPr/>
          </a:p>
        </p:txBody>
      </p:sp>
      <p:sp>
        <p:nvSpPr>
          <p:cNvPr id="298" name="Google Shape;298;p41"/>
          <p:cNvSpPr txBox="1">
            <a:spLocks noGrp="1"/>
          </p:cNvSpPr>
          <p:nvPr>
            <p:ph type="body" idx="4"/>
          </p:nvPr>
        </p:nvSpPr>
        <p:spPr>
          <a:xfrm>
            <a:off x="2281250" y="4845150"/>
            <a:ext cx="1802700" cy="157800"/>
          </a:xfrm>
          <a:prstGeom prst="rect">
            <a:avLst/>
          </a:prstGeom>
          <a:ln w="9525" cap="flat" cmpd="sng">
            <a:solidFill>
              <a:schemeClr val="dk2"/>
            </a:solidFill>
            <a:prstDash val="solid"/>
            <a:round/>
            <a:headEnd type="none" w="sm" len="sm"/>
            <a:tailEnd type="none" w="sm" len="sm"/>
          </a:ln>
        </p:spPr>
        <p:txBody>
          <a:bodyPr spcFirstLastPara="1" wrap="square" lIns="18275" tIns="18275" rIns="18275" bIns="0" anchor="t" anchorCtr="0">
            <a:noAutofit/>
          </a:bodyPr>
          <a:lstStyle>
            <a:lvl1pPr marL="457200" lvl="0" indent="-279400">
              <a:spcBef>
                <a:spcPts val="0"/>
              </a:spcBef>
              <a:spcAft>
                <a:spcPts val="0"/>
              </a:spcAft>
              <a:buSzPts val="800"/>
              <a:buFont typeface="Rubik"/>
              <a:buChar char="●"/>
              <a:defRPr sz="800"/>
            </a:lvl1pPr>
            <a:lvl2pPr marL="914400" lvl="1" indent="-279400">
              <a:spcBef>
                <a:spcPts val="0"/>
              </a:spcBef>
              <a:spcAft>
                <a:spcPts val="0"/>
              </a:spcAft>
              <a:buSzPts val="800"/>
              <a:buFont typeface="Rubik"/>
              <a:buChar char="○"/>
              <a:defRPr sz="800"/>
            </a:lvl2pPr>
            <a:lvl3pPr marL="1371600" lvl="2" indent="-279400">
              <a:spcBef>
                <a:spcPts val="0"/>
              </a:spcBef>
              <a:spcAft>
                <a:spcPts val="0"/>
              </a:spcAft>
              <a:buSzPts val="800"/>
              <a:buFont typeface="Rubik"/>
              <a:buChar char="■"/>
              <a:defRPr sz="800"/>
            </a:lvl3pPr>
            <a:lvl4pPr marL="1828800" lvl="3" indent="-279400">
              <a:spcBef>
                <a:spcPts val="0"/>
              </a:spcBef>
              <a:spcAft>
                <a:spcPts val="0"/>
              </a:spcAft>
              <a:buSzPts val="800"/>
              <a:buFont typeface="Rubik"/>
              <a:buChar char="●"/>
              <a:defRPr sz="800"/>
            </a:lvl4pPr>
            <a:lvl5pPr marL="2286000" lvl="4" indent="-279400">
              <a:spcBef>
                <a:spcPts val="0"/>
              </a:spcBef>
              <a:spcAft>
                <a:spcPts val="0"/>
              </a:spcAft>
              <a:buSzPts val="800"/>
              <a:buFont typeface="Rubik"/>
              <a:buChar char="○"/>
              <a:defRPr sz="800"/>
            </a:lvl5pPr>
            <a:lvl6pPr marL="2743200" lvl="5" indent="-279400">
              <a:spcBef>
                <a:spcPts val="0"/>
              </a:spcBef>
              <a:spcAft>
                <a:spcPts val="0"/>
              </a:spcAft>
              <a:buSzPts val="800"/>
              <a:buFont typeface="Rubik"/>
              <a:buChar char="■"/>
              <a:defRPr sz="800"/>
            </a:lvl6pPr>
            <a:lvl7pPr marL="3200400" lvl="6" indent="-279400">
              <a:spcBef>
                <a:spcPts val="0"/>
              </a:spcBef>
              <a:spcAft>
                <a:spcPts val="0"/>
              </a:spcAft>
              <a:buSzPts val="800"/>
              <a:buFont typeface="Rubik"/>
              <a:buChar char="●"/>
              <a:defRPr sz="800"/>
            </a:lvl7pPr>
            <a:lvl8pPr marL="3657600" lvl="7" indent="-279400">
              <a:spcBef>
                <a:spcPts val="0"/>
              </a:spcBef>
              <a:spcAft>
                <a:spcPts val="0"/>
              </a:spcAft>
              <a:buSzPts val="800"/>
              <a:buFont typeface="Rubik"/>
              <a:buChar char="○"/>
              <a:defRPr sz="800"/>
            </a:lvl8pPr>
            <a:lvl9pPr marL="4114800" lvl="8" indent="-279400">
              <a:spcBef>
                <a:spcPts val="0"/>
              </a:spcBef>
              <a:spcAft>
                <a:spcPts val="0"/>
              </a:spcAft>
              <a:buSzPts val="800"/>
              <a:buFont typeface="Rubik"/>
              <a:buChar char="■"/>
              <a:defRPr sz="800"/>
            </a:lvl9pPr>
          </a:lstStyle>
          <a:p>
            <a:endParaRPr/>
          </a:p>
        </p:txBody>
      </p:sp>
      <p:sp>
        <p:nvSpPr>
          <p:cNvPr id="299" name="Google Shape;299;p41"/>
          <p:cNvSpPr txBox="1">
            <a:spLocks noGrp="1"/>
          </p:cNvSpPr>
          <p:nvPr>
            <p:ph type="title"/>
          </p:nvPr>
        </p:nvSpPr>
        <p:spPr>
          <a:xfrm>
            <a:off x="85725" y="103525"/>
            <a:ext cx="5280300" cy="3710700"/>
          </a:xfrm>
          <a:prstGeom prst="rect">
            <a:avLst/>
          </a:prstGeom>
        </p:spPr>
        <p:txBody>
          <a:bodyPr spcFirstLastPara="1" wrap="square" lIns="91425" tIns="91425" rIns="91425" bIns="91425" anchor="t" anchorCtr="0">
            <a:noAutofit/>
          </a:bodyPr>
          <a:lstStyle>
            <a:lvl1pPr lvl="0">
              <a:spcBef>
                <a:spcPts val="0"/>
              </a:spcBef>
              <a:spcAft>
                <a:spcPts val="0"/>
              </a:spcAft>
              <a:buSzPts val="8000"/>
              <a:buNone/>
              <a:defRPr sz="8000"/>
            </a:lvl1pPr>
            <a:lvl2pPr lvl="1">
              <a:spcBef>
                <a:spcPts val="0"/>
              </a:spcBef>
              <a:spcAft>
                <a:spcPts val="0"/>
              </a:spcAft>
              <a:buSzPts val="8000"/>
              <a:buNone/>
              <a:defRPr sz="8000"/>
            </a:lvl2pPr>
            <a:lvl3pPr lvl="2">
              <a:spcBef>
                <a:spcPts val="0"/>
              </a:spcBef>
              <a:spcAft>
                <a:spcPts val="0"/>
              </a:spcAft>
              <a:buSzPts val="8000"/>
              <a:buNone/>
              <a:defRPr sz="8000"/>
            </a:lvl3pPr>
            <a:lvl4pPr lvl="3">
              <a:spcBef>
                <a:spcPts val="0"/>
              </a:spcBef>
              <a:spcAft>
                <a:spcPts val="0"/>
              </a:spcAft>
              <a:buSzPts val="8000"/>
              <a:buNone/>
              <a:defRPr sz="8000"/>
            </a:lvl4pPr>
            <a:lvl5pPr lvl="4">
              <a:spcBef>
                <a:spcPts val="0"/>
              </a:spcBef>
              <a:spcAft>
                <a:spcPts val="0"/>
              </a:spcAft>
              <a:buSzPts val="8000"/>
              <a:buNone/>
              <a:defRPr sz="8000"/>
            </a:lvl5pPr>
            <a:lvl6pPr lvl="5">
              <a:spcBef>
                <a:spcPts val="0"/>
              </a:spcBef>
              <a:spcAft>
                <a:spcPts val="0"/>
              </a:spcAft>
              <a:buSzPts val="8000"/>
              <a:buNone/>
              <a:defRPr sz="8000"/>
            </a:lvl6pPr>
            <a:lvl7pPr lvl="6">
              <a:spcBef>
                <a:spcPts val="0"/>
              </a:spcBef>
              <a:spcAft>
                <a:spcPts val="0"/>
              </a:spcAft>
              <a:buSzPts val="8000"/>
              <a:buNone/>
              <a:defRPr sz="8000"/>
            </a:lvl7pPr>
            <a:lvl8pPr lvl="7">
              <a:spcBef>
                <a:spcPts val="0"/>
              </a:spcBef>
              <a:spcAft>
                <a:spcPts val="0"/>
              </a:spcAft>
              <a:buSzPts val="8000"/>
              <a:buNone/>
              <a:defRPr sz="8000"/>
            </a:lvl8pPr>
            <a:lvl9pPr lvl="8">
              <a:spcBef>
                <a:spcPts val="0"/>
              </a:spcBef>
              <a:spcAft>
                <a:spcPts val="0"/>
              </a:spcAft>
              <a:buSzPts val="8000"/>
              <a:buNone/>
              <a:defRPr sz="8000"/>
            </a:lvl9pPr>
          </a:lstStyle>
          <a:p>
            <a:endParaRPr/>
          </a:p>
        </p:txBody>
      </p:sp>
    </p:spTree>
  </p:cSld>
  <p:clrMapOvr>
    <a:masterClrMapping/>
  </p:clrMapOvr>
  <p:extLst>
    <p:ext uri="{DCECCB84-F9BA-43D5-87BE-67443E8EF086}">
      <p15:sldGuideLst xmlns:p15="http://schemas.microsoft.com/office/powerpoint/2012/main">
        <p15:guide id="1" orient="horz" pos="3151">
          <p15:clr>
            <a:srgbClr val="E46962"/>
          </p15:clr>
        </p15:guide>
        <p15:guide id="2" pos="1437">
          <p15:clr>
            <a:srgbClr val="E46962"/>
          </p15:clr>
        </p15:guide>
        <p15:guide id="3" pos="104">
          <p15:clr>
            <a:srgbClr val="E46962"/>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accent2"/>
        </a:solidFill>
        <a:effectLst/>
      </p:bgPr>
    </p:bg>
    <p:spTree>
      <p:nvGrpSpPr>
        <p:cNvPr id="1" name="Shape 300"/>
        <p:cNvGrpSpPr/>
        <p:nvPr/>
      </p:nvGrpSpPr>
      <p:grpSpPr>
        <a:xfrm>
          <a:off x="0" y="0"/>
          <a:ext cx="0" cy="0"/>
          <a:chOff x="0" y="0"/>
          <a:chExt cx="0" cy="0"/>
        </a:xfrm>
      </p:grpSpPr>
      <p:sp>
        <p:nvSpPr>
          <p:cNvPr id="301" name="Google Shape;301;p42"/>
          <p:cNvSpPr/>
          <p:nvPr/>
        </p:nvSpPr>
        <p:spPr>
          <a:xfrm>
            <a:off x="240000" y="303450"/>
            <a:ext cx="308700" cy="4536600"/>
          </a:xfrm>
          <a:prstGeom prst="leftBracket">
            <a:avLst>
              <a:gd name="adj" fmla="val 8333"/>
            </a:avLst>
          </a:prstGeom>
          <a:noFill/>
          <a:ln w="2857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Roboto Serif"/>
              <a:ea typeface="Roboto Serif"/>
              <a:cs typeface="Roboto Serif"/>
              <a:sym typeface="Roboto Serif"/>
            </a:endParaRPr>
          </a:p>
        </p:txBody>
      </p:sp>
      <p:sp>
        <p:nvSpPr>
          <p:cNvPr id="302" name="Google Shape;302;p42"/>
          <p:cNvSpPr/>
          <p:nvPr/>
        </p:nvSpPr>
        <p:spPr>
          <a:xfrm rot="10800000">
            <a:off x="8626600" y="303450"/>
            <a:ext cx="308700" cy="4536600"/>
          </a:xfrm>
          <a:prstGeom prst="leftBracket">
            <a:avLst>
              <a:gd name="adj" fmla="val 8333"/>
            </a:avLst>
          </a:prstGeom>
          <a:noFill/>
          <a:ln w="2857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Roboto Serif"/>
              <a:ea typeface="Roboto Serif"/>
              <a:cs typeface="Roboto Serif"/>
              <a:sym typeface="Roboto Serif"/>
            </a:endParaRPr>
          </a:p>
        </p:txBody>
      </p:sp>
      <p:sp>
        <p:nvSpPr>
          <p:cNvPr id="303" name="Google Shape;303;p42"/>
          <p:cNvSpPr txBox="1">
            <a:spLocks noGrp="1"/>
          </p:cNvSpPr>
          <p:nvPr>
            <p:ph type="title"/>
          </p:nvPr>
        </p:nvSpPr>
        <p:spPr>
          <a:xfrm>
            <a:off x="618600" y="694800"/>
            <a:ext cx="7906800" cy="3753900"/>
          </a:xfrm>
          <a:prstGeom prst="rect">
            <a:avLst/>
          </a:prstGeom>
        </p:spPr>
        <p:txBody>
          <a:bodyPr spcFirstLastPara="1" wrap="square" lIns="91425" tIns="91425" rIns="91425" bIns="91425" anchor="t" anchorCtr="0">
            <a:noAutofit/>
          </a:bodyPr>
          <a:lstStyle>
            <a:lvl1pPr lvl="0" algn="ctr">
              <a:lnSpc>
                <a:spcPct val="80000"/>
              </a:lnSpc>
              <a:spcBef>
                <a:spcPts val="0"/>
              </a:spcBef>
              <a:spcAft>
                <a:spcPts val="0"/>
              </a:spcAft>
              <a:buClr>
                <a:schemeClr val="accent6"/>
              </a:buClr>
              <a:buSzPts val="9600"/>
              <a:buNone/>
              <a:defRPr sz="9600">
                <a:solidFill>
                  <a:schemeClr val="accent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Agenda / TOC" type="tx">
  <p:cSld name="TITLE_AND_BODY">
    <p:bg>
      <p:bgPr>
        <a:solidFill>
          <a:schemeClr val="accent5"/>
        </a:solidFill>
        <a:effectLst/>
      </p:bgPr>
    </p:bg>
    <p:spTree>
      <p:nvGrpSpPr>
        <p:cNvPr id="1" name="Shape 304"/>
        <p:cNvGrpSpPr/>
        <p:nvPr/>
      </p:nvGrpSpPr>
      <p:grpSpPr>
        <a:xfrm>
          <a:off x="0" y="0"/>
          <a:ext cx="0" cy="0"/>
          <a:chOff x="0" y="0"/>
          <a:chExt cx="0" cy="0"/>
        </a:xfrm>
      </p:grpSpPr>
      <p:sp>
        <p:nvSpPr>
          <p:cNvPr id="305" name="Google Shape;305;p43"/>
          <p:cNvSpPr txBox="1">
            <a:spLocks noGrp="1"/>
          </p:cNvSpPr>
          <p:nvPr>
            <p:ph type="sldNum" idx="12"/>
          </p:nvPr>
        </p:nvSpPr>
        <p:spPr>
          <a:xfrm>
            <a:off x="8668550" y="4845125"/>
            <a:ext cx="309600" cy="157800"/>
          </a:xfrm>
          <a:prstGeom prst="rect">
            <a:avLst/>
          </a:prstGeom>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306" name="Google Shape;306;p43"/>
          <p:cNvSpPr txBox="1">
            <a:spLocks noGrp="1"/>
          </p:cNvSpPr>
          <p:nvPr>
            <p:ph type="subTitle" idx="1"/>
          </p:nvPr>
        </p:nvSpPr>
        <p:spPr>
          <a:xfrm>
            <a:off x="4083950" y="113500"/>
            <a:ext cx="709800" cy="3290700"/>
          </a:xfrm>
          <a:prstGeom prst="rect">
            <a:avLst/>
          </a:prstGeom>
        </p:spPr>
        <p:txBody>
          <a:bodyPr spcFirstLastPara="1" wrap="square" lIns="91425" tIns="91425" rIns="91425" bIns="91425" anchor="t" anchorCtr="0">
            <a:noAutofit/>
          </a:bodyPr>
          <a:lstStyle>
            <a:lvl1pPr lvl="0" algn="r">
              <a:spcBef>
                <a:spcPts val="0"/>
              </a:spcBef>
              <a:spcAft>
                <a:spcPts val="0"/>
              </a:spcAft>
              <a:buSzPts val="3000"/>
              <a:buFont typeface="Covered By Your Grace"/>
              <a:buNone/>
              <a:defRPr sz="3000"/>
            </a:lvl1pPr>
            <a:lvl2pPr lvl="1" algn="r">
              <a:spcBef>
                <a:spcPts val="0"/>
              </a:spcBef>
              <a:spcAft>
                <a:spcPts val="0"/>
              </a:spcAft>
              <a:buSzPts val="2900"/>
              <a:buFont typeface="Covered By Your Grace"/>
              <a:buNone/>
              <a:defRPr sz="2900"/>
            </a:lvl2pPr>
            <a:lvl3pPr lvl="2" algn="r">
              <a:spcBef>
                <a:spcPts val="0"/>
              </a:spcBef>
              <a:spcAft>
                <a:spcPts val="0"/>
              </a:spcAft>
              <a:buSzPts val="2900"/>
              <a:buFont typeface="Covered By Your Grace"/>
              <a:buNone/>
              <a:defRPr sz="2900"/>
            </a:lvl3pPr>
            <a:lvl4pPr lvl="3" algn="r">
              <a:spcBef>
                <a:spcPts val="0"/>
              </a:spcBef>
              <a:spcAft>
                <a:spcPts val="0"/>
              </a:spcAft>
              <a:buSzPts val="2900"/>
              <a:buFont typeface="Covered By Your Grace"/>
              <a:buNone/>
              <a:defRPr sz="2900"/>
            </a:lvl4pPr>
            <a:lvl5pPr lvl="4" algn="r">
              <a:spcBef>
                <a:spcPts val="0"/>
              </a:spcBef>
              <a:spcAft>
                <a:spcPts val="0"/>
              </a:spcAft>
              <a:buSzPts val="2900"/>
              <a:buFont typeface="Covered By Your Grace"/>
              <a:buNone/>
              <a:defRPr sz="2900"/>
            </a:lvl5pPr>
            <a:lvl6pPr lvl="5" algn="r">
              <a:spcBef>
                <a:spcPts val="0"/>
              </a:spcBef>
              <a:spcAft>
                <a:spcPts val="0"/>
              </a:spcAft>
              <a:buSzPts val="2900"/>
              <a:buFont typeface="Covered By Your Grace"/>
              <a:buNone/>
              <a:defRPr sz="2900"/>
            </a:lvl6pPr>
            <a:lvl7pPr lvl="6" algn="r">
              <a:spcBef>
                <a:spcPts val="0"/>
              </a:spcBef>
              <a:spcAft>
                <a:spcPts val="0"/>
              </a:spcAft>
              <a:buSzPts val="2900"/>
              <a:buFont typeface="Covered By Your Grace"/>
              <a:buNone/>
              <a:defRPr sz="2900"/>
            </a:lvl7pPr>
            <a:lvl8pPr lvl="7" algn="r">
              <a:spcBef>
                <a:spcPts val="0"/>
              </a:spcBef>
              <a:spcAft>
                <a:spcPts val="0"/>
              </a:spcAft>
              <a:buSzPts val="2900"/>
              <a:buFont typeface="Covered By Your Grace"/>
              <a:buNone/>
              <a:defRPr sz="2900"/>
            </a:lvl8pPr>
            <a:lvl9pPr lvl="8" algn="r">
              <a:spcBef>
                <a:spcPts val="0"/>
              </a:spcBef>
              <a:spcAft>
                <a:spcPts val="0"/>
              </a:spcAft>
              <a:buSzPts val="2900"/>
              <a:buFont typeface="Covered By Your Grace"/>
              <a:buNone/>
              <a:defRPr sz="2900"/>
            </a:lvl9pPr>
          </a:lstStyle>
          <a:p>
            <a:endParaRPr/>
          </a:p>
        </p:txBody>
      </p:sp>
      <p:sp>
        <p:nvSpPr>
          <p:cNvPr id="307" name="Google Shape;307;p43"/>
          <p:cNvSpPr txBox="1">
            <a:spLocks noGrp="1"/>
          </p:cNvSpPr>
          <p:nvPr>
            <p:ph type="title"/>
          </p:nvPr>
        </p:nvSpPr>
        <p:spPr>
          <a:xfrm>
            <a:off x="157654" y="116473"/>
            <a:ext cx="3874800" cy="3189300"/>
          </a:xfrm>
          <a:prstGeom prst="rect">
            <a:avLst/>
          </a:prstGeom>
        </p:spPr>
        <p:txBody>
          <a:bodyPr spcFirstLastPara="1" wrap="square" lIns="91425" tIns="91425" rIns="91425" bIns="91425" anchor="t" anchorCtr="0">
            <a:noAutofit/>
          </a:bodyPr>
          <a:lstStyle>
            <a:lvl1pPr lvl="0">
              <a:spcBef>
                <a:spcPts val="0"/>
              </a:spcBef>
              <a:spcAft>
                <a:spcPts val="0"/>
              </a:spcAft>
              <a:buSzPts val="4000"/>
              <a:buNone/>
              <a:defRPr/>
            </a:lvl1pPr>
            <a:lvl2pPr lvl="1">
              <a:spcBef>
                <a:spcPts val="0"/>
              </a:spcBef>
              <a:spcAft>
                <a:spcPts val="0"/>
              </a:spcAft>
              <a:buSzPts val="1400"/>
              <a:buFont typeface="Roboto Serif"/>
              <a:buNone/>
              <a:defRPr/>
            </a:lvl2pPr>
            <a:lvl3pPr lvl="2">
              <a:spcBef>
                <a:spcPts val="0"/>
              </a:spcBef>
              <a:spcAft>
                <a:spcPts val="0"/>
              </a:spcAft>
              <a:buSzPts val="1400"/>
              <a:buFont typeface="Roboto Serif"/>
              <a:buNone/>
              <a:defRPr/>
            </a:lvl3pPr>
            <a:lvl4pPr lvl="3">
              <a:spcBef>
                <a:spcPts val="0"/>
              </a:spcBef>
              <a:spcAft>
                <a:spcPts val="0"/>
              </a:spcAft>
              <a:buSzPts val="1400"/>
              <a:buFont typeface="Roboto Serif"/>
              <a:buNone/>
              <a:defRPr/>
            </a:lvl4pPr>
            <a:lvl5pPr lvl="4">
              <a:spcBef>
                <a:spcPts val="0"/>
              </a:spcBef>
              <a:spcAft>
                <a:spcPts val="0"/>
              </a:spcAft>
              <a:buSzPts val="1400"/>
              <a:buFont typeface="Roboto Serif"/>
              <a:buNone/>
              <a:defRPr/>
            </a:lvl5pPr>
            <a:lvl6pPr lvl="5">
              <a:spcBef>
                <a:spcPts val="0"/>
              </a:spcBef>
              <a:spcAft>
                <a:spcPts val="0"/>
              </a:spcAft>
              <a:buSzPts val="1400"/>
              <a:buFont typeface="Roboto Serif"/>
              <a:buNone/>
              <a:defRPr/>
            </a:lvl6pPr>
            <a:lvl7pPr lvl="6">
              <a:spcBef>
                <a:spcPts val="0"/>
              </a:spcBef>
              <a:spcAft>
                <a:spcPts val="0"/>
              </a:spcAft>
              <a:buSzPts val="1400"/>
              <a:buFont typeface="Roboto Serif"/>
              <a:buNone/>
              <a:defRPr/>
            </a:lvl7pPr>
            <a:lvl8pPr lvl="7">
              <a:spcBef>
                <a:spcPts val="0"/>
              </a:spcBef>
              <a:spcAft>
                <a:spcPts val="0"/>
              </a:spcAft>
              <a:buSzPts val="1400"/>
              <a:buFont typeface="Roboto Serif"/>
              <a:buNone/>
              <a:defRPr/>
            </a:lvl8pPr>
            <a:lvl9pPr lvl="8">
              <a:spcBef>
                <a:spcPts val="0"/>
              </a:spcBef>
              <a:spcAft>
                <a:spcPts val="0"/>
              </a:spcAft>
              <a:buSzPts val="1400"/>
              <a:buFont typeface="Roboto Serif"/>
              <a:buNone/>
              <a:defRPr/>
            </a:lvl9pPr>
          </a:lstStyle>
          <a:p>
            <a:endParaRPr/>
          </a:p>
        </p:txBody>
      </p:sp>
      <p:sp>
        <p:nvSpPr>
          <p:cNvPr id="308" name="Google Shape;308;p43"/>
          <p:cNvSpPr txBox="1">
            <a:spLocks noGrp="1"/>
          </p:cNvSpPr>
          <p:nvPr>
            <p:ph type="title" idx="2"/>
          </p:nvPr>
        </p:nvSpPr>
        <p:spPr>
          <a:xfrm>
            <a:off x="4947725" y="214975"/>
            <a:ext cx="3874800" cy="31893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309" name="Google Shape;309;p43"/>
          <p:cNvSpPr txBox="1">
            <a:spLocks noGrp="1"/>
          </p:cNvSpPr>
          <p:nvPr>
            <p:ph type="body" idx="3"/>
          </p:nvPr>
        </p:nvSpPr>
        <p:spPr>
          <a:xfrm>
            <a:off x="165800" y="4845125"/>
            <a:ext cx="1248300" cy="157800"/>
          </a:xfrm>
          <a:prstGeom prst="rect">
            <a:avLst/>
          </a:prstGeom>
          <a:ln w="9525" cap="flat" cmpd="sng">
            <a:solidFill>
              <a:schemeClr val="dk2"/>
            </a:solidFill>
            <a:prstDash val="solid"/>
            <a:round/>
            <a:headEnd type="none" w="sm" len="sm"/>
            <a:tailEnd type="none" w="sm" len="sm"/>
          </a:ln>
        </p:spPr>
        <p:txBody>
          <a:bodyPr spcFirstLastPara="1" wrap="square" lIns="18275" tIns="18275" rIns="18275" bIns="0" anchor="t" anchorCtr="0">
            <a:noAutofit/>
          </a:bodyPr>
          <a:lstStyle>
            <a:lvl1pPr marL="457200" lvl="0" indent="-279400">
              <a:spcBef>
                <a:spcPts val="0"/>
              </a:spcBef>
              <a:spcAft>
                <a:spcPts val="0"/>
              </a:spcAft>
              <a:buSzPts val="800"/>
              <a:buFont typeface="Rubik"/>
              <a:buChar char="●"/>
              <a:defRPr sz="800"/>
            </a:lvl1pPr>
            <a:lvl2pPr marL="914400" lvl="1" indent="-279400">
              <a:spcBef>
                <a:spcPts val="0"/>
              </a:spcBef>
              <a:spcAft>
                <a:spcPts val="0"/>
              </a:spcAft>
              <a:buSzPts val="800"/>
              <a:buFont typeface="Rubik"/>
              <a:buChar char="○"/>
              <a:defRPr sz="800"/>
            </a:lvl2pPr>
            <a:lvl3pPr marL="1371600" lvl="2" indent="-279400">
              <a:spcBef>
                <a:spcPts val="0"/>
              </a:spcBef>
              <a:spcAft>
                <a:spcPts val="0"/>
              </a:spcAft>
              <a:buSzPts val="800"/>
              <a:buFont typeface="Rubik"/>
              <a:buChar char="■"/>
              <a:defRPr sz="800"/>
            </a:lvl3pPr>
            <a:lvl4pPr marL="1828800" lvl="3" indent="-279400">
              <a:spcBef>
                <a:spcPts val="0"/>
              </a:spcBef>
              <a:spcAft>
                <a:spcPts val="0"/>
              </a:spcAft>
              <a:buSzPts val="800"/>
              <a:buFont typeface="Rubik"/>
              <a:buChar char="●"/>
              <a:defRPr sz="800"/>
            </a:lvl4pPr>
            <a:lvl5pPr marL="2286000" lvl="4" indent="-279400">
              <a:spcBef>
                <a:spcPts val="0"/>
              </a:spcBef>
              <a:spcAft>
                <a:spcPts val="0"/>
              </a:spcAft>
              <a:buSzPts val="800"/>
              <a:buFont typeface="Rubik"/>
              <a:buChar char="○"/>
              <a:defRPr sz="800"/>
            </a:lvl5pPr>
            <a:lvl6pPr marL="2743200" lvl="5" indent="-279400">
              <a:spcBef>
                <a:spcPts val="0"/>
              </a:spcBef>
              <a:spcAft>
                <a:spcPts val="0"/>
              </a:spcAft>
              <a:buSzPts val="800"/>
              <a:buFont typeface="Rubik"/>
              <a:buChar char="■"/>
              <a:defRPr sz="800"/>
            </a:lvl6pPr>
            <a:lvl7pPr marL="3200400" lvl="6" indent="-279400">
              <a:spcBef>
                <a:spcPts val="0"/>
              </a:spcBef>
              <a:spcAft>
                <a:spcPts val="0"/>
              </a:spcAft>
              <a:buSzPts val="800"/>
              <a:buFont typeface="Rubik"/>
              <a:buChar char="●"/>
              <a:defRPr sz="800"/>
            </a:lvl7pPr>
            <a:lvl8pPr marL="3657600" lvl="7" indent="-279400">
              <a:spcBef>
                <a:spcPts val="0"/>
              </a:spcBef>
              <a:spcAft>
                <a:spcPts val="0"/>
              </a:spcAft>
              <a:buSzPts val="800"/>
              <a:buFont typeface="Rubik"/>
              <a:buChar char="○"/>
              <a:defRPr sz="800"/>
            </a:lvl8pPr>
            <a:lvl9pPr marL="4114800" lvl="8" indent="-279400">
              <a:spcBef>
                <a:spcPts val="0"/>
              </a:spcBef>
              <a:spcAft>
                <a:spcPts val="0"/>
              </a:spcAft>
              <a:buSzPts val="800"/>
              <a:buFont typeface="Rubik"/>
              <a:buChar char="■"/>
              <a:defRPr sz="800"/>
            </a:lvl9pPr>
          </a:lstStyle>
          <a:p>
            <a:endParaRPr/>
          </a:p>
        </p:txBody>
      </p:sp>
      <p:sp>
        <p:nvSpPr>
          <p:cNvPr id="310" name="Google Shape;310;p43"/>
          <p:cNvSpPr txBox="1">
            <a:spLocks noGrp="1"/>
          </p:cNvSpPr>
          <p:nvPr>
            <p:ph type="body" idx="4"/>
          </p:nvPr>
        </p:nvSpPr>
        <p:spPr>
          <a:xfrm>
            <a:off x="2281250" y="4845150"/>
            <a:ext cx="1802700" cy="157800"/>
          </a:xfrm>
          <a:prstGeom prst="rect">
            <a:avLst/>
          </a:prstGeom>
          <a:ln w="9525" cap="flat" cmpd="sng">
            <a:solidFill>
              <a:schemeClr val="dk2"/>
            </a:solidFill>
            <a:prstDash val="solid"/>
            <a:round/>
            <a:headEnd type="none" w="sm" len="sm"/>
            <a:tailEnd type="none" w="sm" len="sm"/>
          </a:ln>
        </p:spPr>
        <p:txBody>
          <a:bodyPr spcFirstLastPara="1" wrap="square" lIns="18275" tIns="18275" rIns="18275" bIns="0" anchor="t" anchorCtr="0">
            <a:noAutofit/>
          </a:bodyPr>
          <a:lstStyle>
            <a:lvl1pPr marL="457200" lvl="0" indent="-279400">
              <a:spcBef>
                <a:spcPts val="0"/>
              </a:spcBef>
              <a:spcAft>
                <a:spcPts val="0"/>
              </a:spcAft>
              <a:buSzPts val="800"/>
              <a:buFont typeface="Rubik"/>
              <a:buChar char="●"/>
              <a:defRPr sz="800"/>
            </a:lvl1pPr>
            <a:lvl2pPr marL="914400" lvl="1" indent="-279400">
              <a:spcBef>
                <a:spcPts val="0"/>
              </a:spcBef>
              <a:spcAft>
                <a:spcPts val="0"/>
              </a:spcAft>
              <a:buSzPts val="800"/>
              <a:buFont typeface="Rubik"/>
              <a:buChar char="○"/>
              <a:defRPr sz="800"/>
            </a:lvl2pPr>
            <a:lvl3pPr marL="1371600" lvl="2" indent="-279400">
              <a:spcBef>
                <a:spcPts val="0"/>
              </a:spcBef>
              <a:spcAft>
                <a:spcPts val="0"/>
              </a:spcAft>
              <a:buSzPts val="800"/>
              <a:buFont typeface="Rubik"/>
              <a:buChar char="■"/>
              <a:defRPr sz="800"/>
            </a:lvl3pPr>
            <a:lvl4pPr marL="1828800" lvl="3" indent="-279400">
              <a:spcBef>
                <a:spcPts val="0"/>
              </a:spcBef>
              <a:spcAft>
                <a:spcPts val="0"/>
              </a:spcAft>
              <a:buSzPts val="800"/>
              <a:buFont typeface="Rubik"/>
              <a:buChar char="●"/>
              <a:defRPr sz="800"/>
            </a:lvl4pPr>
            <a:lvl5pPr marL="2286000" lvl="4" indent="-279400">
              <a:spcBef>
                <a:spcPts val="0"/>
              </a:spcBef>
              <a:spcAft>
                <a:spcPts val="0"/>
              </a:spcAft>
              <a:buSzPts val="800"/>
              <a:buFont typeface="Rubik"/>
              <a:buChar char="○"/>
              <a:defRPr sz="800"/>
            </a:lvl5pPr>
            <a:lvl6pPr marL="2743200" lvl="5" indent="-279400">
              <a:spcBef>
                <a:spcPts val="0"/>
              </a:spcBef>
              <a:spcAft>
                <a:spcPts val="0"/>
              </a:spcAft>
              <a:buSzPts val="800"/>
              <a:buFont typeface="Rubik"/>
              <a:buChar char="■"/>
              <a:defRPr sz="800"/>
            </a:lvl6pPr>
            <a:lvl7pPr marL="3200400" lvl="6" indent="-279400">
              <a:spcBef>
                <a:spcPts val="0"/>
              </a:spcBef>
              <a:spcAft>
                <a:spcPts val="0"/>
              </a:spcAft>
              <a:buSzPts val="800"/>
              <a:buFont typeface="Rubik"/>
              <a:buChar char="●"/>
              <a:defRPr sz="800"/>
            </a:lvl7pPr>
            <a:lvl8pPr marL="3657600" lvl="7" indent="-279400">
              <a:spcBef>
                <a:spcPts val="0"/>
              </a:spcBef>
              <a:spcAft>
                <a:spcPts val="0"/>
              </a:spcAft>
              <a:buSzPts val="800"/>
              <a:buFont typeface="Rubik"/>
              <a:buChar char="○"/>
              <a:defRPr sz="800"/>
            </a:lvl8pPr>
            <a:lvl9pPr marL="4114800" lvl="8" indent="-279400">
              <a:spcBef>
                <a:spcPts val="0"/>
              </a:spcBef>
              <a:spcAft>
                <a:spcPts val="0"/>
              </a:spcAft>
              <a:buSzPts val="800"/>
              <a:buFont typeface="Rubik"/>
              <a:buChar char="■"/>
              <a:defRPr sz="800"/>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tats + Data">
  <p:cSld name="TITLE_17">
    <p:bg>
      <p:bgPr>
        <a:solidFill>
          <a:schemeClr val="accent5"/>
        </a:solidFill>
        <a:effectLst/>
      </p:bgPr>
    </p:bg>
    <p:spTree>
      <p:nvGrpSpPr>
        <p:cNvPr id="1" name="Shape 410"/>
        <p:cNvGrpSpPr/>
        <p:nvPr/>
      </p:nvGrpSpPr>
      <p:grpSpPr>
        <a:xfrm>
          <a:off x="0" y="0"/>
          <a:ext cx="0" cy="0"/>
          <a:chOff x="0" y="0"/>
          <a:chExt cx="0" cy="0"/>
        </a:xfrm>
      </p:grpSpPr>
      <p:sp>
        <p:nvSpPr>
          <p:cNvPr id="411" name="Google Shape;411;p54"/>
          <p:cNvSpPr txBox="1">
            <a:spLocks noGrp="1"/>
          </p:cNvSpPr>
          <p:nvPr>
            <p:ph type="sldNum" idx="12"/>
          </p:nvPr>
        </p:nvSpPr>
        <p:spPr>
          <a:xfrm>
            <a:off x="8668550" y="4845125"/>
            <a:ext cx="309600" cy="157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412" name="Google Shape;412;p54"/>
          <p:cNvSpPr txBox="1">
            <a:spLocks noGrp="1"/>
          </p:cNvSpPr>
          <p:nvPr>
            <p:ph type="sldNum" idx="2"/>
          </p:nvPr>
        </p:nvSpPr>
        <p:spPr>
          <a:xfrm>
            <a:off x="8668550" y="4845125"/>
            <a:ext cx="309600" cy="157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413" name="Google Shape;413;p54"/>
          <p:cNvSpPr txBox="1">
            <a:spLocks noGrp="1"/>
          </p:cNvSpPr>
          <p:nvPr>
            <p:ph type="sldNum" idx="3"/>
          </p:nvPr>
        </p:nvSpPr>
        <p:spPr>
          <a:xfrm>
            <a:off x="8668550" y="4845125"/>
            <a:ext cx="309600" cy="157800"/>
          </a:xfrm>
          <a:prstGeom prst="rect">
            <a:avLst/>
          </a:prstGeom>
          <a:ln>
            <a:noFill/>
          </a:ln>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414" name="Google Shape;414;p54"/>
          <p:cNvSpPr txBox="1">
            <a:spLocks noGrp="1"/>
          </p:cNvSpPr>
          <p:nvPr>
            <p:ph type="body" idx="1"/>
          </p:nvPr>
        </p:nvSpPr>
        <p:spPr>
          <a:xfrm>
            <a:off x="4902050" y="100350"/>
            <a:ext cx="3983100" cy="1498800"/>
          </a:xfrm>
          <a:prstGeom prst="rect">
            <a:avLst/>
          </a:prstGeom>
        </p:spPr>
        <p:txBody>
          <a:bodyPr spcFirstLastPara="1" wrap="square" lIns="91425" tIns="91425" rIns="91425" bIns="91425" anchor="t" anchorCtr="0">
            <a:noAutofit/>
          </a:bodyPr>
          <a:lstStyle>
            <a:lvl1pPr marL="457200" lvl="0" indent="-292100">
              <a:spcBef>
                <a:spcPts val="0"/>
              </a:spcBef>
              <a:spcAft>
                <a:spcPts val="0"/>
              </a:spcAft>
              <a:buSzPts val="1000"/>
              <a:buChar char="●"/>
              <a:defRPr sz="1000"/>
            </a:lvl1pPr>
            <a:lvl2pPr marL="914400" lvl="1" indent="-323850">
              <a:spcBef>
                <a:spcPts val="0"/>
              </a:spcBef>
              <a:spcAft>
                <a:spcPts val="0"/>
              </a:spcAft>
              <a:buSzPts val="1500"/>
              <a:buChar char="○"/>
              <a:defRPr/>
            </a:lvl2pPr>
            <a:lvl3pPr marL="1371600" lvl="2" indent="-317500">
              <a:spcBef>
                <a:spcPts val="0"/>
              </a:spcBef>
              <a:spcAft>
                <a:spcPts val="0"/>
              </a:spcAft>
              <a:buSzPts val="1400"/>
              <a:buChar char="■"/>
              <a:defRPr/>
            </a:lvl3pPr>
            <a:lvl4pPr marL="1828800" lvl="3" indent="-311150">
              <a:spcBef>
                <a:spcPts val="0"/>
              </a:spcBef>
              <a:spcAft>
                <a:spcPts val="0"/>
              </a:spcAft>
              <a:buSzPts val="1300"/>
              <a:buChar char="●"/>
              <a:defRPr/>
            </a:lvl4pPr>
            <a:lvl5pPr marL="2286000" lvl="4" indent="-304800">
              <a:spcBef>
                <a:spcPts val="0"/>
              </a:spcBef>
              <a:spcAft>
                <a:spcPts val="0"/>
              </a:spcAft>
              <a:buSzPts val="1200"/>
              <a:buChar char="○"/>
              <a:defRPr/>
            </a:lvl5pPr>
            <a:lvl6pPr marL="2743200" lvl="5" indent="-298450">
              <a:spcBef>
                <a:spcPts val="0"/>
              </a:spcBef>
              <a:spcAft>
                <a:spcPts val="0"/>
              </a:spcAft>
              <a:buSzPts val="1100"/>
              <a:buChar char="■"/>
              <a:defRPr/>
            </a:lvl6pPr>
            <a:lvl7pPr marL="3200400" lvl="6" indent="-292100">
              <a:spcBef>
                <a:spcPts val="0"/>
              </a:spcBef>
              <a:spcAft>
                <a:spcPts val="0"/>
              </a:spcAft>
              <a:buSzPts val="1000"/>
              <a:buChar char="●"/>
              <a:defRPr/>
            </a:lvl7pPr>
            <a:lvl8pPr marL="3657600" lvl="7" indent="-285750">
              <a:spcBef>
                <a:spcPts val="0"/>
              </a:spcBef>
              <a:spcAft>
                <a:spcPts val="0"/>
              </a:spcAft>
              <a:buSzPts val="900"/>
              <a:buChar char="○"/>
              <a:defRPr/>
            </a:lvl8pPr>
            <a:lvl9pPr marL="4114800" lvl="8" indent="-279400">
              <a:spcBef>
                <a:spcPts val="0"/>
              </a:spcBef>
              <a:spcAft>
                <a:spcPts val="0"/>
              </a:spcAft>
              <a:buSzPts val="800"/>
              <a:buChar char="■"/>
              <a:defRPr/>
            </a:lvl9pPr>
          </a:lstStyle>
          <a:p>
            <a:endParaRPr/>
          </a:p>
        </p:txBody>
      </p:sp>
      <p:sp>
        <p:nvSpPr>
          <p:cNvPr id="415" name="Google Shape;415;p54"/>
          <p:cNvSpPr txBox="1">
            <a:spLocks noGrp="1"/>
          </p:cNvSpPr>
          <p:nvPr>
            <p:ph type="title"/>
          </p:nvPr>
        </p:nvSpPr>
        <p:spPr>
          <a:xfrm>
            <a:off x="143500" y="24125"/>
            <a:ext cx="4401600" cy="1575000"/>
          </a:xfrm>
          <a:prstGeom prst="rect">
            <a:avLst/>
          </a:prstGeom>
        </p:spPr>
        <p:txBody>
          <a:bodyPr spcFirstLastPara="1" wrap="square" lIns="91425" tIns="91425" rIns="91425" bIns="91425" anchor="t" anchorCtr="0">
            <a:noAutofit/>
          </a:bodyPr>
          <a:lstStyle>
            <a:lvl1pPr lvl="0">
              <a:spcBef>
                <a:spcPts val="0"/>
              </a:spcBef>
              <a:spcAft>
                <a:spcPts val="0"/>
              </a:spcAft>
              <a:buSzPts val="4000"/>
              <a:buNone/>
              <a:defRPr/>
            </a:lvl1pPr>
            <a:lvl2pPr lvl="1">
              <a:spcBef>
                <a:spcPts val="0"/>
              </a:spcBef>
              <a:spcAft>
                <a:spcPts val="0"/>
              </a:spcAft>
              <a:buSzPts val="1400"/>
              <a:buFont typeface="Roboto Serif"/>
              <a:buNone/>
              <a:defRPr/>
            </a:lvl2pPr>
            <a:lvl3pPr lvl="2">
              <a:spcBef>
                <a:spcPts val="0"/>
              </a:spcBef>
              <a:spcAft>
                <a:spcPts val="0"/>
              </a:spcAft>
              <a:buSzPts val="1400"/>
              <a:buFont typeface="Roboto Serif"/>
              <a:buNone/>
              <a:defRPr/>
            </a:lvl3pPr>
            <a:lvl4pPr lvl="3">
              <a:spcBef>
                <a:spcPts val="0"/>
              </a:spcBef>
              <a:spcAft>
                <a:spcPts val="0"/>
              </a:spcAft>
              <a:buSzPts val="1400"/>
              <a:buFont typeface="Roboto Serif"/>
              <a:buNone/>
              <a:defRPr/>
            </a:lvl4pPr>
            <a:lvl5pPr lvl="4">
              <a:spcBef>
                <a:spcPts val="0"/>
              </a:spcBef>
              <a:spcAft>
                <a:spcPts val="0"/>
              </a:spcAft>
              <a:buSzPts val="1400"/>
              <a:buFont typeface="Roboto Serif"/>
              <a:buNone/>
              <a:defRPr/>
            </a:lvl5pPr>
            <a:lvl6pPr lvl="5">
              <a:spcBef>
                <a:spcPts val="0"/>
              </a:spcBef>
              <a:spcAft>
                <a:spcPts val="0"/>
              </a:spcAft>
              <a:buSzPts val="1400"/>
              <a:buFont typeface="Roboto Serif"/>
              <a:buNone/>
              <a:defRPr/>
            </a:lvl6pPr>
            <a:lvl7pPr lvl="6">
              <a:spcBef>
                <a:spcPts val="0"/>
              </a:spcBef>
              <a:spcAft>
                <a:spcPts val="0"/>
              </a:spcAft>
              <a:buSzPts val="1400"/>
              <a:buFont typeface="Roboto Serif"/>
              <a:buNone/>
              <a:defRPr/>
            </a:lvl7pPr>
            <a:lvl8pPr lvl="7">
              <a:spcBef>
                <a:spcPts val="0"/>
              </a:spcBef>
              <a:spcAft>
                <a:spcPts val="0"/>
              </a:spcAft>
              <a:buSzPts val="1400"/>
              <a:buFont typeface="Roboto Serif"/>
              <a:buNone/>
              <a:defRPr/>
            </a:lvl8pPr>
            <a:lvl9pPr lvl="8">
              <a:spcBef>
                <a:spcPts val="0"/>
              </a:spcBef>
              <a:spcAft>
                <a:spcPts val="0"/>
              </a:spcAft>
              <a:buSzPts val="1400"/>
              <a:buFont typeface="Roboto Serif"/>
              <a:buNone/>
              <a:defRPr/>
            </a:lvl9pPr>
          </a:lstStyle>
          <a:p>
            <a:endParaRPr/>
          </a:p>
        </p:txBody>
      </p:sp>
      <p:sp>
        <p:nvSpPr>
          <p:cNvPr id="416" name="Google Shape;416;p54"/>
          <p:cNvSpPr txBox="1">
            <a:spLocks noGrp="1"/>
          </p:cNvSpPr>
          <p:nvPr>
            <p:ph type="body" idx="4"/>
          </p:nvPr>
        </p:nvSpPr>
        <p:spPr>
          <a:xfrm>
            <a:off x="165800" y="4845125"/>
            <a:ext cx="1248300" cy="157800"/>
          </a:xfrm>
          <a:prstGeom prst="rect">
            <a:avLst/>
          </a:prstGeom>
          <a:ln w="9525" cap="flat" cmpd="sng">
            <a:solidFill>
              <a:schemeClr val="dk2"/>
            </a:solidFill>
            <a:prstDash val="solid"/>
            <a:round/>
            <a:headEnd type="none" w="sm" len="sm"/>
            <a:tailEnd type="none" w="sm" len="sm"/>
          </a:ln>
        </p:spPr>
        <p:txBody>
          <a:bodyPr spcFirstLastPara="1" wrap="square" lIns="18275" tIns="18275" rIns="18275" bIns="0" anchor="t" anchorCtr="0">
            <a:noAutofit/>
          </a:bodyPr>
          <a:lstStyle>
            <a:lvl1pPr marL="457200" lvl="0" indent="-279400">
              <a:spcBef>
                <a:spcPts val="0"/>
              </a:spcBef>
              <a:spcAft>
                <a:spcPts val="0"/>
              </a:spcAft>
              <a:buSzPts val="800"/>
              <a:buFont typeface="Rubik"/>
              <a:buChar char="●"/>
              <a:defRPr sz="800"/>
            </a:lvl1pPr>
            <a:lvl2pPr marL="914400" lvl="1" indent="-279400">
              <a:spcBef>
                <a:spcPts val="0"/>
              </a:spcBef>
              <a:spcAft>
                <a:spcPts val="0"/>
              </a:spcAft>
              <a:buSzPts val="800"/>
              <a:buFont typeface="Rubik"/>
              <a:buChar char="○"/>
              <a:defRPr sz="800"/>
            </a:lvl2pPr>
            <a:lvl3pPr marL="1371600" lvl="2" indent="-279400">
              <a:spcBef>
                <a:spcPts val="0"/>
              </a:spcBef>
              <a:spcAft>
                <a:spcPts val="0"/>
              </a:spcAft>
              <a:buSzPts val="800"/>
              <a:buFont typeface="Rubik"/>
              <a:buChar char="■"/>
              <a:defRPr sz="800"/>
            </a:lvl3pPr>
            <a:lvl4pPr marL="1828800" lvl="3" indent="-279400">
              <a:spcBef>
                <a:spcPts val="0"/>
              </a:spcBef>
              <a:spcAft>
                <a:spcPts val="0"/>
              </a:spcAft>
              <a:buSzPts val="800"/>
              <a:buFont typeface="Rubik"/>
              <a:buChar char="●"/>
              <a:defRPr sz="800"/>
            </a:lvl4pPr>
            <a:lvl5pPr marL="2286000" lvl="4" indent="-279400">
              <a:spcBef>
                <a:spcPts val="0"/>
              </a:spcBef>
              <a:spcAft>
                <a:spcPts val="0"/>
              </a:spcAft>
              <a:buSzPts val="800"/>
              <a:buFont typeface="Rubik"/>
              <a:buChar char="○"/>
              <a:defRPr sz="800"/>
            </a:lvl5pPr>
            <a:lvl6pPr marL="2743200" lvl="5" indent="-279400">
              <a:spcBef>
                <a:spcPts val="0"/>
              </a:spcBef>
              <a:spcAft>
                <a:spcPts val="0"/>
              </a:spcAft>
              <a:buSzPts val="800"/>
              <a:buFont typeface="Rubik"/>
              <a:buChar char="■"/>
              <a:defRPr sz="800"/>
            </a:lvl6pPr>
            <a:lvl7pPr marL="3200400" lvl="6" indent="-279400">
              <a:spcBef>
                <a:spcPts val="0"/>
              </a:spcBef>
              <a:spcAft>
                <a:spcPts val="0"/>
              </a:spcAft>
              <a:buSzPts val="800"/>
              <a:buFont typeface="Rubik"/>
              <a:buChar char="●"/>
              <a:defRPr sz="800"/>
            </a:lvl7pPr>
            <a:lvl8pPr marL="3657600" lvl="7" indent="-279400">
              <a:spcBef>
                <a:spcPts val="0"/>
              </a:spcBef>
              <a:spcAft>
                <a:spcPts val="0"/>
              </a:spcAft>
              <a:buSzPts val="800"/>
              <a:buFont typeface="Rubik"/>
              <a:buChar char="○"/>
              <a:defRPr sz="800"/>
            </a:lvl8pPr>
            <a:lvl9pPr marL="4114800" lvl="8" indent="-279400">
              <a:spcBef>
                <a:spcPts val="0"/>
              </a:spcBef>
              <a:spcAft>
                <a:spcPts val="0"/>
              </a:spcAft>
              <a:buSzPts val="800"/>
              <a:buFont typeface="Rubik"/>
              <a:buChar char="■"/>
              <a:defRPr sz="800"/>
            </a:lvl9pPr>
          </a:lstStyle>
          <a:p>
            <a:endParaRPr/>
          </a:p>
        </p:txBody>
      </p:sp>
      <p:sp>
        <p:nvSpPr>
          <p:cNvPr id="417" name="Google Shape;417;p54"/>
          <p:cNvSpPr txBox="1">
            <a:spLocks noGrp="1"/>
          </p:cNvSpPr>
          <p:nvPr>
            <p:ph type="body" idx="5"/>
          </p:nvPr>
        </p:nvSpPr>
        <p:spPr>
          <a:xfrm>
            <a:off x="2281250" y="4845150"/>
            <a:ext cx="1802700" cy="157800"/>
          </a:xfrm>
          <a:prstGeom prst="rect">
            <a:avLst/>
          </a:prstGeom>
          <a:ln w="9525" cap="flat" cmpd="sng">
            <a:solidFill>
              <a:schemeClr val="dk2"/>
            </a:solidFill>
            <a:prstDash val="solid"/>
            <a:round/>
            <a:headEnd type="none" w="sm" len="sm"/>
            <a:tailEnd type="none" w="sm" len="sm"/>
          </a:ln>
        </p:spPr>
        <p:txBody>
          <a:bodyPr spcFirstLastPara="1" wrap="square" lIns="18275" tIns="18275" rIns="18275" bIns="0" anchor="t" anchorCtr="0">
            <a:noAutofit/>
          </a:bodyPr>
          <a:lstStyle>
            <a:lvl1pPr marL="457200" lvl="0" indent="-279400">
              <a:spcBef>
                <a:spcPts val="0"/>
              </a:spcBef>
              <a:spcAft>
                <a:spcPts val="0"/>
              </a:spcAft>
              <a:buSzPts val="800"/>
              <a:buFont typeface="Rubik"/>
              <a:buChar char="●"/>
              <a:defRPr sz="800"/>
            </a:lvl1pPr>
            <a:lvl2pPr marL="914400" lvl="1" indent="-279400">
              <a:spcBef>
                <a:spcPts val="0"/>
              </a:spcBef>
              <a:spcAft>
                <a:spcPts val="0"/>
              </a:spcAft>
              <a:buSzPts val="800"/>
              <a:buFont typeface="Rubik"/>
              <a:buChar char="○"/>
              <a:defRPr sz="800"/>
            </a:lvl2pPr>
            <a:lvl3pPr marL="1371600" lvl="2" indent="-279400">
              <a:spcBef>
                <a:spcPts val="0"/>
              </a:spcBef>
              <a:spcAft>
                <a:spcPts val="0"/>
              </a:spcAft>
              <a:buSzPts val="800"/>
              <a:buFont typeface="Rubik"/>
              <a:buChar char="■"/>
              <a:defRPr sz="800"/>
            </a:lvl3pPr>
            <a:lvl4pPr marL="1828800" lvl="3" indent="-279400">
              <a:spcBef>
                <a:spcPts val="0"/>
              </a:spcBef>
              <a:spcAft>
                <a:spcPts val="0"/>
              </a:spcAft>
              <a:buSzPts val="800"/>
              <a:buFont typeface="Rubik"/>
              <a:buChar char="●"/>
              <a:defRPr sz="800"/>
            </a:lvl4pPr>
            <a:lvl5pPr marL="2286000" lvl="4" indent="-279400">
              <a:spcBef>
                <a:spcPts val="0"/>
              </a:spcBef>
              <a:spcAft>
                <a:spcPts val="0"/>
              </a:spcAft>
              <a:buSzPts val="800"/>
              <a:buFont typeface="Rubik"/>
              <a:buChar char="○"/>
              <a:defRPr sz="800"/>
            </a:lvl5pPr>
            <a:lvl6pPr marL="2743200" lvl="5" indent="-279400">
              <a:spcBef>
                <a:spcPts val="0"/>
              </a:spcBef>
              <a:spcAft>
                <a:spcPts val="0"/>
              </a:spcAft>
              <a:buSzPts val="800"/>
              <a:buFont typeface="Rubik"/>
              <a:buChar char="■"/>
              <a:defRPr sz="800"/>
            </a:lvl6pPr>
            <a:lvl7pPr marL="3200400" lvl="6" indent="-279400">
              <a:spcBef>
                <a:spcPts val="0"/>
              </a:spcBef>
              <a:spcAft>
                <a:spcPts val="0"/>
              </a:spcAft>
              <a:buSzPts val="800"/>
              <a:buFont typeface="Rubik"/>
              <a:buChar char="●"/>
              <a:defRPr sz="800"/>
            </a:lvl7pPr>
            <a:lvl8pPr marL="3657600" lvl="7" indent="-279400">
              <a:spcBef>
                <a:spcPts val="0"/>
              </a:spcBef>
              <a:spcAft>
                <a:spcPts val="0"/>
              </a:spcAft>
              <a:buSzPts val="800"/>
              <a:buFont typeface="Rubik"/>
              <a:buChar char="○"/>
              <a:defRPr sz="800"/>
            </a:lvl8pPr>
            <a:lvl9pPr marL="4114800" lvl="8" indent="-279400">
              <a:spcBef>
                <a:spcPts val="0"/>
              </a:spcBef>
              <a:spcAft>
                <a:spcPts val="0"/>
              </a:spcAft>
              <a:buSzPts val="800"/>
              <a:buFont typeface="Rubik"/>
              <a:buChar char="■"/>
              <a:defRPr sz="800"/>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slide">
  <p:cSld name="TITLE_4">
    <p:spTree>
      <p:nvGrpSpPr>
        <p:cNvPr id="1" name="Shape 442"/>
        <p:cNvGrpSpPr/>
        <p:nvPr/>
      </p:nvGrpSpPr>
      <p:grpSpPr>
        <a:xfrm>
          <a:off x="0" y="0"/>
          <a:ext cx="0" cy="0"/>
          <a:chOff x="0" y="0"/>
          <a:chExt cx="0" cy="0"/>
        </a:xfrm>
      </p:grpSpPr>
      <p:sp>
        <p:nvSpPr>
          <p:cNvPr id="443" name="Google Shape;443;p58"/>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444" name="Google Shape;444;p58"/>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a:endParaRPr/>
          </a:p>
        </p:txBody>
      </p:sp>
      <p:sp>
        <p:nvSpPr>
          <p:cNvPr id="445" name="Google Shape;445;p5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body">
  <p:cSld name="TITLE_AND_BODY_1">
    <p:spTree>
      <p:nvGrpSpPr>
        <p:cNvPr id="1" name="Shape 446"/>
        <p:cNvGrpSpPr/>
        <p:nvPr/>
      </p:nvGrpSpPr>
      <p:grpSpPr>
        <a:xfrm>
          <a:off x="0" y="0"/>
          <a:ext cx="0" cy="0"/>
          <a:chOff x="0" y="0"/>
          <a:chExt cx="0" cy="0"/>
        </a:xfrm>
      </p:grpSpPr>
      <p:sp>
        <p:nvSpPr>
          <p:cNvPr id="447" name="Google Shape;447;p5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4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48" name="Google Shape;448;p5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30200">
              <a:spcBef>
                <a:spcPts val="0"/>
              </a:spcBef>
              <a:spcAft>
                <a:spcPts val="0"/>
              </a:spcAft>
              <a:buSzPts val="1600"/>
              <a:buChar char="●"/>
              <a:defRPr/>
            </a:lvl1pPr>
            <a:lvl2pPr marL="914400" lvl="1" indent="-323850">
              <a:spcBef>
                <a:spcPts val="0"/>
              </a:spcBef>
              <a:spcAft>
                <a:spcPts val="0"/>
              </a:spcAft>
              <a:buSzPts val="1500"/>
              <a:buChar char="○"/>
              <a:defRPr/>
            </a:lvl2pPr>
            <a:lvl3pPr marL="1371600" lvl="2" indent="-317500">
              <a:spcBef>
                <a:spcPts val="0"/>
              </a:spcBef>
              <a:spcAft>
                <a:spcPts val="0"/>
              </a:spcAft>
              <a:buSzPts val="1400"/>
              <a:buChar char="■"/>
              <a:defRPr/>
            </a:lvl3pPr>
            <a:lvl4pPr marL="1828800" lvl="3" indent="-311150">
              <a:spcBef>
                <a:spcPts val="0"/>
              </a:spcBef>
              <a:spcAft>
                <a:spcPts val="0"/>
              </a:spcAft>
              <a:buSzPts val="1300"/>
              <a:buChar char="●"/>
              <a:defRPr/>
            </a:lvl4pPr>
            <a:lvl5pPr marL="2286000" lvl="4" indent="-304800">
              <a:spcBef>
                <a:spcPts val="0"/>
              </a:spcBef>
              <a:spcAft>
                <a:spcPts val="0"/>
              </a:spcAft>
              <a:buSzPts val="1200"/>
              <a:buChar char="○"/>
              <a:defRPr/>
            </a:lvl5pPr>
            <a:lvl6pPr marL="2743200" lvl="5" indent="-298450">
              <a:spcBef>
                <a:spcPts val="0"/>
              </a:spcBef>
              <a:spcAft>
                <a:spcPts val="0"/>
              </a:spcAft>
              <a:buSzPts val="1100"/>
              <a:buChar char="■"/>
              <a:defRPr/>
            </a:lvl6pPr>
            <a:lvl7pPr marL="3200400" lvl="6" indent="-292100">
              <a:spcBef>
                <a:spcPts val="0"/>
              </a:spcBef>
              <a:spcAft>
                <a:spcPts val="0"/>
              </a:spcAft>
              <a:buSzPts val="1000"/>
              <a:buChar char="●"/>
              <a:defRPr/>
            </a:lvl7pPr>
            <a:lvl8pPr marL="3657600" lvl="7" indent="-285750">
              <a:spcBef>
                <a:spcPts val="0"/>
              </a:spcBef>
              <a:spcAft>
                <a:spcPts val="0"/>
              </a:spcAft>
              <a:buSzPts val="900"/>
              <a:buChar char="○"/>
              <a:defRPr/>
            </a:lvl8pPr>
            <a:lvl9pPr marL="4114800" lvl="8" indent="-279400">
              <a:spcBef>
                <a:spcPts val="0"/>
              </a:spcBef>
              <a:spcAft>
                <a:spcPts val="0"/>
              </a:spcAft>
              <a:buSzPts val="800"/>
              <a:buChar char="■"/>
              <a:defRPr/>
            </a:lvl9pPr>
          </a:lstStyle>
          <a:p>
            <a:endParaRPr/>
          </a:p>
        </p:txBody>
      </p:sp>
      <p:sp>
        <p:nvSpPr>
          <p:cNvPr id="449" name="Google Shape;449;p5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two columns">
  <p:cSld name="TITLE_AND_TWO_COLUMNS_1">
    <p:spTree>
      <p:nvGrpSpPr>
        <p:cNvPr id="1" name="Shape 450"/>
        <p:cNvGrpSpPr/>
        <p:nvPr/>
      </p:nvGrpSpPr>
      <p:grpSpPr>
        <a:xfrm>
          <a:off x="0" y="0"/>
          <a:ext cx="0" cy="0"/>
          <a:chOff x="0" y="0"/>
          <a:chExt cx="0" cy="0"/>
        </a:xfrm>
      </p:grpSpPr>
      <p:sp>
        <p:nvSpPr>
          <p:cNvPr id="451" name="Google Shape;451;p6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4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52" name="Google Shape;452;p60"/>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453" name="Google Shape;453;p60"/>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454" name="Google Shape;454;p6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only">
  <p:cSld name="TITLE_ONLY_1">
    <p:spTree>
      <p:nvGrpSpPr>
        <p:cNvPr id="1" name="Shape 455"/>
        <p:cNvGrpSpPr/>
        <p:nvPr/>
      </p:nvGrpSpPr>
      <p:grpSpPr>
        <a:xfrm>
          <a:off x="0" y="0"/>
          <a:ext cx="0" cy="0"/>
          <a:chOff x="0" y="0"/>
          <a:chExt cx="0" cy="0"/>
        </a:xfrm>
      </p:grpSpPr>
      <p:sp>
        <p:nvSpPr>
          <p:cNvPr id="456" name="Google Shape;456;p6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4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57" name="Google Shape;457;p6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One column text">
  <p:cSld name="ONE_COLUMN_TEXT_1">
    <p:spTree>
      <p:nvGrpSpPr>
        <p:cNvPr id="1" name="Shape 458"/>
        <p:cNvGrpSpPr/>
        <p:nvPr/>
      </p:nvGrpSpPr>
      <p:grpSpPr>
        <a:xfrm>
          <a:off x="0" y="0"/>
          <a:ext cx="0" cy="0"/>
          <a:chOff x="0" y="0"/>
          <a:chExt cx="0" cy="0"/>
        </a:xfrm>
      </p:grpSpPr>
      <p:sp>
        <p:nvSpPr>
          <p:cNvPr id="459" name="Google Shape;459;p62"/>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460" name="Google Shape;460;p62"/>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461" name="Google Shape;461;p6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Main point">
  <p:cSld name="MAIN_POINT_1">
    <p:spTree>
      <p:nvGrpSpPr>
        <p:cNvPr id="1" name="Shape 462"/>
        <p:cNvGrpSpPr/>
        <p:nvPr/>
      </p:nvGrpSpPr>
      <p:grpSpPr>
        <a:xfrm>
          <a:off x="0" y="0"/>
          <a:ext cx="0" cy="0"/>
          <a:chOff x="0" y="0"/>
          <a:chExt cx="0" cy="0"/>
        </a:xfrm>
      </p:grpSpPr>
      <p:sp>
        <p:nvSpPr>
          <p:cNvPr id="463" name="Google Shape;463;p63"/>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464" name="Google Shape;464;p6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_1">
    <p:spTree>
      <p:nvGrpSpPr>
        <p:cNvPr id="1" name="Shape 465"/>
        <p:cNvGrpSpPr/>
        <p:nvPr/>
      </p:nvGrpSpPr>
      <p:grpSpPr>
        <a:xfrm>
          <a:off x="0" y="0"/>
          <a:ext cx="0" cy="0"/>
          <a:chOff x="0" y="0"/>
          <a:chExt cx="0" cy="0"/>
        </a:xfrm>
      </p:grpSpPr>
      <p:sp>
        <p:nvSpPr>
          <p:cNvPr id="466" name="Google Shape;466;p64"/>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 name="Google Shape;467;p64"/>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468" name="Google Shape;468;p64"/>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a:endParaRPr/>
          </a:p>
        </p:txBody>
      </p:sp>
      <p:sp>
        <p:nvSpPr>
          <p:cNvPr id="469" name="Google Shape;469;p64"/>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330200">
              <a:spcBef>
                <a:spcPts val="0"/>
              </a:spcBef>
              <a:spcAft>
                <a:spcPts val="0"/>
              </a:spcAft>
              <a:buSzPts val="1600"/>
              <a:buChar char="●"/>
              <a:defRPr/>
            </a:lvl1pPr>
            <a:lvl2pPr marL="914400" lvl="1" indent="-323850">
              <a:spcBef>
                <a:spcPts val="0"/>
              </a:spcBef>
              <a:spcAft>
                <a:spcPts val="0"/>
              </a:spcAft>
              <a:buSzPts val="1500"/>
              <a:buChar char="○"/>
              <a:defRPr/>
            </a:lvl2pPr>
            <a:lvl3pPr marL="1371600" lvl="2" indent="-317500">
              <a:spcBef>
                <a:spcPts val="0"/>
              </a:spcBef>
              <a:spcAft>
                <a:spcPts val="0"/>
              </a:spcAft>
              <a:buSzPts val="1400"/>
              <a:buChar char="■"/>
              <a:defRPr/>
            </a:lvl3pPr>
            <a:lvl4pPr marL="1828800" lvl="3" indent="-311150">
              <a:spcBef>
                <a:spcPts val="0"/>
              </a:spcBef>
              <a:spcAft>
                <a:spcPts val="0"/>
              </a:spcAft>
              <a:buSzPts val="1300"/>
              <a:buChar char="●"/>
              <a:defRPr/>
            </a:lvl4pPr>
            <a:lvl5pPr marL="2286000" lvl="4" indent="-304800">
              <a:spcBef>
                <a:spcPts val="0"/>
              </a:spcBef>
              <a:spcAft>
                <a:spcPts val="0"/>
              </a:spcAft>
              <a:buSzPts val="1200"/>
              <a:buChar char="○"/>
              <a:defRPr/>
            </a:lvl5pPr>
            <a:lvl6pPr marL="2743200" lvl="5" indent="-298450">
              <a:spcBef>
                <a:spcPts val="0"/>
              </a:spcBef>
              <a:spcAft>
                <a:spcPts val="0"/>
              </a:spcAft>
              <a:buSzPts val="1100"/>
              <a:buChar char="■"/>
              <a:defRPr/>
            </a:lvl6pPr>
            <a:lvl7pPr marL="3200400" lvl="6" indent="-292100">
              <a:spcBef>
                <a:spcPts val="0"/>
              </a:spcBef>
              <a:spcAft>
                <a:spcPts val="0"/>
              </a:spcAft>
              <a:buSzPts val="1000"/>
              <a:buChar char="●"/>
              <a:defRPr/>
            </a:lvl7pPr>
            <a:lvl8pPr marL="3657600" lvl="7" indent="-285750">
              <a:spcBef>
                <a:spcPts val="0"/>
              </a:spcBef>
              <a:spcAft>
                <a:spcPts val="0"/>
              </a:spcAft>
              <a:buSzPts val="900"/>
              <a:buChar char="○"/>
              <a:defRPr/>
            </a:lvl8pPr>
            <a:lvl9pPr marL="4114800" lvl="8" indent="-279400">
              <a:spcBef>
                <a:spcPts val="0"/>
              </a:spcBef>
              <a:spcAft>
                <a:spcPts val="0"/>
              </a:spcAft>
              <a:buSzPts val="800"/>
              <a:buChar char="■"/>
              <a:defRPr/>
            </a:lvl9pPr>
          </a:lstStyle>
          <a:p>
            <a:endParaRPr/>
          </a:p>
        </p:txBody>
      </p:sp>
      <p:sp>
        <p:nvSpPr>
          <p:cNvPr id="470" name="Google Shape;470;p6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Caption">
  <p:cSld name="CAPTION_ONLY_1">
    <p:spTree>
      <p:nvGrpSpPr>
        <p:cNvPr id="1" name="Shape 471"/>
        <p:cNvGrpSpPr/>
        <p:nvPr/>
      </p:nvGrpSpPr>
      <p:grpSpPr>
        <a:xfrm>
          <a:off x="0" y="0"/>
          <a:ext cx="0" cy="0"/>
          <a:chOff x="0" y="0"/>
          <a:chExt cx="0" cy="0"/>
        </a:xfrm>
      </p:grpSpPr>
      <p:sp>
        <p:nvSpPr>
          <p:cNvPr id="472" name="Google Shape;472;p65"/>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Autofit/>
          </a:bodyPr>
          <a:lstStyle>
            <a:lvl1pPr marL="457200" lvl="0" indent="-228600">
              <a:spcBef>
                <a:spcPts val="0"/>
              </a:spcBef>
              <a:spcAft>
                <a:spcPts val="0"/>
              </a:spcAft>
              <a:buSzPts val="1600"/>
              <a:buNone/>
              <a:defRPr/>
            </a:lvl1pPr>
          </a:lstStyle>
          <a:p>
            <a:endParaRPr/>
          </a:p>
        </p:txBody>
      </p:sp>
      <p:sp>
        <p:nvSpPr>
          <p:cNvPr id="473" name="Google Shape;473;p6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ig number">
  <p:cSld name="BIG_NUMBER_1">
    <p:spTree>
      <p:nvGrpSpPr>
        <p:cNvPr id="1" name="Shape 474"/>
        <p:cNvGrpSpPr/>
        <p:nvPr/>
      </p:nvGrpSpPr>
      <p:grpSpPr>
        <a:xfrm>
          <a:off x="0" y="0"/>
          <a:ext cx="0" cy="0"/>
          <a:chOff x="0" y="0"/>
          <a:chExt cx="0" cy="0"/>
        </a:xfrm>
      </p:grpSpPr>
      <p:sp>
        <p:nvSpPr>
          <p:cNvPr id="475" name="Google Shape;475;p66"/>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76" name="Google Shape;476;p66"/>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Autofit/>
          </a:bodyPr>
          <a:lstStyle>
            <a:lvl1pPr marL="457200" lvl="0" indent="-330200" algn="ctr">
              <a:spcBef>
                <a:spcPts val="0"/>
              </a:spcBef>
              <a:spcAft>
                <a:spcPts val="0"/>
              </a:spcAft>
              <a:buSzPts val="1600"/>
              <a:buChar char="●"/>
              <a:defRPr/>
            </a:lvl1pPr>
            <a:lvl2pPr marL="914400" lvl="1" indent="-323850" algn="ctr">
              <a:spcBef>
                <a:spcPts val="0"/>
              </a:spcBef>
              <a:spcAft>
                <a:spcPts val="0"/>
              </a:spcAft>
              <a:buSzPts val="1500"/>
              <a:buChar char="○"/>
              <a:defRPr/>
            </a:lvl2pPr>
            <a:lvl3pPr marL="1371600" lvl="2" indent="-317500" algn="ctr">
              <a:spcBef>
                <a:spcPts val="0"/>
              </a:spcBef>
              <a:spcAft>
                <a:spcPts val="0"/>
              </a:spcAft>
              <a:buSzPts val="1400"/>
              <a:buChar char="■"/>
              <a:defRPr/>
            </a:lvl3pPr>
            <a:lvl4pPr marL="1828800" lvl="3" indent="-311150" algn="ctr">
              <a:spcBef>
                <a:spcPts val="0"/>
              </a:spcBef>
              <a:spcAft>
                <a:spcPts val="0"/>
              </a:spcAft>
              <a:buSzPts val="1300"/>
              <a:buChar char="●"/>
              <a:defRPr/>
            </a:lvl4pPr>
            <a:lvl5pPr marL="2286000" lvl="4" indent="-304800" algn="ctr">
              <a:spcBef>
                <a:spcPts val="0"/>
              </a:spcBef>
              <a:spcAft>
                <a:spcPts val="0"/>
              </a:spcAft>
              <a:buSzPts val="1200"/>
              <a:buChar char="○"/>
              <a:defRPr/>
            </a:lvl5pPr>
            <a:lvl6pPr marL="2743200" lvl="5" indent="-298450" algn="ctr">
              <a:spcBef>
                <a:spcPts val="0"/>
              </a:spcBef>
              <a:spcAft>
                <a:spcPts val="0"/>
              </a:spcAft>
              <a:buSzPts val="1100"/>
              <a:buChar char="■"/>
              <a:defRPr/>
            </a:lvl6pPr>
            <a:lvl7pPr marL="3200400" lvl="6" indent="-292100" algn="ctr">
              <a:spcBef>
                <a:spcPts val="0"/>
              </a:spcBef>
              <a:spcAft>
                <a:spcPts val="0"/>
              </a:spcAft>
              <a:buSzPts val="1000"/>
              <a:buChar char="●"/>
              <a:defRPr/>
            </a:lvl7pPr>
            <a:lvl8pPr marL="3657600" lvl="7" indent="-285750" algn="ctr">
              <a:spcBef>
                <a:spcPts val="0"/>
              </a:spcBef>
              <a:spcAft>
                <a:spcPts val="0"/>
              </a:spcAft>
              <a:buSzPts val="900"/>
              <a:buChar char="○"/>
              <a:defRPr/>
            </a:lvl8pPr>
            <a:lvl9pPr marL="4114800" lvl="8" indent="-279400" algn="ctr">
              <a:spcBef>
                <a:spcPts val="0"/>
              </a:spcBef>
              <a:spcAft>
                <a:spcPts val="0"/>
              </a:spcAft>
              <a:buSzPts val="800"/>
              <a:buChar char="■"/>
              <a:defRPr/>
            </a:lvl9pPr>
          </a:lstStyle>
          <a:p>
            <a:endParaRPr/>
          </a:p>
        </p:txBody>
      </p:sp>
      <p:sp>
        <p:nvSpPr>
          <p:cNvPr id="477" name="Google Shape;477;p6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Blank">
  <p:cSld name="BLANK_1">
    <p:spTree>
      <p:nvGrpSpPr>
        <p:cNvPr id="1" name="Shape 478"/>
        <p:cNvGrpSpPr/>
        <p:nvPr/>
      </p:nvGrpSpPr>
      <p:grpSpPr>
        <a:xfrm>
          <a:off x="0" y="0"/>
          <a:ext cx="0" cy="0"/>
          <a:chOff x="0" y="0"/>
          <a:chExt cx="0" cy="0"/>
        </a:xfrm>
      </p:grpSpPr>
      <p:sp>
        <p:nvSpPr>
          <p:cNvPr id="479" name="Google Shape;479;p6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Agenda">
  <p:cSld name="CUSTOM_7_1">
    <p:spTree>
      <p:nvGrpSpPr>
        <p:cNvPr id="1" name="Shape 480"/>
        <p:cNvGrpSpPr/>
        <p:nvPr/>
      </p:nvGrpSpPr>
      <p:grpSpPr>
        <a:xfrm>
          <a:off x="0" y="0"/>
          <a:ext cx="0" cy="0"/>
          <a:chOff x="0" y="0"/>
          <a:chExt cx="0" cy="0"/>
        </a:xfrm>
      </p:grpSpPr>
      <p:sp>
        <p:nvSpPr>
          <p:cNvPr id="481" name="Google Shape;481;p68"/>
          <p:cNvSpPr txBox="1">
            <a:spLocks noGrp="1"/>
          </p:cNvSpPr>
          <p:nvPr>
            <p:ph type="title"/>
          </p:nvPr>
        </p:nvSpPr>
        <p:spPr>
          <a:xfrm>
            <a:off x="677325" y="1832775"/>
            <a:ext cx="3217200" cy="1484100"/>
          </a:xfrm>
          <a:prstGeom prst="rect">
            <a:avLst/>
          </a:prstGeom>
        </p:spPr>
        <p:txBody>
          <a:bodyPr spcFirstLastPara="1" wrap="square" lIns="91425" tIns="91425" rIns="91425" bIns="91425" anchor="ctr" anchorCtr="0">
            <a:noAutofit/>
          </a:bodyPr>
          <a:lstStyle>
            <a:lvl1pPr lvl="0">
              <a:spcBef>
                <a:spcPts val="0"/>
              </a:spcBef>
              <a:spcAft>
                <a:spcPts val="0"/>
              </a:spcAft>
              <a:buSzPts val="4200"/>
              <a:buNone/>
              <a:defRPr sz="4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82" name="Google Shape;482;p6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483" name="Google Shape;483;p68"/>
          <p:cNvSpPr txBox="1">
            <a:spLocks noGrp="1"/>
          </p:cNvSpPr>
          <p:nvPr>
            <p:ph type="subTitle" idx="1"/>
          </p:nvPr>
        </p:nvSpPr>
        <p:spPr>
          <a:xfrm>
            <a:off x="4406650" y="393750"/>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484" name="Google Shape;484;p68"/>
          <p:cNvSpPr txBox="1">
            <a:spLocks noGrp="1"/>
          </p:cNvSpPr>
          <p:nvPr>
            <p:ph type="subTitle" idx="2"/>
          </p:nvPr>
        </p:nvSpPr>
        <p:spPr>
          <a:xfrm>
            <a:off x="4406650" y="1151705"/>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485" name="Google Shape;485;p68"/>
          <p:cNvSpPr txBox="1">
            <a:spLocks noGrp="1"/>
          </p:cNvSpPr>
          <p:nvPr>
            <p:ph type="subTitle" idx="3"/>
          </p:nvPr>
        </p:nvSpPr>
        <p:spPr>
          <a:xfrm>
            <a:off x="4406650" y="3425570"/>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486" name="Google Shape;486;p68"/>
          <p:cNvSpPr txBox="1">
            <a:spLocks noGrp="1"/>
          </p:cNvSpPr>
          <p:nvPr>
            <p:ph type="subTitle" idx="4"/>
          </p:nvPr>
        </p:nvSpPr>
        <p:spPr>
          <a:xfrm>
            <a:off x="4406650" y="1909660"/>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487" name="Google Shape;487;p68"/>
          <p:cNvSpPr txBox="1">
            <a:spLocks noGrp="1"/>
          </p:cNvSpPr>
          <p:nvPr>
            <p:ph type="subTitle" idx="5"/>
          </p:nvPr>
        </p:nvSpPr>
        <p:spPr>
          <a:xfrm>
            <a:off x="4406650" y="4183525"/>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488" name="Google Shape;488;p68"/>
          <p:cNvSpPr txBox="1">
            <a:spLocks noGrp="1"/>
          </p:cNvSpPr>
          <p:nvPr>
            <p:ph type="subTitle" idx="6"/>
          </p:nvPr>
        </p:nvSpPr>
        <p:spPr>
          <a:xfrm>
            <a:off x="4406650" y="2667615"/>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body and image">
  <p:cSld name="CUSTOM_8_1">
    <p:spTree>
      <p:nvGrpSpPr>
        <p:cNvPr id="1" name="Shape 489"/>
        <p:cNvGrpSpPr/>
        <p:nvPr/>
      </p:nvGrpSpPr>
      <p:grpSpPr>
        <a:xfrm>
          <a:off x="0" y="0"/>
          <a:ext cx="0" cy="0"/>
          <a:chOff x="0" y="0"/>
          <a:chExt cx="0" cy="0"/>
        </a:xfrm>
      </p:grpSpPr>
      <p:sp>
        <p:nvSpPr>
          <p:cNvPr id="490" name="Google Shape;490;p6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4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91" name="Google Shape;491;p69"/>
          <p:cNvSpPr txBox="1">
            <a:spLocks noGrp="1"/>
          </p:cNvSpPr>
          <p:nvPr>
            <p:ph type="body" idx="1"/>
          </p:nvPr>
        </p:nvSpPr>
        <p:spPr>
          <a:xfrm>
            <a:off x="311700" y="1152475"/>
            <a:ext cx="4473900" cy="3416400"/>
          </a:xfrm>
          <a:prstGeom prst="rect">
            <a:avLst/>
          </a:prstGeom>
        </p:spPr>
        <p:txBody>
          <a:bodyPr spcFirstLastPara="1" wrap="square" lIns="91425" tIns="91425" rIns="91425" bIns="91425" anchor="t" anchorCtr="0">
            <a:noAutofit/>
          </a:bodyPr>
          <a:lstStyle>
            <a:lvl1pPr marL="457200" lvl="0" indent="-330200">
              <a:spcBef>
                <a:spcPts val="0"/>
              </a:spcBef>
              <a:spcAft>
                <a:spcPts val="0"/>
              </a:spcAft>
              <a:buSzPts val="1600"/>
              <a:buChar char="●"/>
              <a:defRPr/>
            </a:lvl1pPr>
            <a:lvl2pPr marL="914400" lvl="1" indent="-323850">
              <a:spcBef>
                <a:spcPts val="0"/>
              </a:spcBef>
              <a:spcAft>
                <a:spcPts val="0"/>
              </a:spcAft>
              <a:buSzPts val="1500"/>
              <a:buChar char="○"/>
              <a:defRPr/>
            </a:lvl2pPr>
            <a:lvl3pPr marL="1371600" lvl="2" indent="-317500">
              <a:spcBef>
                <a:spcPts val="0"/>
              </a:spcBef>
              <a:spcAft>
                <a:spcPts val="0"/>
              </a:spcAft>
              <a:buSzPts val="1400"/>
              <a:buChar char="■"/>
              <a:defRPr/>
            </a:lvl3pPr>
            <a:lvl4pPr marL="1828800" lvl="3" indent="-311150">
              <a:spcBef>
                <a:spcPts val="0"/>
              </a:spcBef>
              <a:spcAft>
                <a:spcPts val="0"/>
              </a:spcAft>
              <a:buSzPts val="1300"/>
              <a:buChar char="●"/>
              <a:defRPr/>
            </a:lvl4pPr>
            <a:lvl5pPr marL="2286000" lvl="4" indent="-304800">
              <a:spcBef>
                <a:spcPts val="0"/>
              </a:spcBef>
              <a:spcAft>
                <a:spcPts val="0"/>
              </a:spcAft>
              <a:buSzPts val="1200"/>
              <a:buChar char="○"/>
              <a:defRPr/>
            </a:lvl5pPr>
            <a:lvl6pPr marL="2743200" lvl="5" indent="-298450">
              <a:spcBef>
                <a:spcPts val="0"/>
              </a:spcBef>
              <a:spcAft>
                <a:spcPts val="0"/>
              </a:spcAft>
              <a:buSzPts val="1100"/>
              <a:buChar char="■"/>
              <a:defRPr/>
            </a:lvl6pPr>
            <a:lvl7pPr marL="3200400" lvl="6" indent="-292100">
              <a:spcBef>
                <a:spcPts val="0"/>
              </a:spcBef>
              <a:spcAft>
                <a:spcPts val="0"/>
              </a:spcAft>
              <a:buSzPts val="1000"/>
              <a:buChar char="●"/>
              <a:defRPr/>
            </a:lvl7pPr>
            <a:lvl8pPr marL="3657600" lvl="7" indent="-285750">
              <a:spcBef>
                <a:spcPts val="0"/>
              </a:spcBef>
              <a:spcAft>
                <a:spcPts val="0"/>
              </a:spcAft>
              <a:buSzPts val="900"/>
              <a:buChar char="○"/>
              <a:defRPr/>
            </a:lvl8pPr>
            <a:lvl9pPr marL="4114800" lvl="8" indent="-279400">
              <a:spcBef>
                <a:spcPts val="0"/>
              </a:spcBef>
              <a:spcAft>
                <a:spcPts val="0"/>
              </a:spcAft>
              <a:buSzPts val="800"/>
              <a:buChar char="■"/>
              <a:defRPr/>
            </a:lvl9pPr>
          </a:lstStyle>
          <a:p>
            <a:endParaRPr/>
          </a:p>
        </p:txBody>
      </p:sp>
      <p:sp>
        <p:nvSpPr>
          <p:cNvPr id="492" name="Google Shape;492;p69"/>
          <p:cNvSpPr>
            <a:spLocks noGrp="1"/>
          </p:cNvSpPr>
          <p:nvPr>
            <p:ph type="pic" idx="2"/>
          </p:nvPr>
        </p:nvSpPr>
        <p:spPr>
          <a:xfrm>
            <a:off x="4992024" y="1152775"/>
            <a:ext cx="3840300" cy="3416400"/>
          </a:xfrm>
          <a:prstGeom prst="rect">
            <a:avLst/>
          </a:prstGeom>
          <a:noFill/>
          <a:ln>
            <a:noFill/>
          </a:ln>
        </p:spPr>
      </p:sp>
      <p:sp>
        <p:nvSpPr>
          <p:cNvPr id="493" name="Google Shape;493;p6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wo big ideas">
  <p:cSld name="CUSTOM_1">
    <p:spTree>
      <p:nvGrpSpPr>
        <p:cNvPr id="1" name="Shape 494"/>
        <p:cNvGrpSpPr/>
        <p:nvPr/>
      </p:nvGrpSpPr>
      <p:grpSpPr>
        <a:xfrm>
          <a:off x="0" y="0"/>
          <a:ext cx="0" cy="0"/>
          <a:chOff x="0" y="0"/>
          <a:chExt cx="0" cy="0"/>
        </a:xfrm>
      </p:grpSpPr>
      <p:sp>
        <p:nvSpPr>
          <p:cNvPr id="495" name="Google Shape;495;p7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496" name="Google Shape;496;p70"/>
          <p:cNvSpPr txBox="1">
            <a:spLocks noGrp="1"/>
          </p:cNvSpPr>
          <p:nvPr>
            <p:ph type="title"/>
          </p:nvPr>
        </p:nvSpPr>
        <p:spPr>
          <a:xfrm>
            <a:off x="483175" y="450025"/>
            <a:ext cx="8184600" cy="758100"/>
          </a:xfrm>
          <a:prstGeom prst="rect">
            <a:avLst/>
          </a:prstGeom>
        </p:spPr>
        <p:txBody>
          <a:bodyPr spcFirstLastPara="1" wrap="square" lIns="91425" tIns="91425" rIns="91425" bIns="91425" anchor="ctr" anchorCtr="0">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497" name="Google Shape;497;p70"/>
          <p:cNvSpPr txBox="1">
            <a:spLocks noGrp="1"/>
          </p:cNvSpPr>
          <p:nvPr>
            <p:ph type="body" idx="1"/>
          </p:nvPr>
        </p:nvSpPr>
        <p:spPr>
          <a:xfrm>
            <a:off x="483150" y="2237788"/>
            <a:ext cx="3619800" cy="2373600"/>
          </a:xfrm>
          <a:prstGeom prst="rect">
            <a:avLst/>
          </a:prstGeom>
        </p:spPr>
        <p:txBody>
          <a:bodyPr spcFirstLastPara="1" wrap="square" lIns="91425" tIns="91425" rIns="91425" bIns="91425" anchor="t" anchorCtr="0">
            <a:noAutofit/>
          </a:bodyPr>
          <a:lstStyle>
            <a:lvl1pPr marL="457200" lvl="0" indent="-330200">
              <a:spcBef>
                <a:spcPts val="0"/>
              </a:spcBef>
              <a:spcAft>
                <a:spcPts val="0"/>
              </a:spcAft>
              <a:buSzPts val="1600"/>
              <a:buChar char="●"/>
              <a:defRPr/>
            </a:lvl1pPr>
            <a:lvl2pPr marL="914400" lvl="1" indent="-323850">
              <a:spcBef>
                <a:spcPts val="0"/>
              </a:spcBef>
              <a:spcAft>
                <a:spcPts val="0"/>
              </a:spcAft>
              <a:buSzPts val="1500"/>
              <a:buChar char="○"/>
              <a:defRPr/>
            </a:lvl2pPr>
            <a:lvl3pPr marL="1371600" lvl="2" indent="-317500">
              <a:spcBef>
                <a:spcPts val="0"/>
              </a:spcBef>
              <a:spcAft>
                <a:spcPts val="0"/>
              </a:spcAft>
              <a:buSzPts val="1400"/>
              <a:buChar char="■"/>
              <a:defRPr/>
            </a:lvl3pPr>
            <a:lvl4pPr marL="1828800" lvl="3" indent="-311150">
              <a:spcBef>
                <a:spcPts val="0"/>
              </a:spcBef>
              <a:spcAft>
                <a:spcPts val="0"/>
              </a:spcAft>
              <a:buSzPts val="1300"/>
              <a:buChar char="●"/>
              <a:defRPr/>
            </a:lvl4pPr>
            <a:lvl5pPr marL="2286000" lvl="4" indent="-304800">
              <a:spcBef>
                <a:spcPts val="0"/>
              </a:spcBef>
              <a:spcAft>
                <a:spcPts val="0"/>
              </a:spcAft>
              <a:buSzPts val="1200"/>
              <a:buChar char="○"/>
              <a:defRPr/>
            </a:lvl5pPr>
            <a:lvl6pPr marL="2743200" lvl="5" indent="-298450">
              <a:spcBef>
                <a:spcPts val="0"/>
              </a:spcBef>
              <a:spcAft>
                <a:spcPts val="0"/>
              </a:spcAft>
              <a:buSzPts val="1100"/>
              <a:buChar char="■"/>
              <a:defRPr/>
            </a:lvl6pPr>
            <a:lvl7pPr marL="3200400" lvl="6" indent="-292100">
              <a:spcBef>
                <a:spcPts val="0"/>
              </a:spcBef>
              <a:spcAft>
                <a:spcPts val="0"/>
              </a:spcAft>
              <a:buSzPts val="1000"/>
              <a:buChar char="●"/>
              <a:defRPr/>
            </a:lvl7pPr>
            <a:lvl8pPr marL="3657600" lvl="7" indent="-285750">
              <a:spcBef>
                <a:spcPts val="0"/>
              </a:spcBef>
              <a:spcAft>
                <a:spcPts val="0"/>
              </a:spcAft>
              <a:buSzPts val="900"/>
              <a:buChar char="○"/>
              <a:defRPr/>
            </a:lvl8pPr>
            <a:lvl9pPr marL="4114800" lvl="8" indent="-279400">
              <a:spcBef>
                <a:spcPts val="0"/>
              </a:spcBef>
              <a:spcAft>
                <a:spcPts val="0"/>
              </a:spcAft>
              <a:buSzPts val="800"/>
              <a:buChar char="■"/>
              <a:defRPr/>
            </a:lvl9pPr>
          </a:lstStyle>
          <a:p>
            <a:endParaRPr/>
          </a:p>
        </p:txBody>
      </p:sp>
      <p:sp>
        <p:nvSpPr>
          <p:cNvPr id="498" name="Google Shape;498;p70"/>
          <p:cNvSpPr txBox="1">
            <a:spLocks noGrp="1"/>
          </p:cNvSpPr>
          <p:nvPr>
            <p:ph type="body" idx="2"/>
          </p:nvPr>
        </p:nvSpPr>
        <p:spPr>
          <a:xfrm>
            <a:off x="5048000" y="2237788"/>
            <a:ext cx="3619800" cy="2373600"/>
          </a:xfrm>
          <a:prstGeom prst="rect">
            <a:avLst/>
          </a:prstGeom>
        </p:spPr>
        <p:txBody>
          <a:bodyPr spcFirstLastPara="1" wrap="square" lIns="91425" tIns="91425" rIns="91425" bIns="91425" anchor="t" anchorCtr="0">
            <a:noAutofit/>
          </a:bodyPr>
          <a:lstStyle>
            <a:lvl1pPr marL="457200" lvl="0" indent="-330200">
              <a:spcBef>
                <a:spcPts val="0"/>
              </a:spcBef>
              <a:spcAft>
                <a:spcPts val="0"/>
              </a:spcAft>
              <a:buSzPts val="1600"/>
              <a:buChar char="●"/>
              <a:defRPr/>
            </a:lvl1pPr>
            <a:lvl2pPr marL="914400" lvl="1" indent="-323850">
              <a:spcBef>
                <a:spcPts val="0"/>
              </a:spcBef>
              <a:spcAft>
                <a:spcPts val="0"/>
              </a:spcAft>
              <a:buSzPts val="1500"/>
              <a:buChar char="○"/>
              <a:defRPr/>
            </a:lvl2pPr>
            <a:lvl3pPr marL="1371600" lvl="2" indent="-317500">
              <a:spcBef>
                <a:spcPts val="0"/>
              </a:spcBef>
              <a:spcAft>
                <a:spcPts val="0"/>
              </a:spcAft>
              <a:buSzPts val="1400"/>
              <a:buChar char="■"/>
              <a:defRPr/>
            </a:lvl3pPr>
            <a:lvl4pPr marL="1828800" lvl="3" indent="-311150">
              <a:spcBef>
                <a:spcPts val="0"/>
              </a:spcBef>
              <a:spcAft>
                <a:spcPts val="0"/>
              </a:spcAft>
              <a:buSzPts val="1300"/>
              <a:buChar char="●"/>
              <a:defRPr/>
            </a:lvl4pPr>
            <a:lvl5pPr marL="2286000" lvl="4" indent="-304800">
              <a:spcBef>
                <a:spcPts val="0"/>
              </a:spcBef>
              <a:spcAft>
                <a:spcPts val="0"/>
              </a:spcAft>
              <a:buSzPts val="1200"/>
              <a:buChar char="○"/>
              <a:defRPr/>
            </a:lvl5pPr>
            <a:lvl6pPr marL="2743200" lvl="5" indent="-298450">
              <a:spcBef>
                <a:spcPts val="0"/>
              </a:spcBef>
              <a:spcAft>
                <a:spcPts val="0"/>
              </a:spcAft>
              <a:buSzPts val="1100"/>
              <a:buChar char="■"/>
              <a:defRPr/>
            </a:lvl6pPr>
            <a:lvl7pPr marL="3200400" lvl="6" indent="-292100">
              <a:spcBef>
                <a:spcPts val="0"/>
              </a:spcBef>
              <a:spcAft>
                <a:spcPts val="0"/>
              </a:spcAft>
              <a:buSzPts val="1000"/>
              <a:buChar char="●"/>
              <a:defRPr/>
            </a:lvl7pPr>
            <a:lvl8pPr marL="3657600" lvl="7" indent="-285750">
              <a:spcBef>
                <a:spcPts val="0"/>
              </a:spcBef>
              <a:spcAft>
                <a:spcPts val="0"/>
              </a:spcAft>
              <a:buSzPts val="900"/>
              <a:buChar char="○"/>
              <a:defRPr/>
            </a:lvl8pPr>
            <a:lvl9pPr marL="4114800" lvl="8" indent="-279400">
              <a:spcBef>
                <a:spcPts val="0"/>
              </a:spcBef>
              <a:spcAft>
                <a:spcPts val="0"/>
              </a:spcAft>
              <a:buSzPts val="800"/>
              <a:buChar char="■"/>
              <a:defRPr/>
            </a:lvl9pPr>
          </a:lstStyle>
          <a:p>
            <a:endParaRPr/>
          </a:p>
        </p:txBody>
      </p:sp>
      <p:sp>
        <p:nvSpPr>
          <p:cNvPr id="499" name="Google Shape;499;p70"/>
          <p:cNvSpPr txBox="1">
            <a:spLocks noGrp="1"/>
          </p:cNvSpPr>
          <p:nvPr>
            <p:ph type="subTitle" idx="3"/>
          </p:nvPr>
        </p:nvSpPr>
        <p:spPr>
          <a:xfrm>
            <a:off x="483150" y="1336161"/>
            <a:ext cx="36198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500" name="Google Shape;500;p70"/>
          <p:cNvSpPr txBox="1">
            <a:spLocks noGrp="1"/>
          </p:cNvSpPr>
          <p:nvPr>
            <p:ph type="subTitle" idx="4"/>
          </p:nvPr>
        </p:nvSpPr>
        <p:spPr>
          <a:xfrm>
            <a:off x="5048000" y="1336161"/>
            <a:ext cx="36198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hree big ideas">
  <p:cSld name="CUSTOM_2_2">
    <p:spTree>
      <p:nvGrpSpPr>
        <p:cNvPr id="1" name="Shape 501"/>
        <p:cNvGrpSpPr/>
        <p:nvPr/>
      </p:nvGrpSpPr>
      <p:grpSpPr>
        <a:xfrm>
          <a:off x="0" y="0"/>
          <a:ext cx="0" cy="0"/>
          <a:chOff x="0" y="0"/>
          <a:chExt cx="0" cy="0"/>
        </a:xfrm>
      </p:grpSpPr>
      <p:sp>
        <p:nvSpPr>
          <p:cNvPr id="502" name="Google Shape;502;p7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503" name="Google Shape;503;p71"/>
          <p:cNvSpPr txBox="1">
            <a:spLocks noGrp="1"/>
          </p:cNvSpPr>
          <p:nvPr>
            <p:ph type="body" idx="1"/>
          </p:nvPr>
        </p:nvSpPr>
        <p:spPr>
          <a:xfrm>
            <a:off x="483175" y="2417500"/>
            <a:ext cx="2455500" cy="2373600"/>
          </a:xfrm>
          <a:prstGeom prst="rect">
            <a:avLst/>
          </a:prstGeom>
        </p:spPr>
        <p:txBody>
          <a:bodyPr spcFirstLastPara="1" wrap="square" lIns="91425" tIns="91425" rIns="91425" bIns="91425" anchor="t" anchorCtr="0">
            <a:noAutofit/>
          </a:bodyPr>
          <a:lstStyle>
            <a:lvl1pPr marL="457200" lvl="0" indent="-330200">
              <a:spcBef>
                <a:spcPts val="0"/>
              </a:spcBef>
              <a:spcAft>
                <a:spcPts val="0"/>
              </a:spcAft>
              <a:buSzPts val="1600"/>
              <a:buChar char="●"/>
              <a:defRPr/>
            </a:lvl1pPr>
            <a:lvl2pPr marL="914400" lvl="1" indent="-323850">
              <a:spcBef>
                <a:spcPts val="0"/>
              </a:spcBef>
              <a:spcAft>
                <a:spcPts val="0"/>
              </a:spcAft>
              <a:buSzPts val="1500"/>
              <a:buChar char="○"/>
              <a:defRPr/>
            </a:lvl2pPr>
            <a:lvl3pPr marL="1371600" lvl="2" indent="-317500">
              <a:spcBef>
                <a:spcPts val="0"/>
              </a:spcBef>
              <a:spcAft>
                <a:spcPts val="0"/>
              </a:spcAft>
              <a:buSzPts val="1400"/>
              <a:buChar char="■"/>
              <a:defRPr/>
            </a:lvl3pPr>
            <a:lvl4pPr marL="1828800" lvl="3" indent="-311150">
              <a:spcBef>
                <a:spcPts val="0"/>
              </a:spcBef>
              <a:spcAft>
                <a:spcPts val="0"/>
              </a:spcAft>
              <a:buSzPts val="1300"/>
              <a:buChar char="●"/>
              <a:defRPr/>
            </a:lvl4pPr>
            <a:lvl5pPr marL="2286000" lvl="4" indent="-304800">
              <a:spcBef>
                <a:spcPts val="0"/>
              </a:spcBef>
              <a:spcAft>
                <a:spcPts val="0"/>
              </a:spcAft>
              <a:buSzPts val="1200"/>
              <a:buChar char="○"/>
              <a:defRPr/>
            </a:lvl5pPr>
            <a:lvl6pPr marL="2743200" lvl="5" indent="-298450">
              <a:spcBef>
                <a:spcPts val="0"/>
              </a:spcBef>
              <a:spcAft>
                <a:spcPts val="0"/>
              </a:spcAft>
              <a:buSzPts val="1100"/>
              <a:buChar char="■"/>
              <a:defRPr/>
            </a:lvl6pPr>
            <a:lvl7pPr marL="3200400" lvl="6" indent="-292100">
              <a:spcBef>
                <a:spcPts val="0"/>
              </a:spcBef>
              <a:spcAft>
                <a:spcPts val="0"/>
              </a:spcAft>
              <a:buSzPts val="1000"/>
              <a:buChar char="●"/>
              <a:defRPr/>
            </a:lvl7pPr>
            <a:lvl8pPr marL="3657600" lvl="7" indent="-285750">
              <a:spcBef>
                <a:spcPts val="0"/>
              </a:spcBef>
              <a:spcAft>
                <a:spcPts val="0"/>
              </a:spcAft>
              <a:buSzPts val="900"/>
              <a:buChar char="○"/>
              <a:defRPr/>
            </a:lvl8pPr>
            <a:lvl9pPr marL="4114800" lvl="8" indent="-279400">
              <a:spcBef>
                <a:spcPts val="0"/>
              </a:spcBef>
              <a:spcAft>
                <a:spcPts val="0"/>
              </a:spcAft>
              <a:buSzPts val="800"/>
              <a:buChar char="■"/>
              <a:defRPr/>
            </a:lvl9pPr>
          </a:lstStyle>
          <a:p>
            <a:endParaRPr/>
          </a:p>
        </p:txBody>
      </p:sp>
      <p:sp>
        <p:nvSpPr>
          <p:cNvPr id="504" name="Google Shape;504;p71"/>
          <p:cNvSpPr txBox="1">
            <a:spLocks noGrp="1"/>
          </p:cNvSpPr>
          <p:nvPr>
            <p:ph type="body" idx="2"/>
          </p:nvPr>
        </p:nvSpPr>
        <p:spPr>
          <a:xfrm>
            <a:off x="3347725" y="2417500"/>
            <a:ext cx="2455500" cy="2373600"/>
          </a:xfrm>
          <a:prstGeom prst="rect">
            <a:avLst/>
          </a:prstGeom>
        </p:spPr>
        <p:txBody>
          <a:bodyPr spcFirstLastPara="1" wrap="square" lIns="91425" tIns="91425" rIns="91425" bIns="91425" anchor="t" anchorCtr="0">
            <a:noAutofit/>
          </a:bodyPr>
          <a:lstStyle>
            <a:lvl1pPr marL="457200" lvl="0" indent="-330200">
              <a:spcBef>
                <a:spcPts val="0"/>
              </a:spcBef>
              <a:spcAft>
                <a:spcPts val="0"/>
              </a:spcAft>
              <a:buSzPts val="1600"/>
              <a:buChar char="●"/>
              <a:defRPr/>
            </a:lvl1pPr>
            <a:lvl2pPr marL="914400" lvl="1" indent="-323850">
              <a:spcBef>
                <a:spcPts val="0"/>
              </a:spcBef>
              <a:spcAft>
                <a:spcPts val="0"/>
              </a:spcAft>
              <a:buSzPts val="1500"/>
              <a:buChar char="○"/>
              <a:defRPr/>
            </a:lvl2pPr>
            <a:lvl3pPr marL="1371600" lvl="2" indent="-317500">
              <a:spcBef>
                <a:spcPts val="0"/>
              </a:spcBef>
              <a:spcAft>
                <a:spcPts val="0"/>
              </a:spcAft>
              <a:buSzPts val="1400"/>
              <a:buChar char="■"/>
              <a:defRPr/>
            </a:lvl3pPr>
            <a:lvl4pPr marL="1828800" lvl="3" indent="-311150">
              <a:spcBef>
                <a:spcPts val="0"/>
              </a:spcBef>
              <a:spcAft>
                <a:spcPts val="0"/>
              </a:spcAft>
              <a:buSzPts val="1300"/>
              <a:buChar char="●"/>
              <a:defRPr/>
            </a:lvl4pPr>
            <a:lvl5pPr marL="2286000" lvl="4" indent="-304800">
              <a:spcBef>
                <a:spcPts val="0"/>
              </a:spcBef>
              <a:spcAft>
                <a:spcPts val="0"/>
              </a:spcAft>
              <a:buSzPts val="1200"/>
              <a:buChar char="○"/>
              <a:defRPr/>
            </a:lvl5pPr>
            <a:lvl6pPr marL="2743200" lvl="5" indent="-298450">
              <a:spcBef>
                <a:spcPts val="0"/>
              </a:spcBef>
              <a:spcAft>
                <a:spcPts val="0"/>
              </a:spcAft>
              <a:buSzPts val="1100"/>
              <a:buChar char="■"/>
              <a:defRPr/>
            </a:lvl6pPr>
            <a:lvl7pPr marL="3200400" lvl="6" indent="-292100">
              <a:spcBef>
                <a:spcPts val="0"/>
              </a:spcBef>
              <a:spcAft>
                <a:spcPts val="0"/>
              </a:spcAft>
              <a:buSzPts val="1000"/>
              <a:buChar char="●"/>
              <a:defRPr/>
            </a:lvl7pPr>
            <a:lvl8pPr marL="3657600" lvl="7" indent="-285750">
              <a:spcBef>
                <a:spcPts val="0"/>
              </a:spcBef>
              <a:spcAft>
                <a:spcPts val="0"/>
              </a:spcAft>
              <a:buSzPts val="900"/>
              <a:buChar char="○"/>
              <a:defRPr/>
            </a:lvl8pPr>
            <a:lvl9pPr marL="4114800" lvl="8" indent="-279400">
              <a:spcBef>
                <a:spcPts val="0"/>
              </a:spcBef>
              <a:spcAft>
                <a:spcPts val="0"/>
              </a:spcAft>
              <a:buSzPts val="800"/>
              <a:buChar char="■"/>
              <a:defRPr/>
            </a:lvl9pPr>
          </a:lstStyle>
          <a:p>
            <a:endParaRPr/>
          </a:p>
        </p:txBody>
      </p:sp>
      <p:sp>
        <p:nvSpPr>
          <p:cNvPr id="505" name="Google Shape;505;p71"/>
          <p:cNvSpPr txBox="1">
            <a:spLocks noGrp="1"/>
          </p:cNvSpPr>
          <p:nvPr>
            <p:ph type="body" idx="3"/>
          </p:nvPr>
        </p:nvSpPr>
        <p:spPr>
          <a:xfrm>
            <a:off x="6212275" y="2417500"/>
            <a:ext cx="2455500" cy="2373600"/>
          </a:xfrm>
          <a:prstGeom prst="rect">
            <a:avLst/>
          </a:prstGeom>
        </p:spPr>
        <p:txBody>
          <a:bodyPr spcFirstLastPara="1" wrap="square" lIns="91425" tIns="91425" rIns="91425" bIns="91425" anchor="t" anchorCtr="0">
            <a:noAutofit/>
          </a:bodyPr>
          <a:lstStyle>
            <a:lvl1pPr marL="457200" lvl="0" indent="-330200">
              <a:spcBef>
                <a:spcPts val="0"/>
              </a:spcBef>
              <a:spcAft>
                <a:spcPts val="0"/>
              </a:spcAft>
              <a:buSzPts val="1600"/>
              <a:buChar char="●"/>
              <a:defRPr/>
            </a:lvl1pPr>
            <a:lvl2pPr marL="914400" lvl="1" indent="-323850">
              <a:spcBef>
                <a:spcPts val="0"/>
              </a:spcBef>
              <a:spcAft>
                <a:spcPts val="0"/>
              </a:spcAft>
              <a:buSzPts val="1500"/>
              <a:buChar char="○"/>
              <a:defRPr/>
            </a:lvl2pPr>
            <a:lvl3pPr marL="1371600" lvl="2" indent="-317500">
              <a:spcBef>
                <a:spcPts val="0"/>
              </a:spcBef>
              <a:spcAft>
                <a:spcPts val="0"/>
              </a:spcAft>
              <a:buSzPts val="1400"/>
              <a:buChar char="■"/>
              <a:defRPr/>
            </a:lvl3pPr>
            <a:lvl4pPr marL="1828800" lvl="3" indent="-311150">
              <a:spcBef>
                <a:spcPts val="0"/>
              </a:spcBef>
              <a:spcAft>
                <a:spcPts val="0"/>
              </a:spcAft>
              <a:buSzPts val="1300"/>
              <a:buChar char="●"/>
              <a:defRPr/>
            </a:lvl4pPr>
            <a:lvl5pPr marL="2286000" lvl="4" indent="-304800">
              <a:spcBef>
                <a:spcPts val="0"/>
              </a:spcBef>
              <a:spcAft>
                <a:spcPts val="0"/>
              </a:spcAft>
              <a:buSzPts val="1200"/>
              <a:buChar char="○"/>
              <a:defRPr/>
            </a:lvl5pPr>
            <a:lvl6pPr marL="2743200" lvl="5" indent="-298450">
              <a:spcBef>
                <a:spcPts val="0"/>
              </a:spcBef>
              <a:spcAft>
                <a:spcPts val="0"/>
              </a:spcAft>
              <a:buSzPts val="1100"/>
              <a:buChar char="■"/>
              <a:defRPr/>
            </a:lvl6pPr>
            <a:lvl7pPr marL="3200400" lvl="6" indent="-292100">
              <a:spcBef>
                <a:spcPts val="0"/>
              </a:spcBef>
              <a:spcAft>
                <a:spcPts val="0"/>
              </a:spcAft>
              <a:buSzPts val="1000"/>
              <a:buChar char="●"/>
              <a:defRPr/>
            </a:lvl7pPr>
            <a:lvl8pPr marL="3657600" lvl="7" indent="-285750">
              <a:spcBef>
                <a:spcPts val="0"/>
              </a:spcBef>
              <a:spcAft>
                <a:spcPts val="0"/>
              </a:spcAft>
              <a:buSzPts val="900"/>
              <a:buChar char="○"/>
              <a:defRPr/>
            </a:lvl8pPr>
            <a:lvl9pPr marL="4114800" lvl="8" indent="-279400">
              <a:spcBef>
                <a:spcPts val="0"/>
              </a:spcBef>
              <a:spcAft>
                <a:spcPts val="0"/>
              </a:spcAft>
              <a:buSzPts val="800"/>
              <a:buChar char="■"/>
              <a:defRPr/>
            </a:lvl9pPr>
          </a:lstStyle>
          <a:p>
            <a:endParaRPr/>
          </a:p>
        </p:txBody>
      </p:sp>
      <p:sp>
        <p:nvSpPr>
          <p:cNvPr id="506" name="Google Shape;506;p71"/>
          <p:cNvSpPr txBox="1">
            <a:spLocks noGrp="1"/>
          </p:cNvSpPr>
          <p:nvPr>
            <p:ph type="title"/>
          </p:nvPr>
        </p:nvSpPr>
        <p:spPr>
          <a:xfrm>
            <a:off x="483175" y="450025"/>
            <a:ext cx="8184600" cy="758100"/>
          </a:xfrm>
          <a:prstGeom prst="rect">
            <a:avLst/>
          </a:prstGeom>
        </p:spPr>
        <p:txBody>
          <a:bodyPr spcFirstLastPara="1" wrap="square" lIns="91425" tIns="91425" rIns="91425" bIns="91425" anchor="ctr" anchorCtr="0">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507" name="Google Shape;507;p71"/>
          <p:cNvSpPr txBox="1">
            <a:spLocks noGrp="1"/>
          </p:cNvSpPr>
          <p:nvPr>
            <p:ph type="subTitle" idx="4"/>
          </p:nvPr>
        </p:nvSpPr>
        <p:spPr>
          <a:xfrm>
            <a:off x="483175" y="1336150"/>
            <a:ext cx="2455500" cy="7785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508" name="Google Shape;508;p71"/>
          <p:cNvSpPr txBox="1">
            <a:spLocks noGrp="1"/>
          </p:cNvSpPr>
          <p:nvPr>
            <p:ph type="subTitle" idx="5"/>
          </p:nvPr>
        </p:nvSpPr>
        <p:spPr>
          <a:xfrm>
            <a:off x="3347725" y="1336150"/>
            <a:ext cx="2455500" cy="7785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509" name="Google Shape;509;p71"/>
          <p:cNvSpPr txBox="1">
            <a:spLocks noGrp="1"/>
          </p:cNvSpPr>
          <p:nvPr>
            <p:ph type="subTitle" idx="6"/>
          </p:nvPr>
        </p:nvSpPr>
        <p:spPr>
          <a:xfrm>
            <a:off x="6212275" y="1336150"/>
            <a:ext cx="2455500" cy="7785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Four big ideas">
  <p:cSld name="CUSTOM_3_1">
    <p:spTree>
      <p:nvGrpSpPr>
        <p:cNvPr id="1" name="Shape 510"/>
        <p:cNvGrpSpPr/>
        <p:nvPr/>
      </p:nvGrpSpPr>
      <p:grpSpPr>
        <a:xfrm>
          <a:off x="0" y="0"/>
          <a:ext cx="0" cy="0"/>
          <a:chOff x="0" y="0"/>
          <a:chExt cx="0" cy="0"/>
        </a:xfrm>
      </p:grpSpPr>
      <p:sp>
        <p:nvSpPr>
          <p:cNvPr id="511" name="Google Shape;511;p7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512" name="Google Shape;512;p72"/>
          <p:cNvSpPr txBox="1">
            <a:spLocks noGrp="1"/>
          </p:cNvSpPr>
          <p:nvPr>
            <p:ph type="body" idx="1"/>
          </p:nvPr>
        </p:nvSpPr>
        <p:spPr>
          <a:xfrm>
            <a:off x="366725" y="1759093"/>
            <a:ext cx="3838500" cy="11385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23850">
              <a:spcBef>
                <a:spcPts val="0"/>
              </a:spcBef>
              <a:spcAft>
                <a:spcPts val="0"/>
              </a:spcAft>
              <a:buSzPts val="1500"/>
              <a:buChar char="○"/>
              <a:defRPr/>
            </a:lvl2pPr>
            <a:lvl3pPr marL="1371600" lvl="2" indent="-317500">
              <a:spcBef>
                <a:spcPts val="0"/>
              </a:spcBef>
              <a:spcAft>
                <a:spcPts val="0"/>
              </a:spcAft>
              <a:buSzPts val="1400"/>
              <a:buChar char="■"/>
              <a:defRPr/>
            </a:lvl3pPr>
            <a:lvl4pPr marL="1828800" lvl="3" indent="-311150">
              <a:spcBef>
                <a:spcPts val="0"/>
              </a:spcBef>
              <a:spcAft>
                <a:spcPts val="0"/>
              </a:spcAft>
              <a:buSzPts val="1300"/>
              <a:buChar char="●"/>
              <a:defRPr/>
            </a:lvl4pPr>
            <a:lvl5pPr marL="2286000" lvl="4" indent="-304800">
              <a:spcBef>
                <a:spcPts val="0"/>
              </a:spcBef>
              <a:spcAft>
                <a:spcPts val="0"/>
              </a:spcAft>
              <a:buSzPts val="1200"/>
              <a:buChar char="○"/>
              <a:defRPr/>
            </a:lvl5pPr>
            <a:lvl6pPr marL="2743200" lvl="5" indent="-298450">
              <a:spcBef>
                <a:spcPts val="0"/>
              </a:spcBef>
              <a:spcAft>
                <a:spcPts val="0"/>
              </a:spcAft>
              <a:buSzPts val="1100"/>
              <a:buChar char="■"/>
              <a:defRPr/>
            </a:lvl6pPr>
            <a:lvl7pPr marL="3200400" lvl="6" indent="-292100">
              <a:spcBef>
                <a:spcPts val="0"/>
              </a:spcBef>
              <a:spcAft>
                <a:spcPts val="0"/>
              </a:spcAft>
              <a:buSzPts val="1000"/>
              <a:buChar char="●"/>
              <a:defRPr/>
            </a:lvl7pPr>
            <a:lvl8pPr marL="3657600" lvl="7" indent="-285750">
              <a:spcBef>
                <a:spcPts val="0"/>
              </a:spcBef>
              <a:spcAft>
                <a:spcPts val="0"/>
              </a:spcAft>
              <a:buSzPts val="900"/>
              <a:buChar char="○"/>
              <a:defRPr/>
            </a:lvl8pPr>
            <a:lvl9pPr marL="4114800" lvl="8" indent="-279400">
              <a:spcBef>
                <a:spcPts val="0"/>
              </a:spcBef>
              <a:spcAft>
                <a:spcPts val="0"/>
              </a:spcAft>
              <a:buSzPts val="800"/>
              <a:buChar char="■"/>
              <a:defRPr/>
            </a:lvl9pPr>
          </a:lstStyle>
          <a:p>
            <a:endParaRPr/>
          </a:p>
        </p:txBody>
      </p:sp>
      <p:sp>
        <p:nvSpPr>
          <p:cNvPr id="513" name="Google Shape;513;p72"/>
          <p:cNvSpPr txBox="1">
            <a:spLocks noGrp="1"/>
          </p:cNvSpPr>
          <p:nvPr>
            <p:ph type="body" idx="2"/>
          </p:nvPr>
        </p:nvSpPr>
        <p:spPr>
          <a:xfrm>
            <a:off x="4938725" y="1759093"/>
            <a:ext cx="3838500" cy="11385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23850">
              <a:spcBef>
                <a:spcPts val="0"/>
              </a:spcBef>
              <a:spcAft>
                <a:spcPts val="0"/>
              </a:spcAft>
              <a:buSzPts val="1500"/>
              <a:buChar char="○"/>
              <a:defRPr/>
            </a:lvl2pPr>
            <a:lvl3pPr marL="1371600" lvl="2" indent="-317500">
              <a:spcBef>
                <a:spcPts val="0"/>
              </a:spcBef>
              <a:spcAft>
                <a:spcPts val="0"/>
              </a:spcAft>
              <a:buSzPts val="1400"/>
              <a:buChar char="■"/>
              <a:defRPr/>
            </a:lvl3pPr>
            <a:lvl4pPr marL="1828800" lvl="3" indent="-311150">
              <a:spcBef>
                <a:spcPts val="0"/>
              </a:spcBef>
              <a:spcAft>
                <a:spcPts val="0"/>
              </a:spcAft>
              <a:buSzPts val="1300"/>
              <a:buChar char="●"/>
              <a:defRPr/>
            </a:lvl4pPr>
            <a:lvl5pPr marL="2286000" lvl="4" indent="-304800">
              <a:spcBef>
                <a:spcPts val="0"/>
              </a:spcBef>
              <a:spcAft>
                <a:spcPts val="0"/>
              </a:spcAft>
              <a:buSzPts val="1200"/>
              <a:buChar char="○"/>
              <a:defRPr/>
            </a:lvl5pPr>
            <a:lvl6pPr marL="2743200" lvl="5" indent="-298450">
              <a:spcBef>
                <a:spcPts val="0"/>
              </a:spcBef>
              <a:spcAft>
                <a:spcPts val="0"/>
              </a:spcAft>
              <a:buSzPts val="1100"/>
              <a:buChar char="■"/>
              <a:defRPr/>
            </a:lvl6pPr>
            <a:lvl7pPr marL="3200400" lvl="6" indent="-292100">
              <a:spcBef>
                <a:spcPts val="0"/>
              </a:spcBef>
              <a:spcAft>
                <a:spcPts val="0"/>
              </a:spcAft>
              <a:buSzPts val="1000"/>
              <a:buChar char="●"/>
              <a:defRPr/>
            </a:lvl7pPr>
            <a:lvl8pPr marL="3657600" lvl="7" indent="-285750">
              <a:spcBef>
                <a:spcPts val="0"/>
              </a:spcBef>
              <a:spcAft>
                <a:spcPts val="0"/>
              </a:spcAft>
              <a:buSzPts val="900"/>
              <a:buChar char="○"/>
              <a:defRPr/>
            </a:lvl8pPr>
            <a:lvl9pPr marL="4114800" lvl="8" indent="-279400">
              <a:spcBef>
                <a:spcPts val="0"/>
              </a:spcBef>
              <a:spcAft>
                <a:spcPts val="0"/>
              </a:spcAft>
              <a:buSzPts val="800"/>
              <a:buChar char="■"/>
              <a:defRPr/>
            </a:lvl9pPr>
          </a:lstStyle>
          <a:p>
            <a:endParaRPr/>
          </a:p>
        </p:txBody>
      </p:sp>
      <p:sp>
        <p:nvSpPr>
          <p:cNvPr id="514" name="Google Shape;514;p72"/>
          <p:cNvSpPr txBox="1">
            <a:spLocks noGrp="1"/>
          </p:cNvSpPr>
          <p:nvPr>
            <p:ph type="body" idx="3"/>
          </p:nvPr>
        </p:nvSpPr>
        <p:spPr>
          <a:xfrm>
            <a:off x="366750" y="3648575"/>
            <a:ext cx="3838500" cy="11385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23850">
              <a:spcBef>
                <a:spcPts val="0"/>
              </a:spcBef>
              <a:spcAft>
                <a:spcPts val="0"/>
              </a:spcAft>
              <a:buSzPts val="1500"/>
              <a:buChar char="○"/>
              <a:defRPr/>
            </a:lvl2pPr>
            <a:lvl3pPr marL="1371600" lvl="2" indent="-317500">
              <a:spcBef>
                <a:spcPts val="0"/>
              </a:spcBef>
              <a:spcAft>
                <a:spcPts val="0"/>
              </a:spcAft>
              <a:buSzPts val="1400"/>
              <a:buChar char="■"/>
              <a:defRPr/>
            </a:lvl3pPr>
            <a:lvl4pPr marL="1828800" lvl="3" indent="-311150">
              <a:spcBef>
                <a:spcPts val="0"/>
              </a:spcBef>
              <a:spcAft>
                <a:spcPts val="0"/>
              </a:spcAft>
              <a:buSzPts val="1300"/>
              <a:buChar char="●"/>
              <a:defRPr/>
            </a:lvl4pPr>
            <a:lvl5pPr marL="2286000" lvl="4" indent="-304800">
              <a:spcBef>
                <a:spcPts val="0"/>
              </a:spcBef>
              <a:spcAft>
                <a:spcPts val="0"/>
              </a:spcAft>
              <a:buSzPts val="1200"/>
              <a:buChar char="○"/>
              <a:defRPr/>
            </a:lvl5pPr>
            <a:lvl6pPr marL="2743200" lvl="5" indent="-298450">
              <a:spcBef>
                <a:spcPts val="0"/>
              </a:spcBef>
              <a:spcAft>
                <a:spcPts val="0"/>
              </a:spcAft>
              <a:buSzPts val="1100"/>
              <a:buChar char="■"/>
              <a:defRPr/>
            </a:lvl6pPr>
            <a:lvl7pPr marL="3200400" lvl="6" indent="-292100">
              <a:spcBef>
                <a:spcPts val="0"/>
              </a:spcBef>
              <a:spcAft>
                <a:spcPts val="0"/>
              </a:spcAft>
              <a:buSzPts val="1000"/>
              <a:buChar char="●"/>
              <a:defRPr/>
            </a:lvl7pPr>
            <a:lvl8pPr marL="3657600" lvl="7" indent="-285750">
              <a:spcBef>
                <a:spcPts val="0"/>
              </a:spcBef>
              <a:spcAft>
                <a:spcPts val="0"/>
              </a:spcAft>
              <a:buSzPts val="900"/>
              <a:buChar char="○"/>
              <a:defRPr/>
            </a:lvl8pPr>
            <a:lvl9pPr marL="4114800" lvl="8" indent="-279400">
              <a:spcBef>
                <a:spcPts val="0"/>
              </a:spcBef>
              <a:spcAft>
                <a:spcPts val="0"/>
              </a:spcAft>
              <a:buSzPts val="800"/>
              <a:buChar char="■"/>
              <a:defRPr/>
            </a:lvl9pPr>
          </a:lstStyle>
          <a:p>
            <a:endParaRPr/>
          </a:p>
        </p:txBody>
      </p:sp>
      <p:sp>
        <p:nvSpPr>
          <p:cNvPr id="515" name="Google Shape;515;p72"/>
          <p:cNvSpPr txBox="1">
            <a:spLocks noGrp="1"/>
          </p:cNvSpPr>
          <p:nvPr>
            <p:ph type="body" idx="4"/>
          </p:nvPr>
        </p:nvSpPr>
        <p:spPr>
          <a:xfrm>
            <a:off x="4938750" y="3648575"/>
            <a:ext cx="3838500" cy="11385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23850">
              <a:spcBef>
                <a:spcPts val="0"/>
              </a:spcBef>
              <a:spcAft>
                <a:spcPts val="0"/>
              </a:spcAft>
              <a:buSzPts val="1500"/>
              <a:buChar char="○"/>
              <a:defRPr/>
            </a:lvl2pPr>
            <a:lvl3pPr marL="1371600" lvl="2" indent="-317500">
              <a:spcBef>
                <a:spcPts val="0"/>
              </a:spcBef>
              <a:spcAft>
                <a:spcPts val="0"/>
              </a:spcAft>
              <a:buSzPts val="1400"/>
              <a:buChar char="■"/>
              <a:defRPr/>
            </a:lvl3pPr>
            <a:lvl4pPr marL="1828800" lvl="3" indent="-311150">
              <a:spcBef>
                <a:spcPts val="0"/>
              </a:spcBef>
              <a:spcAft>
                <a:spcPts val="0"/>
              </a:spcAft>
              <a:buSzPts val="1300"/>
              <a:buChar char="●"/>
              <a:defRPr/>
            </a:lvl4pPr>
            <a:lvl5pPr marL="2286000" lvl="4" indent="-304800">
              <a:spcBef>
                <a:spcPts val="0"/>
              </a:spcBef>
              <a:spcAft>
                <a:spcPts val="0"/>
              </a:spcAft>
              <a:buSzPts val="1200"/>
              <a:buChar char="○"/>
              <a:defRPr/>
            </a:lvl5pPr>
            <a:lvl6pPr marL="2743200" lvl="5" indent="-298450">
              <a:spcBef>
                <a:spcPts val="0"/>
              </a:spcBef>
              <a:spcAft>
                <a:spcPts val="0"/>
              </a:spcAft>
              <a:buSzPts val="1100"/>
              <a:buChar char="■"/>
              <a:defRPr/>
            </a:lvl6pPr>
            <a:lvl7pPr marL="3200400" lvl="6" indent="-292100">
              <a:spcBef>
                <a:spcPts val="0"/>
              </a:spcBef>
              <a:spcAft>
                <a:spcPts val="0"/>
              </a:spcAft>
              <a:buSzPts val="1000"/>
              <a:buChar char="●"/>
              <a:defRPr/>
            </a:lvl7pPr>
            <a:lvl8pPr marL="3657600" lvl="7" indent="-285750">
              <a:spcBef>
                <a:spcPts val="0"/>
              </a:spcBef>
              <a:spcAft>
                <a:spcPts val="0"/>
              </a:spcAft>
              <a:buSzPts val="900"/>
              <a:buChar char="○"/>
              <a:defRPr/>
            </a:lvl8pPr>
            <a:lvl9pPr marL="4114800" lvl="8" indent="-279400">
              <a:spcBef>
                <a:spcPts val="0"/>
              </a:spcBef>
              <a:spcAft>
                <a:spcPts val="0"/>
              </a:spcAft>
              <a:buSzPts val="800"/>
              <a:buChar char="■"/>
              <a:defRPr/>
            </a:lvl9pPr>
          </a:lstStyle>
          <a:p>
            <a:endParaRPr/>
          </a:p>
        </p:txBody>
      </p:sp>
      <p:sp>
        <p:nvSpPr>
          <p:cNvPr id="516" name="Google Shape;516;p72"/>
          <p:cNvSpPr txBox="1">
            <a:spLocks noGrp="1"/>
          </p:cNvSpPr>
          <p:nvPr>
            <p:ph type="title"/>
          </p:nvPr>
        </p:nvSpPr>
        <p:spPr>
          <a:xfrm>
            <a:off x="366750" y="450025"/>
            <a:ext cx="8184600" cy="758100"/>
          </a:xfrm>
          <a:prstGeom prst="rect">
            <a:avLst/>
          </a:prstGeom>
        </p:spPr>
        <p:txBody>
          <a:bodyPr spcFirstLastPara="1" wrap="square" lIns="91425" tIns="91425" rIns="91425" bIns="91425" anchor="ctr" anchorCtr="0">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517" name="Google Shape;517;p72"/>
          <p:cNvSpPr txBox="1">
            <a:spLocks noGrp="1"/>
          </p:cNvSpPr>
          <p:nvPr>
            <p:ph type="subTitle" idx="5"/>
          </p:nvPr>
        </p:nvSpPr>
        <p:spPr>
          <a:xfrm>
            <a:off x="366763" y="1277907"/>
            <a:ext cx="3838500" cy="4812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518" name="Google Shape;518;p72"/>
          <p:cNvSpPr txBox="1">
            <a:spLocks noGrp="1"/>
          </p:cNvSpPr>
          <p:nvPr>
            <p:ph type="subTitle" idx="6"/>
          </p:nvPr>
        </p:nvSpPr>
        <p:spPr>
          <a:xfrm>
            <a:off x="4938738" y="1277907"/>
            <a:ext cx="3838500" cy="4812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519" name="Google Shape;519;p72"/>
          <p:cNvSpPr txBox="1">
            <a:spLocks noGrp="1"/>
          </p:cNvSpPr>
          <p:nvPr>
            <p:ph type="subTitle" idx="7"/>
          </p:nvPr>
        </p:nvSpPr>
        <p:spPr>
          <a:xfrm>
            <a:off x="4938761" y="3167363"/>
            <a:ext cx="3838500" cy="4812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520" name="Google Shape;520;p72"/>
          <p:cNvSpPr txBox="1">
            <a:spLocks noGrp="1"/>
          </p:cNvSpPr>
          <p:nvPr>
            <p:ph type="subTitle" idx="8"/>
          </p:nvPr>
        </p:nvSpPr>
        <p:spPr>
          <a:xfrm>
            <a:off x="366750" y="3167363"/>
            <a:ext cx="3838500" cy="4812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and image">
  <p:cSld name="TITLE_ONLY_1_1">
    <p:spTree>
      <p:nvGrpSpPr>
        <p:cNvPr id="1" name="Shape 521"/>
        <p:cNvGrpSpPr/>
        <p:nvPr/>
      </p:nvGrpSpPr>
      <p:grpSpPr>
        <a:xfrm>
          <a:off x="0" y="0"/>
          <a:ext cx="0" cy="0"/>
          <a:chOff x="0" y="0"/>
          <a:chExt cx="0" cy="0"/>
        </a:xfrm>
      </p:grpSpPr>
      <p:sp>
        <p:nvSpPr>
          <p:cNvPr id="522" name="Google Shape;522;p7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4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23" name="Google Shape;523;p7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524" name="Google Shape;524;p73"/>
          <p:cNvSpPr>
            <a:spLocks noGrp="1"/>
          </p:cNvSpPr>
          <p:nvPr>
            <p:ph type="pic" idx="2"/>
          </p:nvPr>
        </p:nvSpPr>
        <p:spPr>
          <a:xfrm>
            <a:off x="311700" y="1170425"/>
            <a:ext cx="8520600" cy="3492900"/>
          </a:xfrm>
          <a:prstGeom prst="rect">
            <a:avLst/>
          </a:prstGeom>
          <a:noFill/>
          <a:ln>
            <a:noFill/>
          </a:ln>
        </p:spPr>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wo storyboards">
  <p:cSld name="CUSTOM_4_1">
    <p:spTree>
      <p:nvGrpSpPr>
        <p:cNvPr id="1" name="Shape 525"/>
        <p:cNvGrpSpPr/>
        <p:nvPr/>
      </p:nvGrpSpPr>
      <p:grpSpPr>
        <a:xfrm>
          <a:off x="0" y="0"/>
          <a:ext cx="0" cy="0"/>
          <a:chOff x="0" y="0"/>
          <a:chExt cx="0" cy="0"/>
        </a:xfrm>
      </p:grpSpPr>
      <p:sp>
        <p:nvSpPr>
          <p:cNvPr id="526" name="Google Shape;526;p74"/>
          <p:cNvSpPr txBox="1">
            <a:spLocks noGrp="1"/>
          </p:cNvSpPr>
          <p:nvPr>
            <p:ph type="body" idx="1"/>
          </p:nvPr>
        </p:nvSpPr>
        <p:spPr>
          <a:xfrm>
            <a:off x="311700" y="4080225"/>
            <a:ext cx="4027500" cy="9261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527" name="Google Shape;527;p74"/>
          <p:cNvSpPr>
            <a:spLocks noGrp="1"/>
          </p:cNvSpPr>
          <p:nvPr>
            <p:ph type="pic" idx="2"/>
          </p:nvPr>
        </p:nvSpPr>
        <p:spPr>
          <a:xfrm>
            <a:off x="4804825" y="1133300"/>
            <a:ext cx="4027500" cy="2392800"/>
          </a:xfrm>
          <a:prstGeom prst="rect">
            <a:avLst/>
          </a:prstGeom>
          <a:noFill/>
          <a:ln>
            <a:noFill/>
          </a:ln>
        </p:spPr>
      </p:sp>
      <p:sp>
        <p:nvSpPr>
          <p:cNvPr id="528" name="Google Shape;528;p74"/>
          <p:cNvSpPr>
            <a:spLocks noGrp="1"/>
          </p:cNvSpPr>
          <p:nvPr>
            <p:ph type="pic" idx="3"/>
          </p:nvPr>
        </p:nvSpPr>
        <p:spPr>
          <a:xfrm>
            <a:off x="311725" y="1133300"/>
            <a:ext cx="4027500" cy="2392800"/>
          </a:xfrm>
          <a:prstGeom prst="rect">
            <a:avLst/>
          </a:prstGeom>
          <a:noFill/>
          <a:ln>
            <a:noFill/>
          </a:ln>
        </p:spPr>
      </p:sp>
      <p:sp>
        <p:nvSpPr>
          <p:cNvPr id="529" name="Google Shape;529;p74"/>
          <p:cNvSpPr txBox="1">
            <a:spLocks noGrp="1"/>
          </p:cNvSpPr>
          <p:nvPr>
            <p:ph type="body" idx="4"/>
          </p:nvPr>
        </p:nvSpPr>
        <p:spPr>
          <a:xfrm>
            <a:off x="4804825" y="4080225"/>
            <a:ext cx="4027500" cy="9261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530" name="Google Shape;530;p7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531" name="Google Shape;531;p7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4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32" name="Google Shape;532;p74"/>
          <p:cNvSpPr txBox="1">
            <a:spLocks noGrp="1"/>
          </p:cNvSpPr>
          <p:nvPr>
            <p:ph type="subTitle" idx="5"/>
          </p:nvPr>
        </p:nvSpPr>
        <p:spPr>
          <a:xfrm>
            <a:off x="311725" y="3582900"/>
            <a:ext cx="4027500" cy="481200"/>
          </a:xfrm>
          <a:prstGeom prst="rect">
            <a:avLst/>
          </a:prstGeom>
        </p:spPr>
        <p:txBody>
          <a:bodyPr spcFirstLastPara="1" wrap="square" lIns="91425" tIns="91425" rIns="91425" bIns="91425" anchor="t" anchorCtr="0">
            <a:noAutofit/>
          </a:bodyPr>
          <a:lstStyle>
            <a:lvl1pPr lvl="0">
              <a:spcBef>
                <a:spcPts val="0"/>
              </a:spcBef>
              <a:spcAft>
                <a:spcPts val="0"/>
              </a:spcAft>
              <a:buSzPts val="2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
        <p:nvSpPr>
          <p:cNvPr id="533" name="Google Shape;533;p74"/>
          <p:cNvSpPr txBox="1">
            <a:spLocks noGrp="1"/>
          </p:cNvSpPr>
          <p:nvPr>
            <p:ph type="subTitle" idx="6"/>
          </p:nvPr>
        </p:nvSpPr>
        <p:spPr>
          <a:xfrm>
            <a:off x="4804825" y="3582900"/>
            <a:ext cx="4027500" cy="481200"/>
          </a:xfrm>
          <a:prstGeom prst="rect">
            <a:avLst/>
          </a:prstGeom>
        </p:spPr>
        <p:txBody>
          <a:bodyPr spcFirstLastPara="1" wrap="square" lIns="91425" tIns="91425" rIns="91425" bIns="91425" anchor="t" anchorCtr="0">
            <a:noAutofit/>
          </a:bodyPr>
          <a:lstStyle>
            <a:lvl1pPr lvl="0">
              <a:spcBef>
                <a:spcPts val="0"/>
              </a:spcBef>
              <a:spcAft>
                <a:spcPts val="0"/>
              </a:spcAft>
              <a:buSzPts val="2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hree storyboards">
  <p:cSld name="CUSTOM_4_1_1">
    <p:spTree>
      <p:nvGrpSpPr>
        <p:cNvPr id="1" name="Shape 534"/>
        <p:cNvGrpSpPr/>
        <p:nvPr/>
      </p:nvGrpSpPr>
      <p:grpSpPr>
        <a:xfrm>
          <a:off x="0" y="0"/>
          <a:ext cx="0" cy="0"/>
          <a:chOff x="0" y="0"/>
          <a:chExt cx="0" cy="0"/>
        </a:xfrm>
      </p:grpSpPr>
      <p:sp>
        <p:nvSpPr>
          <p:cNvPr id="535" name="Google Shape;535;p75"/>
          <p:cNvSpPr txBox="1">
            <a:spLocks noGrp="1"/>
          </p:cNvSpPr>
          <p:nvPr>
            <p:ph type="body" idx="1"/>
          </p:nvPr>
        </p:nvSpPr>
        <p:spPr>
          <a:xfrm>
            <a:off x="311700" y="3911700"/>
            <a:ext cx="2627100" cy="10185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536" name="Google Shape;536;p75"/>
          <p:cNvSpPr>
            <a:spLocks noGrp="1"/>
          </p:cNvSpPr>
          <p:nvPr>
            <p:ph type="pic" idx="2"/>
          </p:nvPr>
        </p:nvSpPr>
        <p:spPr>
          <a:xfrm>
            <a:off x="6205225" y="1128325"/>
            <a:ext cx="2627100" cy="2273100"/>
          </a:xfrm>
          <a:prstGeom prst="rect">
            <a:avLst/>
          </a:prstGeom>
          <a:noFill/>
          <a:ln>
            <a:noFill/>
          </a:ln>
        </p:spPr>
      </p:sp>
      <p:sp>
        <p:nvSpPr>
          <p:cNvPr id="537" name="Google Shape;537;p75"/>
          <p:cNvSpPr>
            <a:spLocks noGrp="1"/>
          </p:cNvSpPr>
          <p:nvPr>
            <p:ph type="pic" idx="3"/>
          </p:nvPr>
        </p:nvSpPr>
        <p:spPr>
          <a:xfrm>
            <a:off x="311725" y="1128325"/>
            <a:ext cx="2627100" cy="2273100"/>
          </a:xfrm>
          <a:prstGeom prst="rect">
            <a:avLst/>
          </a:prstGeom>
          <a:noFill/>
          <a:ln>
            <a:noFill/>
          </a:ln>
        </p:spPr>
      </p:sp>
      <p:sp>
        <p:nvSpPr>
          <p:cNvPr id="538" name="Google Shape;538;p75"/>
          <p:cNvSpPr txBox="1">
            <a:spLocks noGrp="1"/>
          </p:cNvSpPr>
          <p:nvPr>
            <p:ph type="body" idx="4"/>
          </p:nvPr>
        </p:nvSpPr>
        <p:spPr>
          <a:xfrm>
            <a:off x="6205225" y="3911700"/>
            <a:ext cx="2627100" cy="10185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539" name="Google Shape;539;p75"/>
          <p:cNvSpPr>
            <a:spLocks noGrp="1"/>
          </p:cNvSpPr>
          <p:nvPr>
            <p:ph type="pic" idx="5"/>
          </p:nvPr>
        </p:nvSpPr>
        <p:spPr>
          <a:xfrm>
            <a:off x="3255250" y="1128325"/>
            <a:ext cx="2627100" cy="2273100"/>
          </a:xfrm>
          <a:prstGeom prst="rect">
            <a:avLst/>
          </a:prstGeom>
          <a:noFill/>
          <a:ln>
            <a:noFill/>
          </a:ln>
        </p:spPr>
      </p:sp>
      <p:sp>
        <p:nvSpPr>
          <p:cNvPr id="540" name="Google Shape;540;p75"/>
          <p:cNvSpPr txBox="1">
            <a:spLocks noGrp="1"/>
          </p:cNvSpPr>
          <p:nvPr>
            <p:ph type="body" idx="6"/>
          </p:nvPr>
        </p:nvSpPr>
        <p:spPr>
          <a:xfrm>
            <a:off x="3255250" y="3911700"/>
            <a:ext cx="2627100" cy="10185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541" name="Google Shape;541;p7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542" name="Google Shape;542;p7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4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43" name="Google Shape;543;p75"/>
          <p:cNvSpPr txBox="1">
            <a:spLocks noGrp="1"/>
          </p:cNvSpPr>
          <p:nvPr>
            <p:ph type="subTitle" idx="7"/>
          </p:nvPr>
        </p:nvSpPr>
        <p:spPr>
          <a:xfrm>
            <a:off x="311725" y="3430500"/>
            <a:ext cx="2627100" cy="481200"/>
          </a:xfrm>
          <a:prstGeom prst="rect">
            <a:avLst/>
          </a:prstGeom>
        </p:spPr>
        <p:txBody>
          <a:bodyPr spcFirstLastPara="1" wrap="square" lIns="91425" tIns="91425" rIns="91425" bIns="91425" anchor="t" anchorCtr="0">
            <a:noAutofit/>
          </a:bodyPr>
          <a:lstStyle>
            <a:lvl1pPr lvl="0">
              <a:spcBef>
                <a:spcPts val="0"/>
              </a:spcBef>
              <a:spcAft>
                <a:spcPts val="0"/>
              </a:spcAft>
              <a:buSzPts val="2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
        <p:nvSpPr>
          <p:cNvPr id="544" name="Google Shape;544;p75"/>
          <p:cNvSpPr txBox="1">
            <a:spLocks noGrp="1"/>
          </p:cNvSpPr>
          <p:nvPr>
            <p:ph type="subTitle" idx="8"/>
          </p:nvPr>
        </p:nvSpPr>
        <p:spPr>
          <a:xfrm>
            <a:off x="6205225" y="3430500"/>
            <a:ext cx="2627100" cy="481200"/>
          </a:xfrm>
          <a:prstGeom prst="rect">
            <a:avLst/>
          </a:prstGeom>
        </p:spPr>
        <p:txBody>
          <a:bodyPr spcFirstLastPara="1" wrap="square" lIns="91425" tIns="91425" rIns="91425" bIns="91425" anchor="t" anchorCtr="0">
            <a:noAutofit/>
          </a:bodyPr>
          <a:lstStyle>
            <a:lvl1pPr lvl="0">
              <a:spcBef>
                <a:spcPts val="0"/>
              </a:spcBef>
              <a:spcAft>
                <a:spcPts val="0"/>
              </a:spcAft>
              <a:buSzPts val="2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
        <p:nvSpPr>
          <p:cNvPr id="545" name="Google Shape;545;p75"/>
          <p:cNvSpPr txBox="1">
            <a:spLocks noGrp="1"/>
          </p:cNvSpPr>
          <p:nvPr>
            <p:ph type="subTitle" idx="9"/>
          </p:nvPr>
        </p:nvSpPr>
        <p:spPr>
          <a:xfrm>
            <a:off x="3255250" y="3430500"/>
            <a:ext cx="2627100" cy="481200"/>
          </a:xfrm>
          <a:prstGeom prst="rect">
            <a:avLst/>
          </a:prstGeom>
        </p:spPr>
        <p:txBody>
          <a:bodyPr spcFirstLastPara="1" wrap="square" lIns="91425" tIns="91425" rIns="91425" bIns="91425" anchor="t" anchorCtr="0">
            <a:noAutofit/>
          </a:bodyPr>
          <a:lstStyle>
            <a:lvl1pPr lvl="0">
              <a:spcBef>
                <a:spcPts val="0"/>
              </a:spcBef>
              <a:spcAft>
                <a:spcPts val="0"/>
              </a:spcAft>
              <a:buSzPts val="2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Image only">
  <p:cSld name="CUSTOM_5_1">
    <p:spTree>
      <p:nvGrpSpPr>
        <p:cNvPr id="1" name="Shape 546"/>
        <p:cNvGrpSpPr/>
        <p:nvPr/>
      </p:nvGrpSpPr>
      <p:grpSpPr>
        <a:xfrm>
          <a:off x="0" y="0"/>
          <a:ext cx="0" cy="0"/>
          <a:chOff x="0" y="0"/>
          <a:chExt cx="0" cy="0"/>
        </a:xfrm>
      </p:grpSpPr>
      <p:sp>
        <p:nvSpPr>
          <p:cNvPr id="547" name="Google Shape;547;p76"/>
          <p:cNvSpPr>
            <a:spLocks noGrp="1"/>
          </p:cNvSpPr>
          <p:nvPr>
            <p:ph type="pic" idx="2"/>
          </p:nvPr>
        </p:nvSpPr>
        <p:spPr>
          <a:xfrm>
            <a:off x="311700" y="445025"/>
            <a:ext cx="8520600" cy="4218300"/>
          </a:xfrm>
          <a:prstGeom prst="rect">
            <a:avLst/>
          </a:prstGeom>
          <a:noFill/>
          <a:ln>
            <a:noFill/>
          </a:ln>
        </p:spPr>
      </p:sp>
      <p:sp>
        <p:nvSpPr>
          <p:cNvPr id="548" name="Google Shape;548;p7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Image grid">
  <p:cSld name="CUSTOM_6_1">
    <p:spTree>
      <p:nvGrpSpPr>
        <p:cNvPr id="1" name="Shape 549"/>
        <p:cNvGrpSpPr/>
        <p:nvPr/>
      </p:nvGrpSpPr>
      <p:grpSpPr>
        <a:xfrm>
          <a:off x="0" y="0"/>
          <a:ext cx="0" cy="0"/>
          <a:chOff x="0" y="0"/>
          <a:chExt cx="0" cy="0"/>
        </a:xfrm>
      </p:grpSpPr>
      <p:sp>
        <p:nvSpPr>
          <p:cNvPr id="550" name="Google Shape;550;p7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551" name="Google Shape;551;p77"/>
          <p:cNvSpPr>
            <a:spLocks noGrp="1"/>
          </p:cNvSpPr>
          <p:nvPr>
            <p:ph type="pic" idx="2"/>
          </p:nvPr>
        </p:nvSpPr>
        <p:spPr>
          <a:xfrm>
            <a:off x="3389600" y="118913"/>
            <a:ext cx="1643700" cy="1535100"/>
          </a:xfrm>
          <a:prstGeom prst="rect">
            <a:avLst/>
          </a:prstGeom>
          <a:noFill/>
          <a:ln>
            <a:noFill/>
          </a:ln>
        </p:spPr>
      </p:sp>
      <p:sp>
        <p:nvSpPr>
          <p:cNvPr id="552" name="Google Shape;552;p77"/>
          <p:cNvSpPr>
            <a:spLocks noGrp="1"/>
          </p:cNvSpPr>
          <p:nvPr>
            <p:ph type="pic" idx="3"/>
          </p:nvPr>
        </p:nvSpPr>
        <p:spPr>
          <a:xfrm>
            <a:off x="5195935" y="118913"/>
            <a:ext cx="1643700" cy="1535100"/>
          </a:xfrm>
          <a:prstGeom prst="rect">
            <a:avLst/>
          </a:prstGeom>
          <a:noFill/>
          <a:ln>
            <a:noFill/>
          </a:ln>
        </p:spPr>
      </p:sp>
      <p:sp>
        <p:nvSpPr>
          <p:cNvPr id="553" name="Google Shape;553;p77"/>
          <p:cNvSpPr>
            <a:spLocks noGrp="1"/>
          </p:cNvSpPr>
          <p:nvPr>
            <p:ph type="pic" idx="4"/>
          </p:nvPr>
        </p:nvSpPr>
        <p:spPr>
          <a:xfrm>
            <a:off x="7002270" y="118913"/>
            <a:ext cx="1643700" cy="1535100"/>
          </a:xfrm>
          <a:prstGeom prst="rect">
            <a:avLst/>
          </a:prstGeom>
          <a:noFill/>
          <a:ln>
            <a:noFill/>
          </a:ln>
        </p:spPr>
      </p:sp>
      <p:sp>
        <p:nvSpPr>
          <p:cNvPr id="554" name="Google Shape;554;p77"/>
          <p:cNvSpPr>
            <a:spLocks noGrp="1"/>
          </p:cNvSpPr>
          <p:nvPr>
            <p:ph type="pic" idx="5"/>
          </p:nvPr>
        </p:nvSpPr>
        <p:spPr>
          <a:xfrm>
            <a:off x="3389588" y="1804212"/>
            <a:ext cx="1643700" cy="1535100"/>
          </a:xfrm>
          <a:prstGeom prst="rect">
            <a:avLst/>
          </a:prstGeom>
          <a:noFill/>
          <a:ln>
            <a:noFill/>
          </a:ln>
        </p:spPr>
      </p:sp>
      <p:sp>
        <p:nvSpPr>
          <p:cNvPr id="555" name="Google Shape;555;p77"/>
          <p:cNvSpPr>
            <a:spLocks noGrp="1"/>
          </p:cNvSpPr>
          <p:nvPr>
            <p:ph type="pic" idx="6"/>
          </p:nvPr>
        </p:nvSpPr>
        <p:spPr>
          <a:xfrm>
            <a:off x="5195922" y="1804212"/>
            <a:ext cx="1643700" cy="1535100"/>
          </a:xfrm>
          <a:prstGeom prst="rect">
            <a:avLst/>
          </a:prstGeom>
          <a:noFill/>
          <a:ln>
            <a:noFill/>
          </a:ln>
        </p:spPr>
      </p:sp>
      <p:sp>
        <p:nvSpPr>
          <p:cNvPr id="556" name="Google Shape;556;p77"/>
          <p:cNvSpPr>
            <a:spLocks noGrp="1"/>
          </p:cNvSpPr>
          <p:nvPr>
            <p:ph type="pic" idx="7"/>
          </p:nvPr>
        </p:nvSpPr>
        <p:spPr>
          <a:xfrm>
            <a:off x="7002257" y="1804212"/>
            <a:ext cx="1643700" cy="1535100"/>
          </a:xfrm>
          <a:prstGeom prst="rect">
            <a:avLst/>
          </a:prstGeom>
          <a:noFill/>
          <a:ln>
            <a:noFill/>
          </a:ln>
        </p:spPr>
      </p:sp>
      <p:sp>
        <p:nvSpPr>
          <p:cNvPr id="557" name="Google Shape;557;p77"/>
          <p:cNvSpPr txBox="1">
            <a:spLocks noGrp="1"/>
          </p:cNvSpPr>
          <p:nvPr>
            <p:ph type="title"/>
          </p:nvPr>
        </p:nvSpPr>
        <p:spPr>
          <a:xfrm>
            <a:off x="351550" y="445025"/>
            <a:ext cx="2596800" cy="1706400"/>
          </a:xfrm>
          <a:prstGeom prst="rect">
            <a:avLst/>
          </a:prstGeom>
        </p:spPr>
        <p:txBody>
          <a:bodyPr spcFirstLastPara="1" wrap="square" lIns="91425" tIns="91425" rIns="91425" bIns="91425" anchor="t" anchorCtr="0">
            <a:spAutoFit/>
          </a:bodyPr>
          <a:lstStyle>
            <a:lvl1pPr lvl="0">
              <a:spcBef>
                <a:spcPts val="0"/>
              </a:spcBef>
              <a:spcAft>
                <a:spcPts val="0"/>
              </a:spcAft>
              <a:buSzPts val="4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58" name="Google Shape;558;p77"/>
          <p:cNvSpPr>
            <a:spLocks noGrp="1"/>
          </p:cNvSpPr>
          <p:nvPr>
            <p:ph type="pic" idx="8"/>
          </p:nvPr>
        </p:nvSpPr>
        <p:spPr>
          <a:xfrm>
            <a:off x="3389588" y="3489487"/>
            <a:ext cx="1643700" cy="1535100"/>
          </a:xfrm>
          <a:prstGeom prst="rect">
            <a:avLst/>
          </a:prstGeom>
          <a:noFill/>
          <a:ln>
            <a:noFill/>
          </a:ln>
        </p:spPr>
      </p:sp>
      <p:sp>
        <p:nvSpPr>
          <p:cNvPr id="559" name="Google Shape;559;p77"/>
          <p:cNvSpPr>
            <a:spLocks noGrp="1"/>
          </p:cNvSpPr>
          <p:nvPr>
            <p:ph type="pic" idx="9"/>
          </p:nvPr>
        </p:nvSpPr>
        <p:spPr>
          <a:xfrm>
            <a:off x="5195922" y="3489487"/>
            <a:ext cx="1643700" cy="1535100"/>
          </a:xfrm>
          <a:prstGeom prst="rect">
            <a:avLst/>
          </a:prstGeom>
          <a:noFill/>
          <a:ln>
            <a:noFill/>
          </a:ln>
        </p:spPr>
      </p:sp>
      <p:sp>
        <p:nvSpPr>
          <p:cNvPr id="560" name="Google Shape;560;p77"/>
          <p:cNvSpPr>
            <a:spLocks noGrp="1"/>
          </p:cNvSpPr>
          <p:nvPr>
            <p:ph type="pic" idx="13"/>
          </p:nvPr>
        </p:nvSpPr>
        <p:spPr>
          <a:xfrm>
            <a:off x="7002257" y="3489487"/>
            <a:ext cx="1643700" cy="1535100"/>
          </a:xfrm>
          <a:prstGeom prst="rect">
            <a:avLst/>
          </a:prstGeom>
          <a:noFill/>
          <a:ln>
            <a:noFill/>
          </a:ln>
        </p:spPr>
      </p:sp>
    </p:spTree>
  </p:cSld>
  <p:clrMapOvr>
    <a:masterClrMapping/>
  </p:clrMapOvr>
  <p:extLst>
    <p:ext uri="{DCECCB84-F9BA-43D5-87BE-67443E8EF086}">
      <p15:sldGuideLst xmlns:p15="http://schemas.microsoft.com/office/powerpoint/2012/main">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290"/>
        <p:cNvGrpSpPr/>
        <p:nvPr/>
      </p:nvGrpSpPr>
      <p:grpSpPr>
        <a:xfrm>
          <a:off x="0" y="0"/>
          <a:ext cx="0" cy="0"/>
          <a:chOff x="0" y="0"/>
          <a:chExt cx="0" cy="0"/>
        </a:xfrm>
      </p:grpSpPr>
      <p:sp>
        <p:nvSpPr>
          <p:cNvPr id="291" name="Google Shape;291;p40"/>
          <p:cNvSpPr txBox="1">
            <a:spLocks noGrp="1"/>
          </p:cNvSpPr>
          <p:nvPr>
            <p:ph type="sldNum" idx="12"/>
          </p:nvPr>
        </p:nvSpPr>
        <p:spPr>
          <a:xfrm>
            <a:off x="8668550" y="4845125"/>
            <a:ext cx="309600" cy="1578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lvl1pPr lvl="0" algn="r" rtl="0">
              <a:buNone/>
              <a:defRPr sz="800">
                <a:solidFill>
                  <a:schemeClr val="dk1"/>
                </a:solidFill>
                <a:latin typeface="Roboto Serif"/>
                <a:ea typeface="Roboto Serif"/>
                <a:cs typeface="Roboto Serif"/>
                <a:sym typeface="Roboto Serif"/>
              </a:defRPr>
            </a:lvl1pPr>
            <a:lvl2pPr lvl="1" algn="r" rtl="0">
              <a:buNone/>
              <a:defRPr sz="800">
                <a:solidFill>
                  <a:schemeClr val="dk1"/>
                </a:solidFill>
                <a:latin typeface="Roboto Serif"/>
                <a:ea typeface="Roboto Serif"/>
                <a:cs typeface="Roboto Serif"/>
                <a:sym typeface="Roboto Serif"/>
              </a:defRPr>
            </a:lvl2pPr>
            <a:lvl3pPr lvl="2" algn="r" rtl="0">
              <a:buNone/>
              <a:defRPr sz="800">
                <a:solidFill>
                  <a:schemeClr val="dk1"/>
                </a:solidFill>
                <a:latin typeface="Roboto Serif"/>
                <a:ea typeface="Roboto Serif"/>
                <a:cs typeface="Roboto Serif"/>
                <a:sym typeface="Roboto Serif"/>
              </a:defRPr>
            </a:lvl3pPr>
            <a:lvl4pPr lvl="3" algn="r" rtl="0">
              <a:buNone/>
              <a:defRPr sz="800">
                <a:solidFill>
                  <a:schemeClr val="dk1"/>
                </a:solidFill>
                <a:latin typeface="Roboto Serif"/>
                <a:ea typeface="Roboto Serif"/>
                <a:cs typeface="Roboto Serif"/>
                <a:sym typeface="Roboto Serif"/>
              </a:defRPr>
            </a:lvl4pPr>
            <a:lvl5pPr lvl="4" algn="r" rtl="0">
              <a:buNone/>
              <a:defRPr sz="800">
                <a:solidFill>
                  <a:schemeClr val="dk1"/>
                </a:solidFill>
                <a:latin typeface="Roboto Serif"/>
                <a:ea typeface="Roboto Serif"/>
                <a:cs typeface="Roboto Serif"/>
                <a:sym typeface="Roboto Serif"/>
              </a:defRPr>
            </a:lvl5pPr>
            <a:lvl6pPr lvl="5" algn="r" rtl="0">
              <a:buNone/>
              <a:defRPr sz="800">
                <a:solidFill>
                  <a:schemeClr val="dk1"/>
                </a:solidFill>
                <a:latin typeface="Roboto Serif"/>
                <a:ea typeface="Roboto Serif"/>
                <a:cs typeface="Roboto Serif"/>
                <a:sym typeface="Roboto Serif"/>
              </a:defRPr>
            </a:lvl6pPr>
            <a:lvl7pPr lvl="6" algn="r" rtl="0">
              <a:buNone/>
              <a:defRPr sz="800">
                <a:solidFill>
                  <a:schemeClr val="dk1"/>
                </a:solidFill>
                <a:latin typeface="Roboto Serif"/>
                <a:ea typeface="Roboto Serif"/>
                <a:cs typeface="Roboto Serif"/>
                <a:sym typeface="Roboto Serif"/>
              </a:defRPr>
            </a:lvl7pPr>
            <a:lvl8pPr lvl="7" algn="r" rtl="0">
              <a:buNone/>
              <a:defRPr sz="800">
                <a:solidFill>
                  <a:schemeClr val="dk1"/>
                </a:solidFill>
                <a:latin typeface="Roboto Serif"/>
                <a:ea typeface="Roboto Serif"/>
                <a:cs typeface="Roboto Serif"/>
                <a:sym typeface="Roboto Serif"/>
              </a:defRPr>
            </a:lvl8pPr>
            <a:lvl9pPr lvl="8" algn="r" rtl="0">
              <a:buNone/>
              <a:defRPr sz="800">
                <a:solidFill>
                  <a:schemeClr val="dk1"/>
                </a:solidFill>
                <a:latin typeface="Roboto Serif"/>
                <a:ea typeface="Roboto Serif"/>
                <a:cs typeface="Roboto Serif"/>
                <a:sym typeface="Roboto Serif"/>
              </a:defRPr>
            </a:lvl9pPr>
          </a:lstStyle>
          <a:p>
            <a:pPr marL="0" lvl="0" indent="0" algn="r" rtl="0">
              <a:spcBef>
                <a:spcPts val="0"/>
              </a:spcBef>
              <a:spcAft>
                <a:spcPts val="0"/>
              </a:spcAft>
              <a:buNone/>
            </a:pPr>
            <a:fld id="{00000000-1234-1234-1234-123412341234}" type="slidenum">
              <a:rPr lang="en"/>
              <a:t>‹#›</a:t>
            </a:fld>
            <a:endParaRPr/>
          </a:p>
        </p:txBody>
      </p:sp>
      <p:sp>
        <p:nvSpPr>
          <p:cNvPr id="292" name="Google Shape;292;p40"/>
          <p:cNvSpPr txBox="1">
            <a:spLocks noGrp="1"/>
          </p:cNvSpPr>
          <p:nvPr>
            <p:ph type="body" idx="1"/>
          </p:nvPr>
        </p:nvSpPr>
        <p:spPr>
          <a:xfrm>
            <a:off x="158525" y="2629175"/>
            <a:ext cx="6042000" cy="2299200"/>
          </a:xfrm>
          <a:prstGeom prst="rect">
            <a:avLst/>
          </a:prstGeom>
          <a:noFill/>
          <a:ln>
            <a:noFill/>
          </a:ln>
        </p:spPr>
        <p:txBody>
          <a:bodyPr spcFirstLastPara="1" wrap="square" lIns="91425" tIns="91425" rIns="91425" bIns="91425" anchor="t" anchorCtr="0">
            <a:noAutofit/>
          </a:bodyPr>
          <a:lstStyle>
            <a:lvl1pPr marL="457200" lvl="0" indent="-330200">
              <a:spcBef>
                <a:spcPts val="0"/>
              </a:spcBef>
              <a:spcAft>
                <a:spcPts val="0"/>
              </a:spcAft>
              <a:buClr>
                <a:schemeClr val="dk2"/>
              </a:buClr>
              <a:buSzPts val="1600"/>
              <a:buFont typeface="Roboto Serif"/>
              <a:buChar char="●"/>
              <a:defRPr sz="1600">
                <a:solidFill>
                  <a:schemeClr val="dk2"/>
                </a:solidFill>
                <a:latin typeface="Roboto Serif"/>
                <a:ea typeface="Roboto Serif"/>
                <a:cs typeface="Roboto Serif"/>
                <a:sym typeface="Roboto Serif"/>
              </a:defRPr>
            </a:lvl1pPr>
            <a:lvl2pPr marL="914400" lvl="1" indent="-323850">
              <a:spcBef>
                <a:spcPts val="0"/>
              </a:spcBef>
              <a:spcAft>
                <a:spcPts val="0"/>
              </a:spcAft>
              <a:buClr>
                <a:schemeClr val="dk2"/>
              </a:buClr>
              <a:buSzPts val="1500"/>
              <a:buFont typeface="Roboto Serif"/>
              <a:buChar char="○"/>
              <a:defRPr sz="1500">
                <a:solidFill>
                  <a:schemeClr val="dk2"/>
                </a:solidFill>
                <a:latin typeface="Roboto Serif"/>
                <a:ea typeface="Roboto Serif"/>
                <a:cs typeface="Roboto Serif"/>
                <a:sym typeface="Roboto Serif"/>
              </a:defRPr>
            </a:lvl2pPr>
            <a:lvl3pPr marL="1371600" lvl="2" indent="-317500">
              <a:spcBef>
                <a:spcPts val="0"/>
              </a:spcBef>
              <a:spcAft>
                <a:spcPts val="0"/>
              </a:spcAft>
              <a:buClr>
                <a:schemeClr val="dk2"/>
              </a:buClr>
              <a:buSzPts val="1400"/>
              <a:buFont typeface="Roboto Serif"/>
              <a:buChar char="■"/>
              <a:defRPr>
                <a:solidFill>
                  <a:schemeClr val="dk2"/>
                </a:solidFill>
                <a:latin typeface="Roboto Serif"/>
                <a:ea typeface="Roboto Serif"/>
                <a:cs typeface="Roboto Serif"/>
                <a:sym typeface="Roboto Serif"/>
              </a:defRPr>
            </a:lvl3pPr>
            <a:lvl4pPr marL="1828800" lvl="3" indent="-311150">
              <a:spcBef>
                <a:spcPts val="0"/>
              </a:spcBef>
              <a:spcAft>
                <a:spcPts val="0"/>
              </a:spcAft>
              <a:buClr>
                <a:schemeClr val="dk2"/>
              </a:buClr>
              <a:buSzPts val="1300"/>
              <a:buFont typeface="Roboto Serif"/>
              <a:buChar char="●"/>
              <a:defRPr sz="1300">
                <a:solidFill>
                  <a:schemeClr val="dk2"/>
                </a:solidFill>
                <a:latin typeface="Roboto Serif"/>
                <a:ea typeface="Roboto Serif"/>
                <a:cs typeface="Roboto Serif"/>
                <a:sym typeface="Roboto Serif"/>
              </a:defRPr>
            </a:lvl4pPr>
            <a:lvl5pPr marL="2286000" lvl="4" indent="-304800">
              <a:spcBef>
                <a:spcPts val="0"/>
              </a:spcBef>
              <a:spcAft>
                <a:spcPts val="0"/>
              </a:spcAft>
              <a:buClr>
                <a:schemeClr val="dk2"/>
              </a:buClr>
              <a:buSzPts val="1200"/>
              <a:buFont typeface="Roboto Serif"/>
              <a:buChar char="○"/>
              <a:defRPr sz="1200">
                <a:solidFill>
                  <a:schemeClr val="dk2"/>
                </a:solidFill>
                <a:latin typeface="Roboto Serif"/>
                <a:ea typeface="Roboto Serif"/>
                <a:cs typeface="Roboto Serif"/>
                <a:sym typeface="Roboto Serif"/>
              </a:defRPr>
            </a:lvl5pPr>
            <a:lvl6pPr marL="2743200" lvl="5" indent="-298450">
              <a:spcBef>
                <a:spcPts val="0"/>
              </a:spcBef>
              <a:spcAft>
                <a:spcPts val="0"/>
              </a:spcAft>
              <a:buClr>
                <a:schemeClr val="dk2"/>
              </a:buClr>
              <a:buSzPts val="1100"/>
              <a:buFont typeface="Roboto Serif"/>
              <a:buChar char="■"/>
              <a:defRPr sz="1100">
                <a:solidFill>
                  <a:schemeClr val="dk2"/>
                </a:solidFill>
                <a:latin typeface="Roboto Serif"/>
                <a:ea typeface="Roboto Serif"/>
                <a:cs typeface="Roboto Serif"/>
                <a:sym typeface="Roboto Serif"/>
              </a:defRPr>
            </a:lvl6pPr>
            <a:lvl7pPr marL="3200400" lvl="6" indent="-292100">
              <a:spcBef>
                <a:spcPts val="0"/>
              </a:spcBef>
              <a:spcAft>
                <a:spcPts val="0"/>
              </a:spcAft>
              <a:buClr>
                <a:schemeClr val="dk2"/>
              </a:buClr>
              <a:buSzPts val="1000"/>
              <a:buFont typeface="Roboto Serif"/>
              <a:buChar char="●"/>
              <a:defRPr sz="1000">
                <a:solidFill>
                  <a:schemeClr val="dk2"/>
                </a:solidFill>
                <a:latin typeface="Roboto Serif"/>
                <a:ea typeface="Roboto Serif"/>
                <a:cs typeface="Roboto Serif"/>
                <a:sym typeface="Roboto Serif"/>
              </a:defRPr>
            </a:lvl7pPr>
            <a:lvl8pPr marL="3657600" lvl="7" indent="-285750">
              <a:spcBef>
                <a:spcPts val="0"/>
              </a:spcBef>
              <a:spcAft>
                <a:spcPts val="0"/>
              </a:spcAft>
              <a:buClr>
                <a:schemeClr val="dk2"/>
              </a:buClr>
              <a:buSzPts val="900"/>
              <a:buFont typeface="Roboto Serif"/>
              <a:buChar char="○"/>
              <a:defRPr sz="900">
                <a:solidFill>
                  <a:schemeClr val="dk2"/>
                </a:solidFill>
                <a:latin typeface="Roboto Serif"/>
                <a:ea typeface="Roboto Serif"/>
                <a:cs typeface="Roboto Serif"/>
                <a:sym typeface="Roboto Serif"/>
              </a:defRPr>
            </a:lvl8pPr>
            <a:lvl9pPr marL="4114800" lvl="8" indent="-279400">
              <a:spcBef>
                <a:spcPts val="0"/>
              </a:spcBef>
              <a:spcAft>
                <a:spcPts val="0"/>
              </a:spcAft>
              <a:buClr>
                <a:schemeClr val="dk2"/>
              </a:buClr>
              <a:buSzPts val="800"/>
              <a:buFont typeface="Roboto Serif"/>
              <a:buChar char="■"/>
              <a:defRPr sz="900">
                <a:solidFill>
                  <a:schemeClr val="dk2"/>
                </a:solidFill>
                <a:latin typeface="Roboto Serif"/>
                <a:ea typeface="Roboto Serif"/>
                <a:cs typeface="Roboto Serif"/>
                <a:sym typeface="Roboto Serif"/>
              </a:defRPr>
            </a:lvl9pPr>
          </a:lstStyle>
          <a:p>
            <a:endParaRPr/>
          </a:p>
        </p:txBody>
      </p:sp>
      <p:sp>
        <p:nvSpPr>
          <p:cNvPr id="293" name="Google Shape;293;p40"/>
          <p:cNvSpPr txBox="1">
            <a:spLocks noGrp="1"/>
          </p:cNvSpPr>
          <p:nvPr>
            <p:ph type="title"/>
          </p:nvPr>
        </p:nvSpPr>
        <p:spPr>
          <a:xfrm>
            <a:off x="195950" y="57450"/>
            <a:ext cx="8490300" cy="1085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2"/>
              </a:buClr>
              <a:buSzPts val="4000"/>
              <a:buFont typeface="Roboto Serif"/>
              <a:buNone/>
              <a:defRPr sz="4000">
                <a:solidFill>
                  <a:schemeClr val="dk2"/>
                </a:solidFill>
                <a:latin typeface="Roboto Serif"/>
                <a:ea typeface="Roboto Serif"/>
                <a:cs typeface="Roboto Serif"/>
                <a:sym typeface="Roboto Serif"/>
              </a:defRPr>
            </a:lvl1pPr>
            <a:lvl2pPr lvl="1">
              <a:spcBef>
                <a:spcPts val="0"/>
              </a:spcBef>
              <a:spcAft>
                <a:spcPts val="0"/>
              </a:spcAft>
              <a:buClr>
                <a:schemeClr val="dk2"/>
              </a:buClr>
              <a:buSzPts val="1400"/>
              <a:buFont typeface="Roboto Serif"/>
              <a:buNone/>
              <a:defRPr>
                <a:solidFill>
                  <a:schemeClr val="dk2"/>
                </a:solidFill>
                <a:latin typeface="Roboto Serif"/>
                <a:ea typeface="Roboto Serif"/>
                <a:cs typeface="Roboto Serif"/>
                <a:sym typeface="Roboto Serif"/>
              </a:defRPr>
            </a:lvl2pPr>
            <a:lvl3pPr lvl="2">
              <a:spcBef>
                <a:spcPts val="0"/>
              </a:spcBef>
              <a:spcAft>
                <a:spcPts val="0"/>
              </a:spcAft>
              <a:buClr>
                <a:schemeClr val="dk2"/>
              </a:buClr>
              <a:buSzPts val="1400"/>
              <a:buFont typeface="Roboto Serif"/>
              <a:buNone/>
              <a:defRPr>
                <a:solidFill>
                  <a:schemeClr val="dk2"/>
                </a:solidFill>
                <a:latin typeface="Roboto Serif"/>
                <a:ea typeface="Roboto Serif"/>
                <a:cs typeface="Roboto Serif"/>
                <a:sym typeface="Roboto Serif"/>
              </a:defRPr>
            </a:lvl3pPr>
            <a:lvl4pPr lvl="3">
              <a:spcBef>
                <a:spcPts val="0"/>
              </a:spcBef>
              <a:spcAft>
                <a:spcPts val="0"/>
              </a:spcAft>
              <a:buClr>
                <a:schemeClr val="dk2"/>
              </a:buClr>
              <a:buSzPts val="1400"/>
              <a:buFont typeface="Roboto Serif"/>
              <a:buNone/>
              <a:defRPr>
                <a:solidFill>
                  <a:schemeClr val="dk2"/>
                </a:solidFill>
                <a:latin typeface="Roboto Serif"/>
                <a:ea typeface="Roboto Serif"/>
                <a:cs typeface="Roboto Serif"/>
                <a:sym typeface="Roboto Serif"/>
              </a:defRPr>
            </a:lvl4pPr>
            <a:lvl5pPr lvl="4">
              <a:spcBef>
                <a:spcPts val="0"/>
              </a:spcBef>
              <a:spcAft>
                <a:spcPts val="0"/>
              </a:spcAft>
              <a:buClr>
                <a:schemeClr val="dk2"/>
              </a:buClr>
              <a:buSzPts val="1400"/>
              <a:buFont typeface="Roboto Serif"/>
              <a:buNone/>
              <a:defRPr>
                <a:solidFill>
                  <a:schemeClr val="dk2"/>
                </a:solidFill>
                <a:latin typeface="Roboto Serif"/>
                <a:ea typeface="Roboto Serif"/>
                <a:cs typeface="Roboto Serif"/>
                <a:sym typeface="Roboto Serif"/>
              </a:defRPr>
            </a:lvl5pPr>
            <a:lvl6pPr lvl="5">
              <a:spcBef>
                <a:spcPts val="0"/>
              </a:spcBef>
              <a:spcAft>
                <a:spcPts val="0"/>
              </a:spcAft>
              <a:buClr>
                <a:schemeClr val="dk2"/>
              </a:buClr>
              <a:buSzPts val="1400"/>
              <a:buFont typeface="Roboto Serif"/>
              <a:buNone/>
              <a:defRPr>
                <a:solidFill>
                  <a:schemeClr val="dk2"/>
                </a:solidFill>
                <a:latin typeface="Roboto Serif"/>
                <a:ea typeface="Roboto Serif"/>
                <a:cs typeface="Roboto Serif"/>
                <a:sym typeface="Roboto Serif"/>
              </a:defRPr>
            </a:lvl6pPr>
            <a:lvl7pPr lvl="6">
              <a:spcBef>
                <a:spcPts val="0"/>
              </a:spcBef>
              <a:spcAft>
                <a:spcPts val="0"/>
              </a:spcAft>
              <a:buClr>
                <a:schemeClr val="dk2"/>
              </a:buClr>
              <a:buSzPts val="1400"/>
              <a:buFont typeface="Roboto Serif"/>
              <a:buNone/>
              <a:defRPr>
                <a:solidFill>
                  <a:schemeClr val="dk2"/>
                </a:solidFill>
                <a:latin typeface="Roboto Serif"/>
                <a:ea typeface="Roboto Serif"/>
                <a:cs typeface="Roboto Serif"/>
                <a:sym typeface="Roboto Serif"/>
              </a:defRPr>
            </a:lvl7pPr>
            <a:lvl8pPr lvl="7">
              <a:spcBef>
                <a:spcPts val="0"/>
              </a:spcBef>
              <a:spcAft>
                <a:spcPts val="0"/>
              </a:spcAft>
              <a:buClr>
                <a:schemeClr val="dk2"/>
              </a:buClr>
              <a:buSzPts val="1400"/>
              <a:buFont typeface="Roboto Serif"/>
              <a:buNone/>
              <a:defRPr>
                <a:solidFill>
                  <a:schemeClr val="dk2"/>
                </a:solidFill>
                <a:latin typeface="Roboto Serif"/>
                <a:ea typeface="Roboto Serif"/>
                <a:cs typeface="Roboto Serif"/>
                <a:sym typeface="Roboto Serif"/>
              </a:defRPr>
            </a:lvl8pPr>
            <a:lvl9pPr lvl="8">
              <a:spcBef>
                <a:spcPts val="0"/>
              </a:spcBef>
              <a:spcAft>
                <a:spcPts val="0"/>
              </a:spcAft>
              <a:buClr>
                <a:schemeClr val="dk2"/>
              </a:buClr>
              <a:buSzPts val="1400"/>
              <a:buFont typeface="Roboto Serif"/>
              <a:buNone/>
              <a:defRPr>
                <a:solidFill>
                  <a:schemeClr val="dk2"/>
                </a:solidFill>
                <a:latin typeface="Roboto Serif"/>
                <a:ea typeface="Roboto Serif"/>
                <a:cs typeface="Roboto Serif"/>
                <a:sym typeface="Roboto Serif"/>
              </a:defRPr>
            </a:lvl9pPr>
          </a:lstStyle>
          <a:p>
            <a:endParaRPr/>
          </a:p>
        </p:txBody>
      </p:sp>
    </p:spTree>
  </p:cSld>
  <p:clrMap bg1="lt1" tx1="dk1" bg2="dk2" tx2="lt2" accent1="accent1" accent2="accent2" accent3="accent3" accent4="accent4" accent5="accent5" accent6="accent6" hlink="hlink" folHlink="folHlink"/>
  <p:sldLayoutIdLst>
    <p:sldLayoutId id="2147483686" r:id="rId1"/>
    <p:sldLayoutId id="2147483687" r:id="rId2"/>
    <p:sldLayoutId id="2147483688" r:id="rId3"/>
    <p:sldLayoutId id="2147483699" r:id="rId4"/>
    <p:sldLayoutId id="2147483703" r:id="rId5"/>
    <p:sldLayoutId id="2147483704" r:id="rId6"/>
    <p:sldLayoutId id="2147483705" r:id="rId7"/>
    <p:sldLayoutId id="2147483706" r:id="rId8"/>
    <p:sldLayoutId id="2147483707" r:id="rId9"/>
    <p:sldLayoutId id="2147483708" r:id="rId10"/>
    <p:sldLayoutId id="2147483709" r:id="rId11"/>
    <p:sldLayoutId id="2147483710" r:id="rId12"/>
    <p:sldLayoutId id="2147483711" r:id="rId13"/>
    <p:sldLayoutId id="2147483712" r:id="rId14"/>
    <p:sldLayoutId id="2147483713" r:id="rId15"/>
    <p:sldLayoutId id="2147483714" r:id="rId16"/>
    <p:sldLayoutId id="2147483715" r:id="rId17"/>
    <p:sldLayoutId id="2147483716" r:id="rId18"/>
    <p:sldLayoutId id="2147483717" r:id="rId19"/>
    <p:sldLayoutId id="2147483718" r:id="rId20"/>
    <p:sldLayoutId id="2147483719" r:id="rId21"/>
    <p:sldLayoutId id="2147483720" r:id="rId22"/>
    <p:sldLayoutId id="2147483721" r:id="rId23"/>
    <p:sldLayoutId id="2147483722" r:id="rId2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hyperlink" Target="https://drive.google.com/file/d/119-FGfq8kIJg-810vIkD2Q4QTCEFAC6U/view?usp=drive_link" TargetMode="Externa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6">
            <a:lumMod val="75000"/>
          </a:schemeClr>
        </a:solidFill>
        <a:effectLst/>
      </p:bgPr>
    </p:bg>
    <p:spTree>
      <p:nvGrpSpPr>
        <p:cNvPr id="1" name="Shape 564"/>
        <p:cNvGrpSpPr/>
        <p:nvPr/>
      </p:nvGrpSpPr>
      <p:grpSpPr>
        <a:xfrm>
          <a:off x="0" y="0"/>
          <a:ext cx="0" cy="0"/>
          <a:chOff x="0" y="0"/>
          <a:chExt cx="0" cy="0"/>
        </a:xfrm>
      </p:grpSpPr>
      <p:sp>
        <p:nvSpPr>
          <p:cNvPr id="567" name="Google Shape;567;p78"/>
          <p:cNvSpPr txBox="1">
            <a:spLocks noGrp="1"/>
          </p:cNvSpPr>
          <p:nvPr>
            <p:ph type="subTitle" idx="1"/>
          </p:nvPr>
        </p:nvSpPr>
        <p:spPr>
          <a:xfrm>
            <a:off x="2788985" y="4259506"/>
            <a:ext cx="4195819" cy="632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2000" dirty="0">
                <a:latin typeface="Segoe Script" panose="030B0504020000000003" pitchFamily="66" charset="0"/>
              </a:rPr>
              <a:t>By - SRIVALLIKA</a:t>
            </a:r>
            <a:endParaRPr sz="2000" dirty="0">
              <a:latin typeface="Segoe Script" panose="030B0504020000000003" pitchFamily="66" charset="0"/>
            </a:endParaRPr>
          </a:p>
        </p:txBody>
      </p:sp>
      <p:sp>
        <p:nvSpPr>
          <p:cNvPr id="570" name="Google Shape;570;p78"/>
          <p:cNvSpPr txBox="1">
            <a:spLocks noGrp="1"/>
          </p:cNvSpPr>
          <p:nvPr>
            <p:ph type="title"/>
          </p:nvPr>
        </p:nvSpPr>
        <p:spPr>
          <a:xfrm>
            <a:off x="85725" y="103525"/>
            <a:ext cx="5314614" cy="3222326"/>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4800" b="1" dirty="0">
                <a:latin typeface="Segoe Script" panose="030B0504020000000003" pitchFamily="66" charset="0"/>
              </a:rPr>
              <a:t>Logistics Optimization for Delivery Routes – FedEx</a:t>
            </a:r>
            <a:endParaRPr sz="4800" b="1" dirty="0">
              <a:latin typeface="Segoe Script" panose="030B0504020000000003" pitchFamily="66" charset="0"/>
            </a:endParaRPr>
          </a:p>
        </p:txBody>
      </p:sp>
      <p:sp>
        <p:nvSpPr>
          <p:cNvPr id="5" name="Picture Placeholder 4">
            <a:extLst>
              <a:ext uri="{FF2B5EF4-FFF2-40B4-BE49-F238E27FC236}">
                <a16:creationId xmlns:a16="http://schemas.microsoft.com/office/drawing/2014/main" id="{2076BB1F-BB2A-41B9-9305-22E84B414F28}"/>
              </a:ext>
            </a:extLst>
          </p:cNvPr>
          <p:cNvSpPr>
            <a:spLocks noGrp="1"/>
          </p:cNvSpPr>
          <p:nvPr>
            <p:ph type="pic" idx="2"/>
          </p:nvPr>
        </p:nvSpPr>
        <p:spPr/>
      </p:sp>
      <p:pic>
        <p:nvPicPr>
          <p:cNvPr id="1028" name="Picture 4" descr="Sql server - Free seo and web icons">
            <a:extLst>
              <a:ext uri="{FF2B5EF4-FFF2-40B4-BE49-F238E27FC236}">
                <a16:creationId xmlns:a16="http://schemas.microsoft.com/office/drawing/2014/main" id="{47937419-C635-4583-837D-56738E5B9EF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40475" y="1084729"/>
            <a:ext cx="3628644" cy="362864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spd="slow" p14:dur="2000" advTm="34350"/>
    </mc:Choice>
    <mc:Fallback xmlns="">
      <p:transition spd="slow" advTm="3435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74"/>
        <p:cNvGrpSpPr/>
        <p:nvPr/>
      </p:nvGrpSpPr>
      <p:grpSpPr>
        <a:xfrm>
          <a:off x="0" y="0"/>
          <a:ext cx="0" cy="0"/>
          <a:chOff x="0" y="0"/>
          <a:chExt cx="0" cy="0"/>
        </a:xfrm>
      </p:grpSpPr>
      <p:sp>
        <p:nvSpPr>
          <p:cNvPr id="575" name="Google Shape;575;p79"/>
          <p:cNvSpPr txBox="1">
            <a:spLocks noGrp="1"/>
          </p:cNvSpPr>
          <p:nvPr>
            <p:ph type="title"/>
          </p:nvPr>
        </p:nvSpPr>
        <p:spPr>
          <a:xfrm>
            <a:off x="313392" y="1423291"/>
            <a:ext cx="8517216" cy="3496235"/>
          </a:xfrm>
          <a:prstGeom prst="rect">
            <a:avLst/>
          </a:prstGeom>
        </p:spPr>
        <p:txBody>
          <a:bodyPr spcFirstLastPara="1" wrap="square" lIns="91425" tIns="91425" rIns="91425" bIns="91425" anchor="ctr" anchorCtr="0">
            <a:noAutofit/>
          </a:bodyPr>
          <a:lstStyle/>
          <a:p>
            <a:pPr lvl="0" algn="l" rtl="0">
              <a:spcBef>
                <a:spcPts val="1200"/>
              </a:spcBef>
              <a:spcAft>
                <a:spcPts val="0"/>
              </a:spcAft>
            </a:pPr>
            <a:r>
              <a:rPr lang="en-US" sz="1400" dirty="0">
                <a:latin typeface="Calibri" panose="020F0502020204030204" pitchFamily="34" charset="0"/>
                <a:ea typeface="Calibri" panose="020F0502020204030204" pitchFamily="34" charset="0"/>
                <a:cs typeface="Calibri" panose="020F0502020204030204" pitchFamily="34" charset="0"/>
                <a:sym typeface="Arial"/>
              </a:rPr>
              <a:t>The goal is to come up with a SQL, based Logistics Analytics System for FedEx that can analyze shipment performance data across the global logistics network. With this system, it has aimed to:</a:t>
            </a:r>
            <a:br>
              <a:rPr lang="en-US" sz="1400" dirty="0">
                <a:latin typeface="Calibri" panose="020F0502020204030204" pitchFamily="34" charset="0"/>
                <a:ea typeface="Calibri" panose="020F0502020204030204" pitchFamily="34" charset="0"/>
                <a:cs typeface="Calibri" panose="020F0502020204030204" pitchFamily="34" charset="0"/>
                <a:sym typeface="Arial"/>
              </a:rPr>
            </a:br>
            <a:br>
              <a:rPr lang="en-US" sz="1400" dirty="0">
                <a:latin typeface="Calibri" panose="020F0502020204030204" pitchFamily="34" charset="0"/>
                <a:ea typeface="Calibri" panose="020F0502020204030204" pitchFamily="34" charset="0"/>
                <a:cs typeface="Calibri" panose="020F0502020204030204" pitchFamily="34" charset="0"/>
                <a:sym typeface="Arial"/>
              </a:rPr>
            </a:br>
            <a:r>
              <a:rPr lang="en-US" sz="1400" dirty="0">
                <a:latin typeface="Calibri" panose="020F0502020204030204" pitchFamily="34" charset="0"/>
                <a:ea typeface="Calibri" panose="020F0502020204030204" pitchFamily="34" charset="0"/>
                <a:cs typeface="Calibri" panose="020F0502020204030204" pitchFamily="34" charset="0"/>
                <a:sym typeface="Arial"/>
              </a:rPr>
              <a:t> Integrate ordering, routing, warehousing, agent, and shipment tracking data from relational databases.</a:t>
            </a:r>
            <a:br>
              <a:rPr lang="en-US" sz="1400" dirty="0">
                <a:latin typeface="Calibri" panose="020F0502020204030204" pitchFamily="34" charset="0"/>
                <a:ea typeface="Calibri" panose="020F0502020204030204" pitchFamily="34" charset="0"/>
                <a:cs typeface="Calibri" panose="020F0502020204030204" pitchFamily="34" charset="0"/>
                <a:sym typeface="Arial"/>
              </a:rPr>
            </a:br>
            <a:br>
              <a:rPr lang="en-US" sz="1400" dirty="0">
                <a:latin typeface="Calibri" panose="020F0502020204030204" pitchFamily="34" charset="0"/>
                <a:ea typeface="Calibri" panose="020F0502020204030204" pitchFamily="34" charset="0"/>
                <a:cs typeface="Calibri" panose="020F0502020204030204" pitchFamily="34" charset="0"/>
                <a:sym typeface="Arial"/>
              </a:rPr>
            </a:br>
            <a:r>
              <a:rPr lang="en-US" sz="1400" dirty="0">
                <a:latin typeface="Calibri" panose="020F0502020204030204" pitchFamily="34" charset="0"/>
                <a:ea typeface="Calibri" panose="020F0502020204030204" pitchFamily="34" charset="0"/>
                <a:cs typeface="Calibri" panose="020F0502020204030204" pitchFamily="34" charset="0"/>
                <a:sym typeface="Arial"/>
              </a:rPr>
              <a:t>Pinpoint the causes of delays, the bottlenecks, and the inefficiencies in the operations of both international and regional routes.</a:t>
            </a:r>
            <a:br>
              <a:rPr lang="en-US" sz="1400" dirty="0">
                <a:latin typeface="Calibri" panose="020F0502020204030204" pitchFamily="34" charset="0"/>
                <a:ea typeface="Calibri" panose="020F0502020204030204" pitchFamily="34" charset="0"/>
                <a:cs typeface="Calibri" panose="020F0502020204030204" pitchFamily="34" charset="0"/>
                <a:sym typeface="Arial"/>
              </a:rPr>
            </a:br>
            <a:br>
              <a:rPr lang="en-US" sz="1400" dirty="0">
                <a:latin typeface="Calibri" panose="020F0502020204030204" pitchFamily="34" charset="0"/>
                <a:ea typeface="Calibri" panose="020F0502020204030204" pitchFamily="34" charset="0"/>
                <a:cs typeface="Calibri" panose="020F0502020204030204" pitchFamily="34" charset="0"/>
                <a:sym typeface="Arial"/>
              </a:rPr>
            </a:br>
            <a:r>
              <a:rPr lang="en-US" sz="1400" dirty="0">
                <a:latin typeface="Calibri" panose="020F0502020204030204" pitchFamily="34" charset="0"/>
                <a:ea typeface="Calibri" panose="020F0502020204030204" pitchFamily="34" charset="0"/>
                <a:cs typeface="Calibri" panose="020F0502020204030204" pitchFamily="34" charset="0"/>
                <a:sym typeface="Arial"/>
              </a:rPr>
              <a:t>The outcome will be that performance evaluation will be made possible at the level of the route, warehouse, and delivery agent.</a:t>
            </a:r>
            <a:br>
              <a:rPr lang="en-US" sz="1400" dirty="0">
                <a:latin typeface="Calibri" panose="020F0502020204030204" pitchFamily="34" charset="0"/>
                <a:ea typeface="Calibri" panose="020F0502020204030204" pitchFamily="34" charset="0"/>
                <a:cs typeface="Calibri" panose="020F0502020204030204" pitchFamily="34" charset="0"/>
                <a:sym typeface="Arial"/>
              </a:rPr>
            </a:br>
            <a:br>
              <a:rPr lang="en-US" sz="1400" dirty="0">
                <a:latin typeface="Calibri" panose="020F0502020204030204" pitchFamily="34" charset="0"/>
                <a:ea typeface="Calibri" panose="020F0502020204030204" pitchFamily="34" charset="0"/>
                <a:cs typeface="Calibri" panose="020F0502020204030204" pitchFamily="34" charset="0"/>
                <a:sym typeface="Arial"/>
              </a:rPr>
            </a:br>
            <a:r>
              <a:rPr lang="en-US" sz="1400" dirty="0">
                <a:latin typeface="Calibri" panose="020F0502020204030204" pitchFamily="34" charset="0"/>
                <a:ea typeface="Calibri" panose="020F0502020204030204" pitchFamily="34" charset="0"/>
                <a:cs typeface="Calibri" panose="020F0502020204030204" pitchFamily="34" charset="0"/>
                <a:sym typeface="Arial"/>
              </a:rPr>
              <a:t>Offer data, backed insights that can be used to work on various aspects such as on, time delivery, route optimization, increasing warehouse throughput, and at the same time lowering operational costs.</a:t>
            </a:r>
            <a:br>
              <a:rPr lang="en-US" sz="1400" dirty="0">
                <a:latin typeface="Calibri" panose="020F0502020204030204" pitchFamily="34" charset="0"/>
                <a:ea typeface="Calibri" panose="020F0502020204030204" pitchFamily="34" charset="0"/>
                <a:cs typeface="Calibri" panose="020F0502020204030204" pitchFamily="34" charset="0"/>
                <a:sym typeface="Arial"/>
              </a:rPr>
            </a:br>
            <a:br>
              <a:rPr lang="en-US" sz="1400" dirty="0">
                <a:latin typeface="Calibri" panose="020F0502020204030204" pitchFamily="34" charset="0"/>
                <a:ea typeface="Calibri" panose="020F0502020204030204" pitchFamily="34" charset="0"/>
                <a:cs typeface="Calibri" panose="020F0502020204030204" pitchFamily="34" charset="0"/>
                <a:sym typeface="Arial"/>
              </a:rPr>
            </a:br>
            <a:r>
              <a:rPr lang="en-US" sz="1400" dirty="0">
                <a:latin typeface="Calibri" panose="020F0502020204030204" pitchFamily="34" charset="0"/>
                <a:ea typeface="Calibri" panose="020F0502020204030204" pitchFamily="34" charset="0"/>
                <a:cs typeface="Calibri" panose="020F0502020204030204" pitchFamily="34" charset="0"/>
                <a:sym typeface="Arial"/>
              </a:rPr>
              <a:t>The final analysis will be instrumental in making strategic decisions on how to best utilize hubs, optimize routes, and maintain service level reliability across FedEx's global operations</a:t>
            </a:r>
            <a:r>
              <a:rPr lang="en-US" sz="1600" dirty="0">
                <a:latin typeface="Calibri" panose="020F0502020204030204" pitchFamily="34" charset="0"/>
                <a:ea typeface="Calibri" panose="020F0502020204030204" pitchFamily="34" charset="0"/>
                <a:cs typeface="Calibri" panose="020F0502020204030204" pitchFamily="34" charset="0"/>
                <a:sym typeface="Arial"/>
              </a:rPr>
              <a:t>.</a:t>
            </a:r>
            <a:br>
              <a:rPr lang="en-US" sz="9600" dirty="0">
                <a:latin typeface="Calibri" panose="020F0502020204030204" pitchFamily="34" charset="0"/>
                <a:ea typeface="Calibri" panose="020F0502020204030204" pitchFamily="34" charset="0"/>
                <a:cs typeface="Calibri" panose="020F0502020204030204" pitchFamily="34" charset="0"/>
                <a:sym typeface="Arial"/>
              </a:rPr>
            </a:br>
            <a:endParaRPr dirty="0">
              <a:latin typeface="Calibri" panose="020F0502020204030204" pitchFamily="34" charset="0"/>
              <a:ea typeface="Calibri" panose="020F0502020204030204" pitchFamily="34" charset="0"/>
              <a:cs typeface="Calibri" panose="020F0502020204030204" pitchFamily="34" charset="0"/>
            </a:endParaRPr>
          </a:p>
        </p:txBody>
      </p:sp>
      <p:sp>
        <p:nvSpPr>
          <p:cNvPr id="2" name="TextBox 1">
            <a:extLst>
              <a:ext uri="{FF2B5EF4-FFF2-40B4-BE49-F238E27FC236}">
                <a16:creationId xmlns:a16="http://schemas.microsoft.com/office/drawing/2014/main" id="{E5C2402E-0B2D-4C17-A26D-4550E7AEE982}"/>
              </a:ext>
            </a:extLst>
          </p:cNvPr>
          <p:cNvSpPr txBox="1"/>
          <p:nvPr/>
        </p:nvSpPr>
        <p:spPr>
          <a:xfrm>
            <a:off x="3184263" y="223974"/>
            <a:ext cx="3560781" cy="461665"/>
          </a:xfrm>
          <a:prstGeom prst="rect">
            <a:avLst/>
          </a:prstGeom>
          <a:noFill/>
        </p:spPr>
        <p:txBody>
          <a:bodyPr wrap="square" rtlCol="0">
            <a:spAutoFit/>
          </a:bodyPr>
          <a:lstStyle/>
          <a:p>
            <a:r>
              <a:rPr lang="en-US" sz="2400" b="1" u="sng" dirty="0">
                <a:solidFill>
                  <a:schemeClr val="bg1"/>
                </a:solidFill>
                <a:latin typeface="Calibri" panose="020F0502020204030204" pitchFamily="34" charset="0"/>
                <a:ea typeface="Calibri" panose="020F0502020204030204" pitchFamily="34" charset="0"/>
                <a:cs typeface="Calibri" panose="020F0502020204030204" pitchFamily="34" charset="0"/>
                <a:sym typeface="Arial"/>
              </a:rPr>
              <a:t>PROJECT OBJECTIVE</a:t>
            </a:r>
            <a:r>
              <a:rPr lang="en-US" sz="2400" dirty="0">
                <a:solidFill>
                  <a:schemeClr val="bg1"/>
                </a:solidFill>
                <a:latin typeface="Calibri" panose="020F0502020204030204" pitchFamily="34" charset="0"/>
                <a:ea typeface="Calibri" panose="020F0502020204030204" pitchFamily="34" charset="0"/>
                <a:cs typeface="Calibri" panose="020F0502020204030204" pitchFamily="34" charset="0"/>
                <a:sym typeface="Arial"/>
              </a:rPr>
              <a:t>: </a:t>
            </a:r>
            <a:endParaRPr lang="en-US" sz="2400"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80"/>
        <p:cNvGrpSpPr/>
        <p:nvPr/>
      </p:nvGrpSpPr>
      <p:grpSpPr>
        <a:xfrm>
          <a:off x="0" y="0"/>
          <a:ext cx="0" cy="0"/>
          <a:chOff x="0" y="0"/>
          <a:chExt cx="0" cy="0"/>
        </a:xfrm>
      </p:grpSpPr>
      <p:sp>
        <p:nvSpPr>
          <p:cNvPr id="581" name="Google Shape;581;p80"/>
          <p:cNvSpPr txBox="1">
            <a:spLocks noGrp="1"/>
          </p:cNvSpPr>
          <p:nvPr>
            <p:ph type="title"/>
          </p:nvPr>
        </p:nvSpPr>
        <p:spPr>
          <a:xfrm>
            <a:off x="489625" y="304724"/>
            <a:ext cx="8812350" cy="681894"/>
          </a:xfrm>
          <a:prstGeom prst="rect">
            <a:avLst/>
          </a:prstGeom>
        </p:spPr>
        <p:txBody>
          <a:bodyPr spcFirstLastPara="1" wrap="square" lIns="91425" tIns="91425" rIns="91425" bIns="91425" anchor="t" anchorCtr="0">
            <a:noAutofit/>
          </a:bodyPr>
          <a:lstStyle/>
          <a:p>
            <a:pPr marL="0" lvl="0" indent="0" algn="l" rtl="0">
              <a:lnSpc>
                <a:spcPct val="80000"/>
              </a:lnSpc>
              <a:spcBef>
                <a:spcPts val="0"/>
              </a:spcBef>
              <a:spcAft>
                <a:spcPts val="0"/>
              </a:spcAft>
              <a:buNone/>
            </a:pPr>
            <a:r>
              <a:rPr lang="en" sz="3200" dirty="0">
                <a:latin typeface="Calibri" panose="020F0502020204030204" pitchFamily="34" charset="0"/>
                <a:ea typeface="Calibri" panose="020F0502020204030204" pitchFamily="34" charset="0"/>
                <a:cs typeface="Calibri" panose="020F0502020204030204" pitchFamily="34" charset="0"/>
                <a:sym typeface="Jost"/>
              </a:rPr>
              <a:t>TASK 1 :  Data Cleaning &amp; Preparation</a:t>
            </a:r>
            <a:endParaRPr sz="5000" dirty="0">
              <a:latin typeface="Calibri" panose="020F0502020204030204" pitchFamily="34" charset="0"/>
              <a:ea typeface="Calibri" panose="020F0502020204030204" pitchFamily="34" charset="0"/>
              <a:cs typeface="Calibri" panose="020F0502020204030204" pitchFamily="34" charset="0"/>
              <a:sym typeface="Covered By Your Grace"/>
            </a:endParaRPr>
          </a:p>
        </p:txBody>
      </p:sp>
      <p:sp>
        <p:nvSpPr>
          <p:cNvPr id="582" name="Google Shape;582;p80"/>
          <p:cNvSpPr txBox="1">
            <a:spLocks noGrp="1"/>
          </p:cNvSpPr>
          <p:nvPr>
            <p:ph type="sldNum" idx="12"/>
          </p:nvPr>
        </p:nvSpPr>
        <p:spPr>
          <a:xfrm>
            <a:off x="8668550" y="4845125"/>
            <a:ext cx="309600" cy="1578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a:t>
            </a:fld>
            <a:endParaRPr/>
          </a:p>
        </p:txBody>
      </p:sp>
      <p:sp>
        <p:nvSpPr>
          <p:cNvPr id="585" name="Google Shape;585;p80"/>
          <p:cNvSpPr txBox="1">
            <a:spLocks noGrp="1"/>
          </p:cNvSpPr>
          <p:nvPr>
            <p:ph type="title" idx="2"/>
          </p:nvPr>
        </p:nvSpPr>
        <p:spPr>
          <a:xfrm>
            <a:off x="165824" y="1143095"/>
            <a:ext cx="8812351" cy="3354734"/>
          </a:xfrm>
          <a:prstGeom prst="rect">
            <a:avLst/>
          </a:prstGeom>
        </p:spPr>
        <p:txBody>
          <a:bodyPr spcFirstLastPara="1" wrap="square" lIns="91425" tIns="91425" rIns="91425" bIns="91425" anchor="t" anchorCtr="0">
            <a:spAutoFit/>
          </a:bodyPr>
          <a:lstStyle/>
          <a:p>
            <a:pPr marL="0" lvl="0" indent="0" rtl="0">
              <a:spcBef>
                <a:spcPts val="0"/>
              </a:spcBef>
              <a:spcAft>
                <a:spcPts val="0"/>
              </a:spcAft>
            </a:pPr>
            <a:r>
              <a:rPr lang="en-US" sz="1200" b="1" u="sng" dirty="0">
                <a:latin typeface="Calibri" panose="020F0502020204030204" pitchFamily="34" charset="0"/>
                <a:ea typeface="Calibri" panose="020F0502020204030204" pitchFamily="34" charset="0"/>
                <a:cs typeface="Calibri" panose="020F0502020204030204" pitchFamily="34" charset="0"/>
              </a:rPr>
              <a:t>OBJECTIVE:</a:t>
            </a:r>
            <a:br>
              <a:rPr lang="en-US" sz="1200" dirty="0">
                <a:latin typeface="Calibri" panose="020F0502020204030204" pitchFamily="34" charset="0"/>
                <a:ea typeface="Calibri" panose="020F0502020204030204" pitchFamily="34" charset="0"/>
                <a:cs typeface="Calibri" panose="020F0502020204030204" pitchFamily="34" charset="0"/>
              </a:rPr>
            </a:br>
            <a:br>
              <a:rPr lang="en-US" sz="1200" dirty="0">
                <a:latin typeface="Calibri" panose="020F0502020204030204" pitchFamily="34" charset="0"/>
                <a:ea typeface="Calibri" panose="020F0502020204030204" pitchFamily="34" charset="0"/>
                <a:cs typeface="Calibri" panose="020F0502020204030204" pitchFamily="34" charset="0"/>
              </a:rPr>
            </a:br>
            <a:r>
              <a:rPr lang="en-US" sz="1200" dirty="0">
                <a:latin typeface="Calibri" panose="020F0502020204030204" pitchFamily="34" charset="0"/>
                <a:ea typeface="Calibri" panose="020F0502020204030204" pitchFamily="34" charset="0"/>
                <a:cs typeface="Calibri" panose="020F0502020204030204" pitchFamily="34" charset="0"/>
              </a:rPr>
              <a:t>Check that the data is correct before analyzing performance. Get rid of inconsistencies that affect delivery and delay metrics.</a:t>
            </a:r>
            <a:br>
              <a:rPr lang="en-US" sz="1200" dirty="0">
                <a:latin typeface="Calibri" panose="020F0502020204030204" pitchFamily="34" charset="0"/>
                <a:ea typeface="Calibri" panose="020F0502020204030204" pitchFamily="34" charset="0"/>
                <a:cs typeface="Calibri" panose="020F0502020204030204" pitchFamily="34" charset="0"/>
              </a:rPr>
            </a:br>
            <a:r>
              <a:rPr lang="en-US" sz="1200" dirty="0">
                <a:latin typeface="Calibri" panose="020F0502020204030204" pitchFamily="34" charset="0"/>
                <a:ea typeface="Calibri" panose="020F0502020204030204" pitchFamily="34" charset="0"/>
                <a:cs typeface="Calibri" panose="020F0502020204030204" pitchFamily="34" charset="0"/>
              </a:rPr>
              <a:t>Make a dataset that you can trust for logistics optimization</a:t>
            </a:r>
            <a:br>
              <a:rPr lang="en-US" sz="1200" dirty="0">
                <a:latin typeface="Calibri" panose="020F0502020204030204" pitchFamily="34" charset="0"/>
                <a:ea typeface="Calibri" panose="020F0502020204030204" pitchFamily="34" charset="0"/>
                <a:cs typeface="Calibri" panose="020F0502020204030204" pitchFamily="34" charset="0"/>
              </a:rPr>
            </a:br>
            <a:br>
              <a:rPr lang="en-US" sz="1200" b="1" u="sng" dirty="0">
                <a:latin typeface="Calibri" panose="020F0502020204030204" pitchFamily="34" charset="0"/>
                <a:ea typeface="Calibri" panose="020F0502020204030204" pitchFamily="34" charset="0"/>
                <a:cs typeface="Calibri" panose="020F0502020204030204" pitchFamily="34" charset="0"/>
              </a:rPr>
            </a:br>
            <a:r>
              <a:rPr lang="en-US" sz="1200" b="1" u="sng" dirty="0">
                <a:latin typeface="Calibri" panose="020F0502020204030204" pitchFamily="34" charset="0"/>
                <a:ea typeface="Calibri" panose="020F0502020204030204" pitchFamily="34" charset="0"/>
                <a:cs typeface="Calibri" panose="020F0502020204030204" pitchFamily="34" charset="0"/>
              </a:rPr>
              <a:t>Cleaning Actions Performed</a:t>
            </a:r>
            <a:br>
              <a:rPr lang="en-US" sz="1200" b="1" u="sng" dirty="0">
                <a:latin typeface="Calibri" panose="020F0502020204030204" pitchFamily="34" charset="0"/>
                <a:ea typeface="Calibri" panose="020F0502020204030204" pitchFamily="34" charset="0"/>
                <a:cs typeface="Calibri" panose="020F0502020204030204" pitchFamily="34" charset="0"/>
              </a:rPr>
            </a:br>
            <a:br>
              <a:rPr lang="en-US" sz="1200" dirty="0">
                <a:latin typeface="Calibri" panose="020F0502020204030204" pitchFamily="34" charset="0"/>
                <a:ea typeface="Calibri" panose="020F0502020204030204" pitchFamily="34" charset="0"/>
                <a:cs typeface="Calibri" panose="020F0502020204030204" pitchFamily="34" charset="0"/>
              </a:rPr>
            </a:br>
            <a:r>
              <a:rPr lang="en-US" sz="1200" dirty="0">
                <a:latin typeface="Calibri" panose="020F0502020204030204" pitchFamily="34" charset="0"/>
                <a:ea typeface="Calibri" panose="020F0502020204030204" pitchFamily="34" charset="0"/>
                <a:cs typeface="Calibri" panose="020F0502020204030204" pitchFamily="34" charset="0"/>
              </a:rPr>
              <a:t>Getting rid of duplicate records</a:t>
            </a:r>
            <a:br>
              <a:rPr lang="en-US" sz="1200" dirty="0">
                <a:latin typeface="Calibri" panose="020F0502020204030204" pitchFamily="34" charset="0"/>
                <a:ea typeface="Calibri" panose="020F0502020204030204" pitchFamily="34" charset="0"/>
                <a:cs typeface="Calibri" panose="020F0502020204030204" pitchFamily="34" charset="0"/>
              </a:rPr>
            </a:br>
            <a:br>
              <a:rPr lang="en-US" sz="1200" dirty="0">
                <a:latin typeface="Calibri" panose="020F0502020204030204" pitchFamily="34" charset="0"/>
                <a:ea typeface="Calibri" panose="020F0502020204030204" pitchFamily="34" charset="0"/>
                <a:cs typeface="Calibri" panose="020F0502020204030204" pitchFamily="34" charset="0"/>
              </a:rPr>
            </a:br>
            <a:r>
              <a:rPr lang="en-US" sz="1200" dirty="0">
                <a:latin typeface="Calibri" panose="020F0502020204030204" pitchFamily="34" charset="0"/>
                <a:ea typeface="Calibri" panose="020F0502020204030204" pitchFamily="34" charset="0"/>
                <a:cs typeface="Calibri" panose="020F0502020204030204" pitchFamily="34" charset="0"/>
              </a:rPr>
              <a:t>Handling of missing delay values</a:t>
            </a:r>
            <a:br>
              <a:rPr lang="en-US" sz="1200" dirty="0">
                <a:latin typeface="Calibri" panose="020F0502020204030204" pitchFamily="34" charset="0"/>
                <a:ea typeface="Calibri" panose="020F0502020204030204" pitchFamily="34" charset="0"/>
                <a:cs typeface="Calibri" panose="020F0502020204030204" pitchFamily="34" charset="0"/>
              </a:rPr>
            </a:br>
            <a:br>
              <a:rPr lang="en-US" sz="1200" dirty="0">
                <a:latin typeface="Calibri" panose="020F0502020204030204" pitchFamily="34" charset="0"/>
                <a:ea typeface="Calibri" panose="020F0502020204030204" pitchFamily="34" charset="0"/>
                <a:cs typeface="Calibri" panose="020F0502020204030204" pitchFamily="34" charset="0"/>
              </a:rPr>
            </a:br>
            <a:r>
              <a:rPr lang="en-US" sz="1200" dirty="0">
                <a:latin typeface="Calibri" panose="020F0502020204030204" pitchFamily="34" charset="0"/>
                <a:ea typeface="Calibri" panose="020F0502020204030204" pitchFamily="34" charset="0"/>
                <a:cs typeface="Calibri" panose="020F0502020204030204" pitchFamily="34" charset="0"/>
              </a:rPr>
              <a:t>Standardizing dates</a:t>
            </a:r>
            <a:br>
              <a:rPr lang="en-US" sz="1200" dirty="0">
                <a:latin typeface="Calibri" panose="020F0502020204030204" pitchFamily="34" charset="0"/>
                <a:ea typeface="Calibri" panose="020F0502020204030204" pitchFamily="34" charset="0"/>
                <a:cs typeface="Calibri" panose="020F0502020204030204" pitchFamily="34" charset="0"/>
              </a:rPr>
            </a:br>
            <a:br>
              <a:rPr lang="en-US" sz="1200" dirty="0">
                <a:latin typeface="Calibri" panose="020F0502020204030204" pitchFamily="34" charset="0"/>
                <a:ea typeface="Calibri" panose="020F0502020204030204" pitchFamily="34" charset="0"/>
                <a:cs typeface="Calibri" panose="020F0502020204030204" pitchFamily="34" charset="0"/>
              </a:rPr>
            </a:br>
            <a:r>
              <a:rPr lang="en-US" sz="1200" dirty="0">
                <a:latin typeface="Calibri" panose="020F0502020204030204" pitchFamily="34" charset="0"/>
                <a:ea typeface="Calibri" panose="020F0502020204030204" pitchFamily="34" charset="0"/>
                <a:cs typeface="Calibri" panose="020F0502020204030204" pitchFamily="34" charset="0"/>
              </a:rPr>
              <a:t>Finding an invalid delivery date</a:t>
            </a:r>
            <a:br>
              <a:rPr lang="en-US" sz="1200" dirty="0">
                <a:latin typeface="Calibri" panose="020F0502020204030204" pitchFamily="34" charset="0"/>
                <a:ea typeface="Calibri" panose="020F0502020204030204" pitchFamily="34" charset="0"/>
                <a:cs typeface="Calibri" panose="020F0502020204030204" pitchFamily="34" charset="0"/>
              </a:rPr>
            </a:br>
            <a:br>
              <a:rPr lang="en-US" sz="1200" dirty="0">
                <a:latin typeface="Calibri" panose="020F0502020204030204" pitchFamily="34" charset="0"/>
                <a:ea typeface="Calibri" panose="020F0502020204030204" pitchFamily="34" charset="0"/>
                <a:cs typeface="Calibri" panose="020F0502020204030204" pitchFamily="34" charset="0"/>
              </a:rPr>
            </a:br>
            <a:r>
              <a:rPr lang="en-US" sz="1200" dirty="0">
                <a:latin typeface="Calibri" panose="020F0502020204030204" pitchFamily="34" charset="0"/>
                <a:ea typeface="Calibri" panose="020F0502020204030204" pitchFamily="34" charset="0"/>
                <a:cs typeface="Calibri" panose="020F0502020204030204" pitchFamily="34" charset="0"/>
              </a:rPr>
              <a:t>Checking for referential integrity</a:t>
            </a:r>
            <a:br>
              <a:rPr lang="en-US" sz="1400" dirty="0"/>
            </a:br>
            <a:endParaRPr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642A758-CD1E-4D0E-93F3-09ED180C661A}"/>
              </a:ext>
            </a:extLst>
          </p:cNvPr>
          <p:cNvSpPr>
            <a:spLocks noGrp="1"/>
          </p:cNvSpPr>
          <p:nvPr>
            <p:ph type="body" idx="1"/>
          </p:nvPr>
        </p:nvSpPr>
        <p:spPr>
          <a:xfrm>
            <a:off x="107577" y="108599"/>
            <a:ext cx="8702936" cy="4926302"/>
          </a:xfrm>
        </p:spPr>
        <p:txBody>
          <a:bodyPr/>
          <a:lstStyle/>
          <a:p>
            <a:r>
              <a:rPr lang="en-US" sz="1200" b="1" dirty="0">
                <a:latin typeface="Calibri" panose="020F0502020204030204" pitchFamily="34" charset="0"/>
                <a:ea typeface="Calibri" panose="020F0502020204030204" pitchFamily="34" charset="0"/>
                <a:cs typeface="Calibri" panose="020F0502020204030204" pitchFamily="34" charset="0"/>
              </a:rPr>
              <a:t>Identify and delete duplicate </a:t>
            </a:r>
            <a:r>
              <a:rPr lang="en-US" sz="1200" b="1" dirty="0" err="1">
                <a:latin typeface="Calibri" panose="020F0502020204030204" pitchFamily="34" charset="0"/>
                <a:ea typeface="Calibri" panose="020F0502020204030204" pitchFamily="34" charset="0"/>
                <a:cs typeface="Calibri" panose="020F0502020204030204" pitchFamily="34" charset="0"/>
              </a:rPr>
              <a:t>Order_ID</a:t>
            </a:r>
            <a:r>
              <a:rPr lang="en-US" sz="1200" b="1" dirty="0">
                <a:latin typeface="Calibri" panose="020F0502020204030204" pitchFamily="34" charset="0"/>
                <a:ea typeface="Calibri" panose="020F0502020204030204" pitchFamily="34" charset="0"/>
                <a:cs typeface="Calibri" panose="020F0502020204030204" pitchFamily="34" charset="0"/>
              </a:rPr>
              <a:t> or </a:t>
            </a:r>
            <a:r>
              <a:rPr lang="en-US" sz="1200" b="1" dirty="0" err="1">
                <a:latin typeface="Calibri" panose="020F0502020204030204" pitchFamily="34" charset="0"/>
                <a:ea typeface="Calibri" panose="020F0502020204030204" pitchFamily="34" charset="0"/>
                <a:cs typeface="Calibri" panose="020F0502020204030204" pitchFamily="34" charset="0"/>
              </a:rPr>
              <a:t>Shipment_ID</a:t>
            </a:r>
            <a:r>
              <a:rPr lang="en-US" sz="1200" b="1" dirty="0">
                <a:latin typeface="Calibri" panose="020F0502020204030204" pitchFamily="34" charset="0"/>
                <a:ea typeface="Calibri" panose="020F0502020204030204" pitchFamily="34" charset="0"/>
                <a:cs typeface="Calibri" panose="020F0502020204030204" pitchFamily="34" charset="0"/>
              </a:rPr>
              <a:t> records. </a:t>
            </a:r>
            <a:br>
              <a:rPr lang="en-US" sz="1200" dirty="0">
                <a:latin typeface="Calibri" panose="020F0502020204030204" pitchFamily="34" charset="0"/>
                <a:ea typeface="Calibri" panose="020F0502020204030204" pitchFamily="34" charset="0"/>
                <a:cs typeface="Calibri" panose="020F0502020204030204" pitchFamily="34" charset="0"/>
              </a:rPr>
            </a:br>
            <a:br>
              <a:rPr lang="en-US" sz="1200" dirty="0">
                <a:latin typeface="Calibri" panose="020F0502020204030204" pitchFamily="34" charset="0"/>
                <a:ea typeface="Calibri" panose="020F0502020204030204" pitchFamily="34" charset="0"/>
                <a:cs typeface="Calibri" panose="020F0502020204030204" pitchFamily="34" charset="0"/>
              </a:rPr>
            </a:br>
            <a:r>
              <a:rPr lang="en-US" sz="1200" b="1" u="sng" dirty="0">
                <a:latin typeface="Calibri" panose="020F0502020204030204" pitchFamily="34" charset="0"/>
                <a:ea typeface="Calibri" panose="020F0502020204030204" pitchFamily="34" charset="0"/>
                <a:cs typeface="Calibri" panose="020F0502020204030204" pitchFamily="34" charset="0"/>
              </a:rPr>
              <a:t>For </a:t>
            </a:r>
            <a:r>
              <a:rPr lang="en-US" sz="1200" b="1" u="sng" dirty="0" err="1">
                <a:latin typeface="Calibri" panose="020F0502020204030204" pitchFamily="34" charset="0"/>
                <a:ea typeface="Calibri" panose="020F0502020204030204" pitchFamily="34" charset="0"/>
                <a:cs typeface="Calibri" panose="020F0502020204030204" pitchFamily="34" charset="0"/>
              </a:rPr>
              <a:t>Order_id</a:t>
            </a:r>
            <a:r>
              <a:rPr lang="en-US" sz="1200" b="1" u="sng" dirty="0">
                <a:latin typeface="Calibri" panose="020F0502020204030204" pitchFamily="34" charset="0"/>
                <a:ea typeface="Calibri" panose="020F0502020204030204" pitchFamily="34" charset="0"/>
                <a:cs typeface="Calibri" panose="020F0502020204030204" pitchFamily="34" charset="0"/>
              </a:rPr>
              <a:t> :</a:t>
            </a:r>
            <a:br>
              <a:rPr lang="en-US" sz="1200" dirty="0">
                <a:latin typeface="Calibri" panose="020F0502020204030204" pitchFamily="34" charset="0"/>
                <a:ea typeface="Calibri" panose="020F0502020204030204" pitchFamily="34" charset="0"/>
                <a:cs typeface="Calibri" panose="020F0502020204030204" pitchFamily="34" charset="0"/>
              </a:rPr>
            </a:br>
            <a:br>
              <a:rPr lang="en-US" sz="1200" dirty="0">
                <a:latin typeface="Calibri" panose="020F0502020204030204" pitchFamily="34" charset="0"/>
                <a:ea typeface="Calibri" panose="020F0502020204030204" pitchFamily="34" charset="0"/>
                <a:cs typeface="Calibri" panose="020F0502020204030204" pitchFamily="34" charset="0"/>
              </a:rPr>
            </a:br>
            <a:r>
              <a:rPr lang="en-US" sz="1200" dirty="0">
                <a:latin typeface="Calibri" panose="020F0502020204030204" pitchFamily="34" charset="0"/>
                <a:ea typeface="Calibri" panose="020F0502020204030204" pitchFamily="34" charset="0"/>
                <a:cs typeface="Calibri" panose="020F0502020204030204" pitchFamily="34" charset="0"/>
              </a:rPr>
              <a:t>SELECT </a:t>
            </a:r>
            <a:r>
              <a:rPr lang="en-US" sz="1200" dirty="0" err="1">
                <a:latin typeface="Calibri" panose="020F0502020204030204" pitchFamily="34" charset="0"/>
                <a:ea typeface="Calibri" panose="020F0502020204030204" pitchFamily="34" charset="0"/>
                <a:cs typeface="Calibri" panose="020F0502020204030204" pitchFamily="34" charset="0"/>
              </a:rPr>
              <a:t>Order_ID</a:t>
            </a:r>
            <a:r>
              <a:rPr lang="en-US" sz="1200" dirty="0">
                <a:latin typeface="Calibri" panose="020F0502020204030204" pitchFamily="34" charset="0"/>
                <a:ea typeface="Calibri" panose="020F0502020204030204" pitchFamily="34" charset="0"/>
                <a:cs typeface="Calibri" panose="020F0502020204030204" pitchFamily="34" charset="0"/>
              </a:rPr>
              <a:t>, COUNT(*) AS </a:t>
            </a:r>
            <a:r>
              <a:rPr lang="en-US" sz="1200" dirty="0" err="1">
                <a:latin typeface="Calibri" panose="020F0502020204030204" pitchFamily="34" charset="0"/>
                <a:ea typeface="Calibri" panose="020F0502020204030204" pitchFamily="34" charset="0"/>
                <a:cs typeface="Calibri" panose="020F0502020204030204" pitchFamily="34" charset="0"/>
              </a:rPr>
              <a:t>duplicate_countFROM</a:t>
            </a:r>
            <a:r>
              <a:rPr lang="en-US" sz="1200" dirty="0">
                <a:latin typeface="Calibri" panose="020F0502020204030204" pitchFamily="34" charset="0"/>
                <a:ea typeface="Calibri" panose="020F0502020204030204" pitchFamily="34" charset="0"/>
                <a:cs typeface="Calibri" panose="020F0502020204030204" pitchFamily="34" charset="0"/>
              </a:rPr>
              <a:t> orders GROUP BY </a:t>
            </a:r>
            <a:r>
              <a:rPr lang="en-US" sz="1200" dirty="0" err="1">
                <a:latin typeface="Calibri" panose="020F0502020204030204" pitchFamily="34" charset="0"/>
                <a:ea typeface="Calibri" panose="020F0502020204030204" pitchFamily="34" charset="0"/>
                <a:cs typeface="Calibri" panose="020F0502020204030204" pitchFamily="34" charset="0"/>
              </a:rPr>
              <a:t>Order_IDHAVING</a:t>
            </a:r>
            <a:r>
              <a:rPr lang="en-US" sz="1200" dirty="0">
                <a:latin typeface="Calibri" panose="020F0502020204030204" pitchFamily="34" charset="0"/>
                <a:ea typeface="Calibri" panose="020F0502020204030204" pitchFamily="34" charset="0"/>
                <a:cs typeface="Calibri" panose="020F0502020204030204" pitchFamily="34" charset="0"/>
              </a:rPr>
              <a:t> COUNT(*) &gt; 1;</a:t>
            </a:r>
            <a:br>
              <a:rPr lang="en-US" sz="1200" dirty="0">
                <a:latin typeface="Calibri" panose="020F0502020204030204" pitchFamily="34" charset="0"/>
                <a:ea typeface="Calibri" panose="020F0502020204030204" pitchFamily="34" charset="0"/>
                <a:cs typeface="Calibri" panose="020F0502020204030204" pitchFamily="34" charset="0"/>
              </a:rPr>
            </a:br>
            <a:br>
              <a:rPr lang="en-US" sz="1200" dirty="0">
                <a:latin typeface="Calibri" panose="020F0502020204030204" pitchFamily="34" charset="0"/>
                <a:ea typeface="Calibri" panose="020F0502020204030204" pitchFamily="34" charset="0"/>
                <a:cs typeface="Calibri" panose="020F0502020204030204" pitchFamily="34" charset="0"/>
              </a:rPr>
            </a:br>
            <a:r>
              <a:rPr lang="en-US" sz="1200" b="1" u="sng" dirty="0">
                <a:latin typeface="Calibri" panose="020F0502020204030204" pitchFamily="34" charset="0"/>
                <a:ea typeface="Calibri" panose="020F0502020204030204" pitchFamily="34" charset="0"/>
                <a:cs typeface="Calibri" panose="020F0502020204030204" pitchFamily="34" charset="0"/>
              </a:rPr>
              <a:t>for </a:t>
            </a:r>
            <a:r>
              <a:rPr lang="en-US" sz="1200" b="1" u="sng" dirty="0" err="1">
                <a:latin typeface="Calibri" panose="020F0502020204030204" pitchFamily="34" charset="0"/>
                <a:ea typeface="Calibri" panose="020F0502020204030204" pitchFamily="34" charset="0"/>
                <a:cs typeface="Calibri" panose="020F0502020204030204" pitchFamily="34" charset="0"/>
              </a:rPr>
              <a:t>shipment_id</a:t>
            </a:r>
            <a:r>
              <a:rPr lang="en-US" sz="1200" b="1" u="sng" dirty="0">
                <a:latin typeface="Calibri" panose="020F0502020204030204" pitchFamily="34" charset="0"/>
                <a:ea typeface="Calibri" panose="020F0502020204030204" pitchFamily="34" charset="0"/>
                <a:cs typeface="Calibri" panose="020F0502020204030204" pitchFamily="34" charset="0"/>
              </a:rPr>
              <a:t> :</a:t>
            </a:r>
            <a:br>
              <a:rPr lang="en-US" sz="1200" dirty="0">
                <a:latin typeface="Calibri" panose="020F0502020204030204" pitchFamily="34" charset="0"/>
                <a:ea typeface="Calibri" panose="020F0502020204030204" pitchFamily="34" charset="0"/>
                <a:cs typeface="Calibri" panose="020F0502020204030204" pitchFamily="34" charset="0"/>
              </a:rPr>
            </a:br>
            <a:br>
              <a:rPr lang="en-US" sz="1200" dirty="0">
                <a:latin typeface="Calibri" panose="020F0502020204030204" pitchFamily="34" charset="0"/>
                <a:ea typeface="Calibri" panose="020F0502020204030204" pitchFamily="34" charset="0"/>
                <a:cs typeface="Calibri" panose="020F0502020204030204" pitchFamily="34" charset="0"/>
              </a:rPr>
            </a:br>
            <a:r>
              <a:rPr lang="en-US" sz="1200" dirty="0">
                <a:latin typeface="Calibri" panose="020F0502020204030204" pitchFamily="34" charset="0"/>
                <a:ea typeface="Calibri" panose="020F0502020204030204" pitchFamily="34" charset="0"/>
                <a:cs typeface="Calibri" panose="020F0502020204030204" pitchFamily="34" charset="0"/>
              </a:rPr>
              <a:t>SELECT </a:t>
            </a:r>
            <a:r>
              <a:rPr lang="en-US" sz="1200" dirty="0" err="1">
                <a:latin typeface="Calibri" panose="020F0502020204030204" pitchFamily="34" charset="0"/>
                <a:ea typeface="Calibri" panose="020F0502020204030204" pitchFamily="34" charset="0"/>
                <a:cs typeface="Calibri" panose="020F0502020204030204" pitchFamily="34" charset="0"/>
              </a:rPr>
              <a:t>Shipment_ID</a:t>
            </a:r>
            <a:r>
              <a:rPr lang="en-US" sz="1200" dirty="0">
                <a:latin typeface="Calibri" panose="020F0502020204030204" pitchFamily="34" charset="0"/>
                <a:ea typeface="Calibri" panose="020F0502020204030204" pitchFamily="34" charset="0"/>
                <a:cs typeface="Calibri" panose="020F0502020204030204" pitchFamily="34" charset="0"/>
              </a:rPr>
              <a:t>, COUNT(*) AS </a:t>
            </a:r>
            <a:r>
              <a:rPr lang="en-US" sz="1200" dirty="0" err="1">
                <a:latin typeface="Calibri" panose="020F0502020204030204" pitchFamily="34" charset="0"/>
                <a:ea typeface="Calibri" panose="020F0502020204030204" pitchFamily="34" charset="0"/>
                <a:cs typeface="Calibri" panose="020F0502020204030204" pitchFamily="34" charset="0"/>
              </a:rPr>
              <a:t>duplicate_countFROM</a:t>
            </a:r>
            <a:r>
              <a:rPr lang="en-US" sz="1200" dirty="0">
                <a:latin typeface="Calibri" panose="020F0502020204030204" pitchFamily="34" charset="0"/>
                <a:ea typeface="Calibri" panose="020F0502020204030204" pitchFamily="34" charset="0"/>
                <a:cs typeface="Calibri" panose="020F0502020204030204" pitchFamily="34" charset="0"/>
              </a:rPr>
              <a:t> </a:t>
            </a:r>
            <a:r>
              <a:rPr lang="en-US" sz="1200" dirty="0" err="1">
                <a:latin typeface="Calibri" panose="020F0502020204030204" pitchFamily="34" charset="0"/>
                <a:ea typeface="Calibri" panose="020F0502020204030204" pitchFamily="34" charset="0"/>
                <a:cs typeface="Calibri" panose="020F0502020204030204" pitchFamily="34" charset="0"/>
              </a:rPr>
              <a:t>shipmentsGROUP</a:t>
            </a:r>
            <a:r>
              <a:rPr lang="en-US" sz="1200" dirty="0">
                <a:latin typeface="Calibri" panose="020F0502020204030204" pitchFamily="34" charset="0"/>
                <a:ea typeface="Calibri" panose="020F0502020204030204" pitchFamily="34" charset="0"/>
                <a:cs typeface="Calibri" panose="020F0502020204030204" pitchFamily="34" charset="0"/>
              </a:rPr>
              <a:t> BY </a:t>
            </a:r>
            <a:r>
              <a:rPr lang="en-US" sz="1200" dirty="0" err="1">
                <a:latin typeface="Calibri" panose="020F0502020204030204" pitchFamily="34" charset="0"/>
                <a:ea typeface="Calibri" panose="020F0502020204030204" pitchFamily="34" charset="0"/>
                <a:cs typeface="Calibri" panose="020F0502020204030204" pitchFamily="34" charset="0"/>
              </a:rPr>
              <a:t>Shipment_IDHAVING</a:t>
            </a:r>
            <a:r>
              <a:rPr lang="en-US" sz="1200" dirty="0">
                <a:latin typeface="Calibri" panose="020F0502020204030204" pitchFamily="34" charset="0"/>
                <a:ea typeface="Calibri" panose="020F0502020204030204" pitchFamily="34" charset="0"/>
                <a:cs typeface="Calibri" panose="020F0502020204030204" pitchFamily="34" charset="0"/>
              </a:rPr>
              <a:t> COUNT(*) &gt; 1;</a:t>
            </a:r>
            <a:br>
              <a:rPr lang="en-US" sz="1200" dirty="0">
                <a:latin typeface="Calibri" panose="020F0502020204030204" pitchFamily="34" charset="0"/>
                <a:ea typeface="Calibri" panose="020F0502020204030204" pitchFamily="34" charset="0"/>
                <a:cs typeface="Calibri" panose="020F0502020204030204" pitchFamily="34" charset="0"/>
              </a:rPr>
            </a:br>
            <a:br>
              <a:rPr lang="en-US" sz="1200" dirty="0">
                <a:latin typeface="Calibri" panose="020F0502020204030204" pitchFamily="34" charset="0"/>
                <a:ea typeface="Calibri" panose="020F0502020204030204" pitchFamily="34" charset="0"/>
                <a:cs typeface="Calibri" panose="020F0502020204030204" pitchFamily="34" charset="0"/>
              </a:rPr>
            </a:br>
            <a:r>
              <a:rPr lang="en-US" sz="1200" dirty="0">
                <a:latin typeface="Calibri" panose="020F0502020204030204" pitchFamily="34" charset="0"/>
                <a:ea typeface="Calibri" panose="020F0502020204030204" pitchFamily="34" charset="0"/>
                <a:cs typeface="Calibri" panose="020F0502020204030204" pitchFamily="34" charset="0"/>
              </a:rPr>
              <a:t>No duplicate records were detected</a:t>
            </a:r>
            <a:br>
              <a:rPr lang="en-US" sz="1200" dirty="0">
                <a:latin typeface="Calibri" panose="020F0502020204030204" pitchFamily="34" charset="0"/>
                <a:ea typeface="Calibri" panose="020F0502020204030204" pitchFamily="34" charset="0"/>
                <a:cs typeface="Calibri" panose="020F0502020204030204" pitchFamily="34" charset="0"/>
              </a:rPr>
            </a:br>
            <a:br>
              <a:rPr lang="en-US" sz="1200" dirty="0">
                <a:latin typeface="Calibri" panose="020F0502020204030204" pitchFamily="34" charset="0"/>
                <a:ea typeface="Calibri" panose="020F0502020204030204" pitchFamily="34" charset="0"/>
                <a:cs typeface="Calibri" panose="020F0502020204030204" pitchFamily="34" charset="0"/>
              </a:rPr>
            </a:br>
            <a:br>
              <a:rPr lang="en-US" sz="1200" dirty="0">
                <a:latin typeface="Calibri" panose="020F0502020204030204" pitchFamily="34" charset="0"/>
                <a:ea typeface="Calibri" panose="020F0502020204030204" pitchFamily="34" charset="0"/>
                <a:cs typeface="Calibri" panose="020F0502020204030204" pitchFamily="34" charset="0"/>
              </a:rPr>
            </a:br>
            <a:br>
              <a:rPr lang="en-US" sz="1200" dirty="0">
                <a:latin typeface="Calibri" panose="020F0502020204030204" pitchFamily="34" charset="0"/>
                <a:ea typeface="Calibri" panose="020F0502020204030204" pitchFamily="34" charset="0"/>
                <a:cs typeface="Calibri" panose="020F0502020204030204" pitchFamily="34" charset="0"/>
              </a:rPr>
            </a:br>
            <a:br>
              <a:rPr lang="en-US" sz="1200" dirty="0">
                <a:latin typeface="Calibri" panose="020F0502020204030204" pitchFamily="34" charset="0"/>
                <a:ea typeface="Calibri" panose="020F0502020204030204" pitchFamily="34" charset="0"/>
                <a:cs typeface="Calibri" panose="020F0502020204030204" pitchFamily="34" charset="0"/>
              </a:rPr>
            </a:br>
            <a:br>
              <a:rPr lang="en-US" sz="1200" dirty="0">
                <a:latin typeface="Calibri" panose="020F0502020204030204" pitchFamily="34" charset="0"/>
                <a:ea typeface="Calibri" panose="020F0502020204030204" pitchFamily="34" charset="0"/>
                <a:cs typeface="Calibri" panose="020F0502020204030204" pitchFamily="34" charset="0"/>
              </a:rPr>
            </a:br>
            <a:endParaRPr lang="en-US" sz="1200" dirty="0">
              <a:latin typeface="Calibri" panose="020F0502020204030204" pitchFamily="34" charset="0"/>
              <a:ea typeface="Calibri" panose="020F0502020204030204" pitchFamily="34" charset="0"/>
              <a:cs typeface="Calibri" panose="020F0502020204030204" pitchFamily="34" charset="0"/>
            </a:endParaRPr>
          </a:p>
          <a:p>
            <a:r>
              <a:rPr lang="en-US" sz="1200" b="1" dirty="0">
                <a:latin typeface="Calibri" panose="020F0502020204030204" pitchFamily="34" charset="0"/>
                <a:ea typeface="Calibri" panose="020F0502020204030204" pitchFamily="34" charset="0"/>
                <a:cs typeface="Calibri" panose="020F0502020204030204" pitchFamily="34" charset="0"/>
              </a:rPr>
              <a:t>Replace null or missing </a:t>
            </a:r>
            <a:r>
              <a:rPr lang="en-US" sz="1200" b="1" dirty="0" err="1">
                <a:latin typeface="Calibri" panose="020F0502020204030204" pitchFamily="34" charset="0"/>
                <a:ea typeface="Calibri" panose="020F0502020204030204" pitchFamily="34" charset="0"/>
                <a:cs typeface="Calibri" panose="020F0502020204030204" pitchFamily="34" charset="0"/>
              </a:rPr>
              <a:t>Delay_Hours</a:t>
            </a:r>
            <a:r>
              <a:rPr lang="en-US" sz="1200" b="1" dirty="0">
                <a:latin typeface="Calibri" panose="020F0502020204030204" pitchFamily="34" charset="0"/>
                <a:ea typeface="Calibri" panose="020F0502020204030204" pitchFamily="34" charset="0"/>
                <a:cs typeface="Calibri" panose="020F0502020204030204" pitchFamily="34" charset="0"/>
              </a:rPr>
              <a:t> values in the Shipments Table with the average delay for that </a:t>
            </a:r>
            <a:r>
              <a:rPr lang="en-US" sz="1200" b="1" dirty="0" err="1">
                <a:latin typeface="Calibri" panose="020F0502020204030204" pitchFamily="34" charset="0"/>
                <a:ea typeface="Calibri" panose="020F0502020204030204" pitchFamily="34" charset="0"/>
                <a:cs typeface="Calibri" panose="020F0502020204030204" pitchFamily="34" charset="0"/>
              </a:rPr>
              <a:t>Route_ID</a:t>
            </a:r>
            <a:r>
              <a:rPr lang="en-US" sz="1200" b="1" dirty="0">
                <a:latin typeface="Calibri" panose="020F0502020204030204" pitchFamily="34" charset="0"/>
                <a:ea typeface="Calibri" panose="020F0502020204030204" pitchFamily="34" charset="0"/>
                <a:cs typeface="Calibri" panose="020F0502020204030204" pitchFamily="34" charset="0"/>
              </a:rPr>
              <a:t>.</a:t>
            </a:r>
            <a:br>
              <a:rPr lang="en-US" sz="1200" b="1" dirty="0">
                <a:latin typeface="Calibri" panose="020F0502020204030204" pitchFamily="34" charset="0"/>
                <a:ea typeface="Calibri" panose="020F0502020204030204" pitchFamily="34" charset="0"/>
                <a:cs typeface="Calibri" panose="020F0502020204030204" pitchFamily="34" charset="0"/>
              </a:rPr>
            </a:br>
            <a:br>
              <a:rPr lang="en-US" sz="1200" b="1" dirty="0">
                <a:latin typeface="Calibri" panose="020F0502020204030204" pitchFamily="34" charset="0"/>
                <a:ea typeface="Calibri" panose="020F0502020204030204" pitchFamily="34" charset="0"/>
                <a:cs typeface="Calibri" panose="020F0502020204030204" pitchFamily="34" charset="0"/>
              </a:rPr>
            </a:br>
            <a:r>
              <a:rPr lang="en-US" sz="1200" dirty="0">
                <a:latin typeface="Calibri" panose="020F0502020204030204" pitchFamily="34" charset="0"/>
                <a:ea typeface="Calibri" panose="020F0502020204030204" pitchFamily="34" charset="0"/>
                <a:cs typeface="Calibri" panose="020F0502020204030204" pitchFamily="34" charset="0"/>
              </a:rPr>
              <a:t>select </a:t>
            </a:r>
            <a:r>
              <a:rPr lang="en-US" sz="1200" dirty="0" err="1">
                <a:latin typeface="Calibri" panose="020F0502020204030204" pitchFamily="34" charset="0"/>
                <a:ea typeface="Calibri" panose="020F0502020204030204" pitchFamily="34" charset="0"/>
                <a:cs typeface="Calibri" panose="020F0502020204030204" pitchFamily="34" charset="0"/>
              </a:rPr>
              <a:t>delay_hours</a:t>
            </a:r>
            <a:r>
              <a:rPr lang="en-US" sz="1200" dirty="0">
                <a:latin typeface="Calibri" panose="020F0502020204030204" pitchFamily="34" charset="0"/>
                <a:ea typeface="Calibri" panose="020F0502020204030204" pitchFamily="34" charset="0"/>
                <a:cs typeface="Calibri" panose="020F0502020204030204" pitchFamily="34" charset="0"/>
              </a:rPr>
              <a:t> from shipments;</a:t>
            </a:r>
            <a:br>
              <a:rPr lang="en-US" sz="1200" dirty="0">
                <a:latin typeface="Calibri" panose="020F0502020204030204" pitchFamily="34" charset="0"/>
                <a:ea typeface="Calibri" panose="020F0502020204030204" pitchFamily="34" charset="0"/>
                <a:cs typeface="Calibri" panose="020F0502020204030204" pitchFamily="34" charset="0"/>
              </a:rPr>
            </a:br>
            <a:br>
              <a:rPr lang="en-US" sz="1200" dirty="0">
                <a:latin typeface="Calibri" panose="020F0502020204030204" pitchFamily="34" charset="0"/>
                <a:ea typeface="Calibri" panose="020F0502020204030204" pitchFamily="34" charset="0"/>
                <a:cs typeface="Calibri" panose="020F0502020204030204" pitchFamily="34" charset="0"/>
              </a:rPr>
            </a:br>
            <a:r>
              <a:rPr lang="en-US" sz="1200" dirty="0">
                <a:latin typeface="Calibri" panose="020F0502020204030204" pitchFamily="34" charset="0"/>
                <a:ea typeface="Calibri" panose="020F0502020204030204" pitchFamily="34" charset="0"/>
                <a:cs typeface="Calibri" panose="020F0502020204030204" pitchFamily="34" charset="0"/>
              </a:rPr>
              <a:t>UPDATE shipments </a:t>
            </a:r>
            <a:r>
              <a:rPr lang="en-US" sz="1200" dirty="0" err="1">
                <a:latin typeface="Calibri" panose="020F0502020204030204" pitchFamily="34" charset="0"/>
                <a:ea typeface="Calibri" panose="020F0502020204030204" pitchFamily="34" charset="0"/>
                <a:cs typeface="Calibri" panose="020F0502020204030204" pitchFamily="34" charset="0"/>
              </a:rPr>
              <a:t>shipJOIN</a:t>
            </a:r>
            <a:r>
              <a:rPr lang="en-US" sz="1200" dirty="0">
                <a:latin typeface="Calibri" panose="020F0502020204030204" pitchFamily="34" charset="0"/>
                <a:ea typeface="Calibri" panose="020F0502020204030204" pitchFamily="34" charset="0"/>
                <a:cs typeface="Calibri" panose="020F0502020204030204" pitchFamily="34" charset="0"/>
              </a:rPr>
              <a:t> (    SELECT </a:t>
            </a:r>
            <a:r>
              <a:rPr lang="en-US" sz="1200" dirty="0" err="1">
                <a:latin typeface="Calibri" panose="020F0502020204030204" pitchFamily="34" charset="0"/>
                <a:ea typeface="Calibri" panose="020F0502020204030204" pitchFamily="34" charset="0"/>
                <a:cs typeface="Calibri" panose="020F0502020204030204" pitchFamily="34" charset="0"/>
              </a:rPr>
              <a:t>Route_ID</a:t>
            </a:r>
            <a:r>
              <a:rPr lang="en-US" sz="1200" dirty="0">
                <a:latin typeface="Calibri" panose="020F0502020204030204" pitchFamily="34" charset="0"/>
                <a:ea typeface="Calibri" panose="020F0502020204030204" pitchFamily="34" charset="0"/>
                <a:cs typeface="Calibri" panose="020F0502020204030204" pitchFamily="34" charset="0"/>
              </a:rPr>
              <a:t>, AVG(</a:t>
            </a:r>
            <a:r>
              <a:rPr lang="en-US" sz="1200" dirty="0" err="1">
                <a:latin typeface="Calibri" panose="020F0502020204030204" pitchFamily="34" charset="0"/>
                <a:ea typeface="Calibri" panose="020F0502020204030204" pitchFamily="34" charset="0"/>
                <a:cs typeface="Calibri" panose="020F0502020204030204" pitchFamily="34" charset="0"/>
              </a:rPr>
              <a:t>Delay_Hours</a:t>
            </a:r>
            <a:r>
              <a:rPr lang="en-US" sz="1200" dirty="0">
                <a:latin typeface="Calibri" panose="020F0502020204030204" pitchFamily="34" charset="0"/>
                <a:ea typeface="Calibri" panose="020F0502020204030204" pitchFamily="34" charset="0"/>
                <a:cs typeface="Calibri" panose="020F0502020204030204" pitchFamily="34" charset="0"/>
              </a:rPr>
              <a:t>) AS </a:t>
            </a:r>
            <a:r>
              <a:rPr lang="en-US" sz="1200" dirty="0" err="1">
                <a:latin typeface="Calibri" panose="020F0502020204030204" pitchFamily="34" charset="0"/>
                <a:ea typeface="Calibri" panose="020F0502020204030204" pitchFamily="34" charset="0"/>
                <a:cs typeface="Calibri" panose="020F0502020204030204" pitchFamily="34" charset="0"/>
              </a:rPr>
              <a:t>avg_delay</a:t>
            </a:r>
            <a:r>
              <a:rPr lang="en-US" sz="1200" dirty="0">
                <a:latin typeface="Calibri" panose="020F0502020204030204" pitchFamily="34" charset="0"/>
                <a:ea typeface="Calibri" panose="020F0502020204030204" pitchFamily="34" charset="0"/>
                <a:cs typeface="Calibri" panose="020F0502020204030204" pitchFamily="34" charset="0"/>
              </a:rPr>
              <a:t>    FROM shipments    WHERE </a:t>
            </a:r>
            <a:r>
              <a:rPr lang="en-US" sz="1200" dirty="0" err="1">
                <a:latin typeface="Calibri" panose="020F0502020204030204" pitchFamily="34" charset="0"/>
                <a:ea typeface="Calibri" panose="020F0502020204030204" pitchFamily="34" charset="0"/>
                <a:cs typeface="Calibri" panose="020F0502020204030204" pitchFamily="34" charset="0"/>
              </a:rPr>
              <a:t>Delay_Hours</a:t>
            </a:r>
            <a:r>
              <a:rPr lang="en-US" sz="1200" dirty="0">
                <a:latin typeface="Calibri" panose="020F0502020204030204" pitchFamily="34" charset="0"/>
                <a:ea typeface="Calibri" panose="020F0502020204030204" pitchFamily="34" charset="0"/>
                <a:cs typeface="Calibri" panose="020F0502020204030204" pitchFamily="34" charset="0"/>
              </a:rPr>
              <a:t> IS NOT NULL    GROUP BY </a:t>
            </a:r>
            <a:r>
              <a:rPr lang="en-US" sz="1200" dirty="0" err="1">
                <a:latin typeface="Calibri" panose="020F0502020204030204" pitchFamily="34" charset="0"/>
                <a:ea typeface="Calibri" panose="020F0502020204030204" pitchFamily="34" charset="0"/>
                <a:cs typeface="Calibri" panose="020F0502020204030204" pitchFamily="34" charset="0"/>
              </a:rPr>
              <a:t>Route_ID</a:t>
            </a:r>
            <a:r>
              <a:rPr lang="en-US" sz="1200" dirty="0">
                <a:latin typeface="Calibri" panose="020F0502020204030204" pitchFamily="34" charset="0"/>
                <a:ea typeface="Calibri" panose="020F0502020204030204" pitchFamily="34" charset="0"/>
                <a:cs typeface="Calibri" panose="020F0502020204030204" pitchFamily="34" charset="0"/>
              </a:rPr>
              <a:t>) </a:t>
            </a:r>
            <a:r>
              <a:rPr lang="en-US" sz="1200" dirty="0" err="1">
                <a:latin typeface="Calibri" panose="020F0502020204030204" pitchFamily="34" charset="0"/>
                <a:ea typeface="Calibri" panose="020F0502020204030204" pitchFamily="34" charset="0"/>
                <a:cs typeface="Calibri" panose="020F0502020204030204" pitchFamily="34" charset="0"/>
              </a:rPr>
              <a:t>routeON</a:t>
            </a:r>
            <a:r>
              <a:rPr lang="en-US" sz="1200" dirty="0">
                <a:latin typeface="Calibri" panose="020F0502020204030204" pitchFamily="34" charset="0"/>
                <a:ea typeface="Calibri" panose="020F0502020204030204" pitchFamily="34" charset="0"/>
                <a:cs typeface="Calibri" panose="020F0502020204030204" pitchFamily="34" charset="0"/>
              </a:rPr>
              <a:t> </a:t>
            </a:r>
            <a:r>
              <a:rPr lang="en-US" sz="1200" dirty="0" err="1">
                <a:latin typeface="Calibri" panose="020F0502020204030204" pitchFamily="34" charset="0"/>
                <a:ea typeface="Calibri" panose="020F0502020204030204" pitchFamily="34" charset="0"/>
                <a:cs typeface="Calibri" panose="020F0502020204030204" pitchFamily="34" charset="0"/>
              </a:rPr>
              <a:t>ship.Route_ID</a:t>
            </a:r>
            <a:r>
              <a:rPr lang="en-US" sz="1200" dirty="0">
                <a:latin typeface="Calibri" panose="020F0502020204030204" pitchFamily="34" charset="0"/>
                <a:ea typeface="Calibri" panose="020F0502020204030204" pitchFamily="34" charset="0"/>
                <a:cs typeface="Calibri" panose="020F0502020204030204" pitchFamily="34" charset="0"/>
              </a:rPr>
              <a:t> = </a:t>
            </a:r>
            <a:r>
              <a:rPr lang="en-US" sz="1200" dirty="0" err="1">
                <a:latin typeface="Calibri" panose="020F0502020204030204" pitchFamily="34" charset="0"/>
                <a:ea typeface="Calibri" panose="020F0502020204030204" pitchFamily="34" charset="0"/>
                <a:cs typeface="Calibri" panose="020F0502020204030204" pitchFamily="34" charset="0"/>
              </a:rPr>
              <a:t>route.Route_IDSET</a:t>
            </a:r>
            <a:r>
              <a:rPr lang="en-US" sz="1200" dirty="0">
                <a:latin typeface="Calibri" panose="020F0502020204030204" pitchFamily="34" charset="0"/>
                <a:ea typeface="Calibri" panose="020F0502020204030204" pitchFamily="34" charset="0"/>
                <a:cs typeface="Calibri" panose="020F0502020204030204" pitchFamily="34" charset="0"/>
              </a:rPr>
              <a:t> </a:t>
            </a:r>
            <a:r>
              <a:rPr lang="en-US" sz="1200" dirty="0" err="1">
                <a:latin typeface="Calibri" panose="020F0502020204030204" pitchFamily="34" charset="0"/>
                <a:ea typeface="Calibri" panose="020F0502020204030204" pitchFamily="34" charset="0"/>
                <a:cs typeface="Calibri" panose="020F0502020204030204" pitchFamily="34" charset="0"/>
              </a:rPr>
              <a:t>ship.Delay_Hours</a:t>
            </a:r>
            <a:r>
              <a:rPr lang="en-US" sz="1200" dirty="0">
                <a:latin typeface="Calibri" panose="020F0502020204030204" pitchFamily="34" charset="0"/>
                <a:ea typeface="Calibri" panose="020F0502020204030204" pitchFamily="34" charset="0"/>
                <a:cs typeface="Calibri" panose="020F0502020204030204" pitchFamily="34" charset="0"/>
              </a:rPr>
              <a:t> = </a:t>
            </a:r>
            <a:r>
              <a:rPr lang="en-US" sz="1200" dirty="0" err="1">
                <a:latin typeface="Calibri" panose="020F0502020204030204" pitchFamily="34" charset="0"/>
                <a:ea typeface="Calibri" panose="020F0502020204030204" pitchFamily="34" charset="0"/>
                <a:cs typeface="Calibri" panose="020F0502020204030204" pitchFamily="34" charset="0"/>
              </a:rPr>
              <a:t>route.avg_delayWHERE</a:t>
            </a:r>
            <a:r>
              <a:rPr lang="en-US" sz="1200" dirty="0">
                <a:latin typeface="Calibri" panose="020F0502020204030204" pitchFamily="34" charset="0"/>
                <a:ea typeface="Calibri" panose="020F0502020204030204" pitchFamily="34" charset="0"/>
                <a:cs typeface="Calibri" panose="020F0502020204030204" pitchFamily="34" charset="0"/>
              </a:rPr>
              <a:t> </a:t>
            </a:r>
            <a:r>
              <a:rPr lang="en-US" sz="1200" dirty="0" err="1">
                <a:latin typeface="Calibri" panose="020F0502020204030204" pitchFamily="34" charset="0"/>
                <a:ea typeface="Calibri" panose="020F0502020204030204" pitchFamily="34" charset="0"/>
                <a:cs typeface="Calibri" panose="020F0502020204030204" pitchFamily="34" charset="0"/>
              </a:rPr>
              <a:t>ship.Delay_Hours</a:t>
            </a:r>
            <a:r>
              <a:rPr lang="en-US" sz="1200" dirty="0">
                <a:latin typeface="Calibri" panose="020F0502020204030204" pitchFamily="34" charset="0"/>
                <a:ea typeface="Calibri" panose="020F0502020204030204" pitchFamily="34" charset="0"/>
                <a:cs typeface="Calibri" panose="020F0502020204030204" pitchFamily="34" charset="0"/>
              </a:rPr>
              <a:t> IS NULL;</a:t>
            </a:r>
            <a:br>
              <a:rPr lang="en-US" sz="1200" dirty="0">
                <a:latin typeface="Calibri" panose="020F0502020204030204" pitchFamily="34" charset="0"/>
                <a:ea typeface="Calibri" panose="020F0502020204030204" pitchFamily="34" charset="0"/>
                <a:cs typeface="Calibri" panose="020F0502020204030204" pitchFamily="34" charset="0"/>
              </a:rPr>
            </a:br>
            <a:br>
              <a:rPr lang="en-US" sz="1200" dirty="0">
                <a:latin typeface="Calibri" panose="020F0502020204030204" pitchFamily="34" charset="0"/>
                <a:ea typeface="Calibri" panose="020F0502020204030204" pitchFamily="34" charset="0"/>
                <a:cs typeface="Calibri" panose="020F0502020204030204" pitchFamily="34" charset="0"/>
              </a:rPr>
            </a:br>
            <a:r>
              <a:rPr lang="en-US" sz="1200" dirty="0">
                <a:latin typeface="Calibri" panose="020F0502020204030204" pitchFamily="34" charset="0"/>
                <a:ea typeface="Calibri" panose="020F0502020204030204" pitchFamily="34" charset="0"/>
                <a:cs typeface="Calibri" panose="020F0502020204030204" pitchFamily="34" charset="0"/>
              </a:rPr>
              <a:t>All NULL values were successfully removed</a:t>
            </a:r>
          </a:p>
        </p:txBody>
      </p:sp>
      <p:pic>
        <p:nvPicPr>
          <p:cNvPr id="7" name="Picture 6">
            <a:extLst>
              <a:ext uri="{FF2B5EF4-FFF2-40B4-BE49-F238E27FC236}">
                <a16:creationId xmlns:a16="http://schemas.microsoft.com/office/drawing/2014/main" id="{EF72F19F-4182-45A6-A824-77D400C3B3FD}"/>
              </a:ext>
            </a:extLst>
          </p:cNvPr>
          <p:cNvPicPr>
            <a:picLocks noChangeAspect="1"/>
          </p:cNvPicPr>
          <p:nvPr/>
        </p:nvPicPr>
        <p:blipFill rotWithShape="1">
          <a:blip r:embed="rId2"/>
          <a:srcRect r="-440" b="20833"/>
          <a:stretch/>
        </p:blipFill>
        <p:spPr>
          <a:xfrm>
            <a:off x="883738" y="2241700"/>
            <a:ext cx="2172003" cy="724001"/>
          </a:xfrm>
          <a:prstGeom prst="rect">
            <a:avLst/>
          </a:prstGeom>
        </p:spPr>
      </p:pic>
      <p:pic>
        <p:nvPicPr>
          <p:cNvPr id="9" name="Picture 8">
            <a:extLst>
              <a:ext uri="{FF2B5EF4-FFF2-40B4-BE49-F238E27FC236}">
                <a16:creationId xmlns:a16="http://schemas.microsoft.com/office/drawing/2014/main" id="{1119FFE4-0118-4B3E-BB64-44B37BBA988E}"/>
              </a:ext>
            </a:extLst>
          </p:cNvPr>
          <p:cNvPicPr>
            <a:picLocks noChangeAspect="1"/>
          </p:cNvPicPr>
          <p:nvPr/>
        </p:nvPicPr>
        <p:blipFill>
          <a:blip r:embed="rId3"/>
          <a:stretch>
            <a:fillRect/>
          </a:stretch>
        </p:blipFill>
        <p:spPr>
          <a:xfrm>
            <a:off x="3831902" y="2241700"/>
            <a:ext cx="2172003" cy="724001"/>
          </a:xfrm>
          <a:prstGeom prst="rect">
            <a:avLst/>
          </a:prstGeom>
        </p:spPr>
      </p:pic>
    </p:spTree>
    <p:extLst>
      <p:ext uri="{BB962C8B-B14F-4D97-AF65-F5344CB8AC3E}">
        <p14:creationId xmlns:p14="http://schemas.microsoft.com/office/powerpoint/2010/main" val="28777622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642A758-CD1E-4D0E-93F3-09ED180C661A}"/>
              </a:ext>
            </a:extLst>
          </p:cNvPr>
          <p:cNvSpPr>
            <a:spLocks noGrp="1"/>
          </p:cNvSpPr>
          <p:nvPr>
            <p:ph type="body" idx="1"/>
          </p:nvPr>
        </p:nvSpPr>
        <p:spPr>
          <a:xfrm>
            <a:off x="107577" y="140550"/>
            <a:ext cx="8702936" cy="4926302"/>
          </a:xfrm>
        </p:spPr>
        <p:txBody>
          <a:bodyPr/>
          <a:lstStyle/>
          <a:p>
            <a:r>
              <a:rPr lang="en-US" sz="1200" b="1" dirty="0">
                <a:latin typeface="Calibri" panose="020F0502020204030204" pitchFamily="34" charset="0"/>
                <a:ea typeface="Calibri" panose="020F0502020204030204" pitchFamily="34" charset="0"/>
                <a:cs typeface="Calibri" panose="020F0502020204030204" pitchFamily="34" charset="0"/>
              </a:rPr>
              <a:t>Convert all date columns (</a:t>
            </a:r>
            <a:r>
              <a:rPr lang="en-US" sz="1200" b="1" dirty="0" err="1">
                <a:latin typeface="Calibri" panose="020F0502020204030204" pitchFamily="34" charset="0"/>
                <a:ea typeface="Calibri" panose="020F0502020204030204" pitchFamily="34" charset="0"/>
                <a:cs typeface="Calibri" panose="020F0502020204030204" pitchFamily="34" charset="0"/>
              </a:rPr>
              <a:t>Order_Date</a:t>
            </a:r>
            <a:r>
              <a:rPr lang="en-US" sz="1200" b="1" dirty="0">
                <a:latin typeface="Calibri" panose="020F0502020204030204" pitchFamily="34" charset="0"/>
                <a:ea typeface="Calibri" panose="020F0502020204030204" pitchFamily="34" charset="0"/>
                <a:cs typeface="Calibri" panose="020F0502020204030204" pitchFamily="34" charset="0"/>
              </a:rPr>
              <a:t>, </a:t>
            </a:r>
            <a:r>
              <a:rPr lang="en-US" sz="1200" b="1" dirty="0" err="1">
                <a:latin typeface="Calibri" panose="020F0502020204030204" pitchFamily="34" charset="0"/>
                <a:ea typeface="Calibri" panose="020F0502020204030204" pitchFamily="34" charset="0"/>
                <a:cs typeface="Calibri" panose="020F0502020204030204" pitchFamily="34" charset="0"/>
              </a:rPr>
              <a:t>Pickup_Date</a:t>
            </a:r>
            <a:r>
              <a:rPr lang="en-US" sz="1200" b="1" dirty="0">
                <a:latin typeface="Calibri" panose="020F0502020204030204" pitchFamily="34" charset="0"/>
                <a:ea typeface="Calibri" panose="020F0502020204030204" pitchFamily="34" charset="0"/>
                <a:cs typeface="Calibri" panose="020F0502020204030204" pitchFamily="34" charset="0"/>
              </a:rPr>
              <a:t>, </a:t>
            </a:r>
            <a:r>
              <a:rPr lang="en-US" sz="1200" b="1" dirty="0" err="1">
                <a:latin typeface="Calibri" panose="020F0502020204030204" pitchFamily="34" charset="0"/>
                <a:ea typeface="Calibri" panose="020F0502020204030204" pitchFamily="34" charset="0"/>
                <a:cs typeface="Calibri" panose="020F0502020204030204" pitchFamily="34" charset="0"/>
              </a:rPr>
              <a:t>Delivery_Date</a:t>
            </a:r>
            <a:r>
              <a:rPr lang="en-US" sz="1200" b="1" dirty="0">
                <a:latin typeface="Calibri" panose="020F0502020204030204" pitchFamily="34" charset="0"/>
                <a:ea typeface="Calibri" panose="020F0502020204030204" pitchFamily="34" charset="0"/>
                <a:cs typeface="Calibri" panose="020F0502020204030204" pitchFamily="34" charset="0"/>
              </a:rPr>
              <a:t>) into YYYY-MM-DD HH:MM:SS format using SQL date functions. </a:t>
            </a:r>
            <a:br>
              <a:rPr lang="en-US" sz="1200" dirty="0">
                <a:latin typeface="Calibri" panose="020F0502020204030204" pitchFamily="34" charset="0"/>
                <a:ea typeface="Calibri" panose="020F0502020204030204" pitchFamily="34" charset="0"/>
                <a:cs typeface="Calibri" panose="020F0502020204030204" pitchFamily="34" charset="0"/>
              </a:rPr>
            </a:br>
            <a:endParaRPr lang="en-US" sz="1200" dirty="0">
              <a:latin typeface="Calibri" panose="020F0502020204030204" pitchFamily="34" charset="0"/>
              <a:ea typeface="Calibri" panose="020F0502020204030204" pitchFamily="34" charset="0"/>
              <a:cs typeface="Calibri" panose="020F0502020204030204" pitchFamily="34" charset="0"/>
            </a:endParaRPr>
          </a:p>
          <a:p>
            <a:pPr marL="165100" indent="0">
              <a:buNone/>
            </a:pPr>
            <a:r>
              <a:rPr lang="en-US" sz="1200" b="1" u="sng" dirty="0">
                <a:latin typeface="Calibri" panose="020F0502020204030204" pitchFamily="34" charset="0"/>
                <a:ea typeface="Calibri" panose="020F0502020204030204" pitchFamily="34" charset="0"/>
                <a:cs typeface="Calibri" panose="020F0502020204030204" pitchFamily="34" charset="0"/>
              </a:rPr>
              <a:t>ORDERS TABLE :</a:t>
            </a:r>
          </a:p>
          <a:p>
            <a:pPr marL="165100" indent="0">
              <a:buNone/>
            </a:pPr>
            <a:br>
              <a:rPr lang="en-US" sz="1200" dirty="0">
                <a:latin typeface="Calibri" panose="020F0502020204030204" pitchFamily="34" charset="0"/>
                <a:ea typeface="Calibri" panose="020F0502020204030204" pitchFamily="34" charset="0"/>
                <a:cs typeface="Calibri" panose="020F0502020204030204" pitchFamily="34" charset="0"/>
              </a:rPr>
            </a:br>
            <a:r>
              <a:rPr lang="en-US" sz="1200" dirty="0">
                <a:latin typeface="Calibri" panose="020F0502020204030204" pitchFamily="34" charset="0"/>
                <a:ea typeface="Calibri" panose="020F0502020204030204" pitchFamily="34" charset="0"/>
                <a:cs typeface="Calibri" panose="020F0502020204030204" pitchFamily="34" charset="0"/>
              </a:rPr>
              <a:t>Select </a:t>
            </a:r>
            <a:r>
              <a:rPr lang="en-US" sz="1200" dirty="0" err="1">
                <a:latin typeface="Calibri" panose="020F0502020204030204" pitchFamily="34" charset="0"/>
                <a:ea typeface="Calibri" panose="020F0502020204030204" pitchFamily="34" charset="0"/>
                <a:cs typeface="Calibri" panose="020F0502020204030204" pitchFamily="34" charset="0"/>
              </a:rPr>
              <a:t>order_date</a:t>
            </a:r>
            <a:r>
              <a:rPr lang="en-US" sz="1200" dirty="0">
                <a:latin typeface="Calibri" panose="020F0502020204030204" pitchFamily="34" charset="0"/>
                <a:ea typeface="Calibri" panose="020F0502020204030204" pitchFamily="34" charset="0"/>
                <a:cs typeface="Calibri" panose="020F0502020204030204" pitchFamily="34" charset="0"/>
              </a:rPr>
              <a:t> from orders;</a:t>
            </a:r>
            <a:br>
              <a:rPr lang="en-US" sz="1200" dirty="0">
                <a:latin typeface="Calibri" panose="020F0502020204030204" pitchFamily="34" charset="0"/>
                <a:ea typeface="Calibri" panose="020F0502020204030204" pitchFamily="34" charset="0"/>
                <a:cs typeface="Calibri" panose="020F0502020204030204" pitchFamily="34" charset="0"/>
              </a:rPr>
            </a:br>
            <a:br>
              <a:rPr lang="en-US" sz="1200" dirty="0">
                <a:latin typeface="Calibri" panose="020F0502020204030204" pitchFamily="34" charset="0"/>
                <a:ea typeface="Calibri" panose="020F0502020204030204" pitchFamily="34" charset="0"/>
                <a:cs typeface="Calibri" panose="020F0502020204030204" pitchFamily="34" charset="0"/>
              </a:rPr>
            </a:br>
            <a:r>
              <a:rPr lang="en-US" sz="1200" dirty="0">
                <a:latin typeface="Calibri" panose="020F0502020204030204" pitchFamily="34" charset="0"/>
                <a:ea typeface="Calibri" panose="020F0502020204030204" pitchFamily="34" charset="0"/>
                <a:cs typeface="Calibri" panose="020F0502020204030204" pitchFamily="34" charset="0"/>
              </a:rPr>
              <a:t>UPDATE </a:t>
            </a:r>
            <a:r>
              <a:rPr lang="en-US" sz="1200" dirty="0" err="1">
                <a:latin typeface="Calibri" panose="020F0502020204030204" pitchFamily="34" charset="0"/>
                <a:ea typeface="Calibri" panose="020F0502020204030204" pitchFamily="34" charset="0"/>
                <a:cs typeface="Calibri" panose="020F0502020204030204" pitchFamily="34" charset="0"/>
              </a:rPr>
              <a:t>ordersSET</a:t>
            </a:r>
            <a:r>
              <a:rPr lang="en-US" sz="1200" dirty="0">
                <a:latin typeface="Calibri" panose="020F0502020204030204" pitchFamily="34" charset="0"/>
                <a:ea typeface="Calibri" panose="020F0502020204030204" pitchFamily="34" charset="0"/>
                <a:cs typeface="Calibri" panose="020F0502020204030204" pitchFamily="34" charset="0"/>
              </a:rPr>
              <a:t> </a:t>
            </a:r>
            <a:r>
              <a:rPr lang="en-US" sz="1200" dirty="0" err="1">
                <a:latin typeface="Calibri" panose="020F0502020204030204" pitchFamily="34" charset="0"/>
                <a:ea typeface="Calibri" panose="020F0502020204030204" pitchFamily="34" charset="0"/>
                <a:cs typeface="Calibri" panose="020F0502020204030204" pitchFamily="34" charset="0"/>
              </a:rPr>
              <a:t>Order_Date</a:t>
            </a:r>
            <a:r>
              <a:rPr lang="en-US" sz="1200" dirty="0">
                <a:latin typeface="Calibri" panose="020F0502020204030204" pitchFamily="34" charset="0"/>
                <a:ea typeface="Calibri" panose="020F0502020204030204" pitchFamily="34" charset="0"/>
                <a:cs typeface="Calibri" panose="020F0502020204030204" pitchFamily="34" charset="0"/>
              </a:rPr>
              <a:t> = STR_TO_DATE(</a:t>
            </a:r>
            <a:r>
              <a:rPr lang="en-US" sz="1200" dirty="0" err="1">
                <a:latin typeface="Calibri" panose="020F0502020204030204" pitchFamily="34" charset="0"/>
                <a:ea typeface="Calibri" panose="020F0502020204030204" pitchFamily="34" charset="0"/>
                <a:cs typeface="Calibri" panose="020F0502020204030204" pitchFamily="34" charset="0"/>
              </a:rPr>
              <a:t>Order_Date</a:t>
            </a:r>
            <a:r>
              <a:rPr lang="en-US" sz="1200" dirty="0">
                <a:latin typeface="Calibri" panose="020F0502020204030204" pitchFamily="34" charset="0"/>
                <a:ea typeface="Calibri" panose="020F0502020204030204" pitchFamily="34" charset="0"/>
                <a:cs typeface="Calibri" panose="020F0502020204030204" pitchFamily="34" charset="0"/>
              </a:rPr>
              <a:t>, '%Y-%m-%d %H:%</a:t>
            </a:r>
            <a:r>
              <a:rPr lang="en-US" sz="1200" dirty="0" err="1">
                <a:latin typeface="Calibri" panose="020F0502020204030204" pitchFamily="34" charset="0"/>
                <a:ea typeface="Calibri" panose="020F0502020204030204" pitchFamily="34" charset="0"/>
                <a:cs typeface="Calibri" panose="020F0502020204030204" pitchFamily="34" charset="0"/>
              </a:rPr>
              <a:t>i</a:t>
            </a:r>
            <a:r>
              <a:rPr lang="en-US" sz="1200" dirty="0">
                <a:latin typeface="Calibri" panose="020F0502020204030204" pitchFamily="34" charset="0"/>
                <a:ea typeface="Calibri" panose="020F0502020204030204" pitchFamily="34" charset="0"/>
                <a:cs typeface="Calibri" panose="020F0502020204030204" pitchFamily="34" charset="0"/>
              </a:rPr>
              <a:t>:%s')WHERE </a:t>
            </a:r>
            <a:r>
              <a:rPr lang="en-US" sz="1200" dirty="0" err="1">
                <a:latin typeface="Calibri" panose="020F0502020204030204" pitchFamily="34" charset="0"/>
                <a:ea typeface="Calibri" panose="020F0502020204030204" pitchFamily="34" charset="0"/>
                <a:cs typeface="Calibri" panose="020F0502020204030204" pitchFamily="34" charset="0"/>
              </a:rPr>
              <a:t>Order_Date</a:t>
            </a:r>
            <a:r>
              <a:rPr lang="en-US" sz="1200" dirty="0">
                <a:latin typeface="Calibri" panose="020F0502020204030204" pitchFamily="34" charset="0"/>
                <a:ea typeface="Calibri" panose="020F0502020204030204" pitchFamily="34" charset="0"/>
                <a:cs typeface="Calibri" panose="020F0502020204030204" pitchFamily="34" charset="0"/>
              </a:rPr>
              <a:t> IS NOT NULL;</a:t>
            </a:r>
            <a:br>
              <a:rPr lang="en-US" sz="1200" dirty="0">
                <a:latin typeface="Calibri" panose="020F0502020204030204" pitchFamily="34" charset="0"/>
                <a:ea typeface="Calibri" panose="020F0502020204030204" pitchFamily="34" charset="0"/>
                <a:cs typeface="Calibri" panose="020F0502020204030204" pitchFamily="34" charset="0"/>
              </a:rPr>
            </a:br>
            <a:br>
              <a:rPr lang="en-US" sz="1200" dirty="0">
                <a:latin typeface="Calibri" panose="020F0502020204030204" pitchFamily="34" charset="0"/>
                <a:ea typeface="Calibri" panose="020F0502020204030204" pitchFamily="34" charset="0"/>
                <a:cs typeface="Calibri" panose="020F0502020204030204" pitchFamily="34" charset="0"/>
              </a:rPr>
            </a:br>
            <a:r>
              <a:rPr lang="en-US" sz="1200" dirty="0">
                <a:latin typeface="Calibri" panose="020F0502020204030204" pitchFamily="34" charset="0"/>
                <a:ea typeface="Calibri" panose="020F0502020204030204" pitchFamily="34" charset="0"/>
                <a:cs typeface="Calibri" panose="020F0502020204030204" pitchFamily="34" charset="0"/>
              </a:rPr>
              <a:t>ALTER TABLE </a:t>
            </a:r>
            <a:r>
              <a:rPr lang="en-US" sz="1200" dirty="0" err="1">
                <a:latin typeface="Calibri" panose="020F0502020204030204" pitchFamily="34" charset="0"/>
                <a:ea typeface="Calibri" panose="020F0502020204030204" pitchFamily="34" charset="0"/>
                <a:cs typeface="Calibri" panose="020F0502020204030204" pitchFamily="34" charset="0"/>
              </a:rPr>
              <a:t>ordersMODIFY</a:t>
            </a:r>
            <a:r>
              <a:rPr lang="en-US" sz="1200" dirty="0">
                <a:latin typeface="Calibri" panose="020F0502020204030204" pitchFamily="34" charset="0"/>
                <a:ea typeface="Calibri" panose="020F0502020204030204" pitchFamily="34" charset="0"/>
                <a:cs typeface="Calibri" panose="020F0502020204030204" pitchFamily="34" charset="0"/>
              </a:rPr>
              <a:t> </a:t>
            </a:r>
            <a:r>
              <a:rPr lang="en-US" sz="1200" dirty="0" err="1">
                <a:latin typeface="Calibri" panose="020F0502020204030204" pitchFamily="34" charset="0"/>
                <a:ea typeface="Calibri" panose="020F0502020204030204" pitchFamily="34" charset="0"/>
                <a:cs typeface="Calibri" panose="020F0502020204030204" pitchFamily="34" charset="0"/>
              </a:rPr>
              <a:t>Order_Date</a:t>
            </a:r>
            <a:r>
              <a:rPr lang="en-US" sz="1200" dirty="0">
                <a:latin typeface="Calibri" panose="020F0502020204030204" pitchFamily="34" charset="0"/>
                <a:ea typeface="Calibri" panose="020F0502020204030204" pitchFamily="34" charset="0"/>
                <a:cs typeface="Calibri" panose="020F0502020204030204" pitchFamily="34" charset="0"/>
              </a:rPr>
              <a:t> DATETIME;</a:t>
            </a:r>
          </a:p>
          <a:p>
            <a:pPr marL="165100" indent="0">
              <a:buNone/>
            </a:pPr>
            <a:br>
              <a:rPr lang="en-US" sz="1200" dirty="0">
                <a:latin typeface="Calibri" panose="020F0502020204030204" pitchFamily="34" charset="0"/>
                <a:ea typeface="Calibri" panose="020F0502020204030204" pitchFamily="34" charset="0"/>
                <a:cs typeface="Calibri" panose="020F0502020204030204" pitchFamily="34" charset="0"/>
              </a:rPr>
            </a:br>
            <a:r>
              <a:rPr lang="en-US" sz="1200" dirty="0">
                <a:latin typeface="Calibri" panose="020F0502020204030204" pitchFamily="34" charset="0"/>
                <a:ea typeface="Calibri" panose="020F0502020204030204" pitchFamily="34" charset="0"/>
                <a:cs typeface="Calibri" panose="020F0502020204030204" pitchFamily="34" charset="0"/>
              </a:rPr>
              <a:t>         desc orders;</a:t>
            </a:r>
            <a:br>
              <a:rPr lang="en-US" sz="1200" dirty="0">
                <a:latin typeface="Calibri" panose="020F0502020204030204" pitchFamily="34" charset="0"/>
                <a:ea typeface="Calibri" panose="020F0502020204030204" pitchFamily="34" charset="0"/>
                <a:cs typeface="Calibri" panose="020F0502020204030204" pitchFamily="34" charset="0"/>
              </a:rPr>
            </a:br>
            <a:endParaRPr lang="en-US" sz="1200" dirty="0">
              <a:latin typeface="Calibri" panose="020F0502020204030204" pitchFamily="34" charset="0"/>
              <a:ea typeface="Calibri" panose="020F0502020204030204" pitchFamily="34" charset="0"/>
              <a:cs typeface="Calibri" panose="020F0502020204030204" pitchFamily="34" charset="0"/>
            </a:endParaRPr>
          </a:p>
          <a:p>
            <a:endParaRPr lang="en-US" sz="1200" dirty="0">
              <a:latin typeface="Calibri" panose="020F0502020204030204" pitchFamily="34" charset="0"/>
              <a:ea typeface="Calibri" panose="020F0502020204030204" pitchFamily="34" charset="0"/>
              <a:cs typeface="Calibri" panose="020F0502020204030204" pitchFamily="34" charset="0"/>
            </a:endParaRPr>
          </a:p>
          <a:p>
            <a:pPr marL="165100" indent="0">
              <a:buNone/>
            </a:pPr>
            <a:endParaRPr lang="en-US" sz="1200" dirty="0">
              <a:latin typeface="Calibri" panose="020F0502020204030204" pitchFamily="34" charset="0"/>
              <a:ea typeface="Calibri" panose="020F0502020204030204" pitchFamily="34" charset="0"/>
              <a:cs typeface="Calibri" panose="020F0502020204030204" pitchFamily="34" charset="0"/>
            </a:endParaRPr>
          </a:p>
          <a:p>
            <a:pPr marL="165100" indent="0">
              <a:buNone/>
            </a:pPr>
            <a:endParaRPr lang="en-US" sz="1200" dirty="0">
              <a:latin typeface="Calibri" panose="020F0502020204030204" pitchFamily="34" charset="0"/>
              <a:ea typeface="Calibri" panose="020F0502020204030204" pitchFamily="34" charset="0"/>
              <a:cs typeface="Calibri" panose="020F0502020204030204" pitchFamily="34" charset="0"/>
            </a:endParaRPr>
          </a:p>
          <a:p>
            <a:pPr marL="165100" indent="0">
              <a:buNone/>
            </a:pPr>
            <a:br>
              <a:rPr lang="en-US" sz="1200" u="sng" dirty="0">
                <a:latin typeface="Calibri" panose="020F0502020204030204" pitchFamily="34" charset="0"/>
                <a:ea typeface="Calibri" panose="020F0502020204030204" pitchFamily="34" charset="0"/>
                <a:cs typeface="Calibri" panose="020F0502020204030204" pitchFamily="34" charset="0"/>
              </a:rPr>
            </a:br>
            <a:r>
              <a:rPr lang="en-US" sz="1200" b="1" u="sng" dirty="0">
                <a:latin typeface="Calibri" panose="020F0502020204030204" pitchFamily="34" charset="0"/>
                <a:ea typeface="Calibri" panose="020F0502020204030204" pitchFamily="34" charset="0"/>
                <a:cs typeface="Calibri" panose="020F0502020204030204" pitchFamily="34" charset="0"/>
              </a:rPr>
              <a:t>SHIPMENTS TABLE :</a:t>
            </a:r>
          </a:p>
          <a:p>
            <a:pPr marL="165100" indent="0">
              <a:buNone/>
            </a:pPr>
            <a:br>
              <a:rPr lang="en-US" sz="1200" dirty="0">
                <a:latin typeface="Calibri" panose="020F0502020204030204" pitchFamily="34" charset="0"/>
                <a:ea typeface="Calibri" panose="020F0502020204030204" pitchFamily="34" charset="0"/>
                <a:cs typeface="Calibri" panose="020F0502020204030204" pitchFamily="34" charset="0"/>
              </a:rPr>
            </a:br>
            <a:r>
              <a:rPr lang="en-US" sz="1200" dirty="0">
                <a:latin typeface="Calibri" panose="020F0502020204030204" pitchFamily="34" charset="0"/>
                <a:ea typeface="Calibri" panose="020F0502020204030204" pitchFamily="34" charset="0"/>
                <a:cs typeface="Calibri" panose="020F0502020204030204" pitchFamily="34" charset="0"/>
              </a:rPr>
              <a:t>        UPDATE shipments SET    </a:t>
            </a:r>
            <a:r>
              <a:rPr lang="en-US" sz="1200" dirty="0" err="1">
                <a:latin typeface="Calibri" panose="020F0502020204030204" pitchFamily="34" charset="0"/>
                <a:ea typeface="Calibri" panose="020F0502020204030204" pitchFamily="34" charset="0"/>
                <a:cs typeface="Calibri" panose="020F0502020204030204" pitchFamily="34" charset="0"/>
              </a:rPr>
              <a:t>Pickup_Date</a:t>
            </a:r>
            <a:r>
              <a:rPr lang="en-US" sz="1200" dirty="0">
                <a:latin typeface="Calibri" panose="020F0502020204030204" pitchFamily="34" charset="0"/>
                <a:ea typeface="Calibri" panose="020F0502020204030204" pitchFamily="34" charset="0"/>
                <a:cs typeface="Calibri" panose="020F0502020204030204" pitchFamily="34" charset="0"/>
              </a:rPr>
              <a:t>   = STR_TO_DATE(</a:t>
            </a:r>
            <a:r>
              <a:rPr lang="en-US" sz="1200" dirty="0" err="1">
                <a:latin typeface="Calibri" panose="020F0502020204030204" pitchFamily="34" charset="0"/>
                <a:ea typeface="Calibri" panose="020F0502020204030204" pitchFamily="34" charset="0"/>
                <a:cs typeface="Calibri" panose="020F0502020204030204" pitchFamily="34" charset="0"/>
              </a:rPr>
              <a:t>Pickup_Date</a:t>
            </a:r>
            <a:r>
              <a:rPr lang="en-US" sz="1200" dirty="0">
                <a:latin typeface="Calibri" panose="020F0502020204030204" pitchFamily="34" charset="0"/>
                <a:ea typeface="Calibri" panose="020F0502020204030204" pitchFamily="34" charset="0"/>
                <a:cs typeface="Calibri" panose="020F0502020204030204" pitchFamily="34" charset="0"/>
              </a:rPr>
              <a:t>, '%Y-%m-%d %H:%</a:t>
            </a:r>
            <a:r>
              <a:rPr lang="en-US" sz="1200" dirty="0" err="1">
                <a:latin typeface="Calibri" panose="020F0502020204030204" pitchFamily="34" charset="0"/>
                <a:ea typeface="Calibri" panose="020F0502020204030204" pitchFamily="34" charset="0"/>
                <a:cs typeface="Calibri" panose="020F0502020204030204" pitchFamily="34" charset="0"/>
              </a:rPr>
              <a:t>i</a:t>
            </a:r>
            <a:r>
              <a:rPr lang="en-US" sz="1200" dirty="0">
                <a:latin typeface="Calibri" panose="020F0502020204030204" pitchFamily="34" charset="0"/>
                <a:ea typeface="Calibri" panose="020F0502020204030204" pitchFamily="34" charset="0"/>
                <a:cs typeface="Calibri" panose="020F0502020204030204" pitchFamily="34" charset="0"/>
              </a:rPr>
              <a:t>:%s'),    </a:t>
            </a:r>
            <a:r>
              <a:rPr lang="en-US" sz="1200" dirty="0" err="1">
                <a:latin typeface="Calibri" panose="020F0502020204030204" pitchFamily="34" charset="0"/>
                <a:ea typeface="Calibri" panose="020F0502020204030204" pitchFamily="34" charset="0"/>
                <a:cs typeface="Calibri" panose="020F0502020204030204" pitchFamily="34" charset="0"/>
              </a:rPr>
              <a:t>Delivery_Date</a:t>
            </a:r>
            <a:r>
              <a:rPr lang="en-US" sz="1200" dirty="0">
                <a:latin typeface="Calibri" panose="020F0502020204030204" pitchFamily="34" charset="0"/>
                <a:ea typeface="Calibri" panose="020F0502020204030204" pitchFamily="34" charset="0"/>
                <a:cs typeface="Calibri" panose="020F0502020204030204" pitchFamily="34" charset="0"/>
              </a:rPr>
              <a:t> =            STR_TO_DATE(</a:t>
            </a:r>
            <a:r>
              <a:rPr lang="en-US" sz="1200" dirty="0" err="1">
                <a:latin typeface="Calibri" panose="020F0502020204030204" pitchFamily="34" charset="0"/>
                <a:ea typeface="Calibri" panose="020F0502020204030204" pitchFamily="34" charset="0"/>
                <a:cs typeface="Calibri" panose="020F0502020204030204" pitchFamily="34" charset="0"/>
              </a:rPr>
              <a:t>Delivery_Date</a:t>
            </a:r>
            <a:r>
              <a:rPr lang="en-US" sz="1200" dirty="0">
                <a:latin typeface="Calibri" panose="020F0502020204030204" pitchFamily="34" charset="0"/>
                <a:ea typeface="Calibri" panose="020F0502020204030204" pitchFamily="34" charset="0"/>
                <a:cs typeface="Calibri" panose="020F0502020204030204" pitchFamily="34" charset="0"/>
              </a:rPr>
              <a:t>, '%Y-%m-%d %H:%</a:t>
            </a:r>
            <a:r>
              <a:rPr lang="en-US" sz="1200" dirty="0" err="1">
                <a:latin typeface="Calibri" panose="020F0502020204030204" pitchFamily="34" charset="0"/>
                <a:ea typeface="Calibri" panose="020F0502020204030204" pitchFamily="34" charset="0"/>
                <a:cs typeface="Calibri" panose="020F0502020204030204" pitchFamily="34" charset="0"/>
              </a:rPr>
              <a:t>i</a:t>
            </a:r>
            <a:r>
              <a:rPr lang="en-US" sz="1200" dirty="0">
                <a:latin typeface="Calibri" panose="020F0502020204030204" pitchFamily="34" charset="0"/>
                <a:ea typeface="Calibri" panose="020F0502020204030204" pitchFamily="34" charset="0"/>
                <a:cs typeface="Calibri" panose="020F0502020204030204" pitchFamily="34" charset="0"/>
              </a:rPr>
              <a:t>:%s’) WHERE </a:t>
            </a:r>
            <a:r>
              <a:rPr lang="en-US" sz="1200" dirty="0" err="1">
                <a:latin typeface="Calibri" panose="020F0502020204030204" pitchFamily="34" charset="0"/>
                <a:ea typeface="Calibri" panose="020F0502020204030204" pitchFamily="34" charset="0"/>
                <a:cs typeface="Calibri" panose="020F0502020204030204" pitchFamily="34" charset="0"/>
              </a:rPr>
              <a:t>Pickup_Date</a:t>
            </a:r>
            <a:r>
              <a:rPr lang="en-US" sz="1200" dirty="0">
                <a:latin typeface="Calibri" panose="020F0502020204030204" pitchFamily="34" charset="0"/>
                <a:ea typeface="Calibri" panose="020F0502020204030204" pitchFamily="34" charset="0"/>
                <a:cs typeface="Calibri" panose="020F0502020204030204" pitchFamily="34" charset="0"/>
              </a:rPr>
              <a:t> IS NOT NULL   OR </a:t>
            </a:r>
            <a:r>
              <a:rPr lang="en-US" sz="1200" dirty="0" err="1">
                <a:latin typeface="Calibri" panose="020F0502020204030204" pitchFamily="34" charset="0"/>
                <a:ea typeface="Calibri" panose="020F0502020204030204" pitchFamily="34" charset="0"/>
                <a:cs typeface="Calibri" panose="020F0502020204030204" pitchFamily="34" charset="0"/>
              </a:rPr>
              <a:t>Delivery_Date</a:t>
            </a:r>
            <a:r>
              <a:rPr lang="en-US" sz="1200" dirty="0">
                <a:latin typeface="Calibri" panose="020F0502020204030204" pitchFamily="34" charset="0"/>
                <a:ea typeface="Calibri" panose="020F0502020204030204" pitchFamily="34" charset="0"/>
                <a:cs typeface="Calibri" panose="020F0502020204030204" pitchFamily="34" charset="0"/>
              </a:rPr>
              <a:t> IS NOT NULL;</a:t>
            </a:r>
            <a:br>
              <a:rPr lang="en-US" sz="1200" dirty="0">
                <a:latin typeface="Calibri" panose="020F0502020204030204" pitchFamily="34" charset="0"/>
                <a:ea typeface="Calibri" panose="020F0502020204030204" pitchFamily="34" charset="0"/>
                <a:cs typeface="Calibri" panose="020F0502020204030204" pitchFamily="34" charset="0"/>
              </a:rPr>
            </a:br>
            <a:br>
              <a:rPr lang="en-US" sz="1200" dirty="0">
                <a:latin typeface="Calibri" panose="020F0502020204030204" pitchFamily="34" charset="0"/>
                <a:ea typeface="Calibri" panose="020F0502020204030204" pitchFamily="34" charset="0"/>
                <a:cs typeface="Calibri" panose="020F0502020204030204" pitchFamily="34" charset="0"/>
              </a:rPr>
            </a:br>
            <a:r>
              <a:rPr lang="en-US" sz="1200" dirty="0">
                <a:latin typeface="Calibri" panose="020F0502020204030204" pitchFamily="34" charset="0"/>
                <a:ea typeface="Calibri" panose="020F0502020204030204" pitchFamily="34" charset="0"/>
                <a:cs typeface="Calibri" panose="020F0502020204030204" pitchFamily="34" charset="0"/>
              </a:rPr>
              <a:t>        ALTER TABLE </a:t>
            </a:r>
            <a:r>
              <a:rPr lang="en-US" sz="1200" dirty="0" err="1">
                <a:latin typeface="Calibri" panose="020F0502020204030204" pitchFamily="34" charset="0"/>
                <a:ea typeface="Calibri" panose="020F0502020204030204" pitchFamily="34" charset="0"/>
                <a:cs typeface="Calibri" panose="020F0502020204030204" pitchFamily="34" charset="0"/>
              </a:rPr>
              <a:t>shipmentsMODIFY</a:t>
            </a:r>
            <a:r>
              <a:rPr lang="en-US" sz="1200" dirty="0">
                <a:latin typeface="Calibri" panose="020F0502020204030204" pitchFamily="34" charset="0"/>
                <a:ea typeface="Calibri" panose="020F0502020204030204" pitchFamily="34" charset="0"/>
                <a:cs typeface="Calibri" panose="020F0502020204030204" pitchFamily="34" charset="0"/>
              </a:rPr>
              <a:t> </a:t>
            </a:r>
            <a:r>
              <a:rPr lang="en-US" sz="1200" dirty="0" err="1">
                <a:latin typeface="Calibri" panose="020F0502020204030204" pitchFamily="34" charset="0"/>
                <a:ea typeface="Calibri" panose="020F0502020204030204" pitchFamily="34" charset="0"/>
                <a:cs typeface="Calibri" panose="020F0502020204030204" pitchFamily="34" charset="0"/>
              </a:rPr>
              <a:t>Pickup_Date</a:t>
            </a:r>
            <a:r>
              <a:rPr lang="en-US" sz="1200" dirty="0">
                <a:latin typeface="Calibri" panose="020F0502020204030204" pitchFamily="34" charset="0"/>
                <a:ea typeface="Calibri" panose="020F0502020204030204" pitchFamily="34" charset="0"/>
                <a:cs typeface="Calibri" panose="020F0502020204030204" pitchFamily="34" charset="0"/>
              </a:rPr>
              <a:t> </a:t>
            </a:r>
            <a:r>
              <a:rPr lang="en-US" sz="1200" dirty="0" err="1">
                <a:latin typeface="Calibri" panose="020F0502020204030204" pitchFamily="34" charset="0"/>
                <a:ea typeface="Calibri" panose="020F0502020204030204" pitchFamily="34" charset="0"/>
                <a:cs typeface="Calibri" panose="020F0502020204030204" pitchFamily="34" charset="0"/>
              </a:rPr>
              <a:t>datetime,modify</a:t>
            </a:r>
            <a:r>
              <a:rPr lang="en-US" sz="1200" dirty="0">
                <a:latin typeface="Calibri" panose="020F0502020204030204" pitchFamily="34" charset="0"/>
                <a:ea typeface="Calibri" panose="020F0502020204030204" pitchFamily="34" charset="0"/>
                <a:cs typeface="Calibri" panose="020F0502020204030204" pitchFamily="34" charset="0"/>
              </a:rPr>
              <a:t> </a:t>
            </a:r>
            <a:r>
              <a:rPr lang="en-US" sz="1200" dirty="0" err="1">
                <a:latin typeface="Calibri" panose="020F0502020204030204" pitchFamily="34" charset="0"/>
                <a:ea typeface="Calibri" panose="020F0502020204030204" pitchFamily="34" charset="0"/>
                <a:cs typeface="Calibri" panose="020F0502020204030204" pitchFamily="34" charset="0"/>
              </a:rPr>
              <a:t>Delivery_Date</a:t>
            </a:r>
            <a:r>
              <a:rPr lang="en-US" sz="1200" dirty="0">
                <a:latin typeface="Calibri" panose="020F0502020204030204" pitchFamily="34" charset="0"/>
                <a:ea typeface="Calibri" panose="020F0502020204030204" pitchFamily="34" charset="0"/>
                <a:cs typeface="Calibri" panose="020F0502020204030204" pitchFamily="34" charset="0"/>
              </a:rPr>
              <a:t> DATETIME;</a:t>
            </a:r>
          </a:p>
          <a:p>
            <a:pPr marL="165100" indent="0">
              <a:buNone/>
            </a:pPr>
            <a:br>
              <a:rPr lang="en-US" sz="1200" dirty="0">
                <a:latin typeface="Calibri" panose="020F0502020204030204" pitchFamily="34" charset="0"/>
                <a:ea typeface="Calibri" panose="020F0502020204030204" pitchFamily="34" charset="0"/>
                <a:cs typeface="Calibri" panose="020F0502020204030204" pitchFamily="34" charset="0"/>
              </a:rPr>
            </a:br>
            <a:r>
              <a:rPr lang="en-US" sz="1200" dirty="0">
                <a:latin typeface="Calibri" panose="020F0502020204030204" pitchFamily="34" charset="0"/>
                <a:ea typeface="Calibri" panose="020F0502020204030204" pitchFamily="34" charset="0"/>
                <a:cs typeface="Calibri" panose="020F0502020204030204" pitchFamily="34" charset="0"/>
              </a:rPr>
              <a:t>       desc shipments;</a:t>
            </a:r>
            <a:br>
              <a:rPr lang="en-US" sz="1200" dirty="0">
                <a:latin typeface="Calibri" panose="020F0502020204030204" pitchFamily="34" charset="0"/>
                <a:ea typeface="Calibri" panose="020F0502020204030204" pitchFamily="34" charset="0"/>
                <a:cs typeface="Calibri" panose="020F0502020204030204" pitchFamily="34" charset="0"/>
              </a:rPr>
            </a:br>
            <a:br>
              <a:rPr lang="en-US" dirty="0"/>
            </a:br>
            <a:br>
              <a:rPr lang="en-US" dirty="0"/>
            </a:br>
            <a:br>
              <a:rPr lang="en-US" dirty="0"/>
            </a:br>
            <a:br>
              <a:rPr lang="en-US" dirty="0"/>
            </a:br>
            <a:endParaRPr lang="en-US" dirty="0"/>
          </a:p>
        </p:txBody>
      </p:sp>
      <p:pic>
        <p:nvPicPr>
          <p:cNvPr id="4" name="Picture 3">
            <a:extLst>
              <a:ext uri="{FF2B5EF4-FFF2-40B4-BE49-F238E27FC236}">
                <a16:creationId xmlns:a16="http://schemas.microsoft.com/office/drawing/2014/main" id="{A34A2B87-8F5F-49B6-BC90-9C55E2E1F3BD}"/>
              </a:ext>
            </a:extLst>
          </p:cNvPr>
          <p:cNvPicPr>
            <a:picLocks noChangeAspect="1"/>
          </p:cNvPicPr>
          <p:nvPr/>
        </p:nvPicPr>
        <p:blipFill>
          <a:blip r:embed="rId2"/>
          <a:stretch>
            <a:fillRect/>
          </a:stretch>
        </p:blipFill>
        <p:spPr>
          <a:xfrm>
            <a:off x="2940425" y="2225465"/>
            <a:ext cx="2657138" cy="941069"/>
          </a:xfrm>
          <a:prstGeom prst="rect">
            <a:avLst/>
          </a:prstGeom>
        </p:spPr>
      </p:pic>
      <p:pic>
        <p:nvPicPr>
          <p:cNvPr id="6" name="Picture 5">
            <a:extLst>
              <a:ext uri="{FF2B5EF4-FFF2-40B4-BE49-F238E27FC236}">
                <a16:creationId xmlns:a16="http://schemas.microsoft.com/office/drawing/2014/main" id="{5FBFDCCE-55FE-4B13-9604-56DFF05F71A5}"/>
              </a:ext>
            </a:extLst>
          </p:cNvPr>
          <p:cNvPicPr>
            <a:picLocks noChangeAspect="1"/>
          </p:cNvPicPr>
          <p:nvPr/>
        </p:nvPicPr>
        <p:blipFill>
          <a:blip r:embed="rId3"/>
          <a:stretch>
            <a:fillRect/>
          </a:stretch>
        </p:blipFill>
        <p:spPr>
          <a:xfrm>
            <a:off x="6277684" y="4226994"/>
            <a:ext cx="2657139" cy="839858"/>
          </a:xfrm>
          <a:prstGeom prst="rect">
            <a:avLst/>
          </a:prstGeom>
        </p:spPr>
      </p:pic>
    </p:spTree>
    <p:extLst>
      <p:ext uri="{BB962C8B-B14F-4D97-AF65-F5344CB8AC3E}">
        <p14:creationId xmlns:p14="http://schemas.microsoft.com/office/powerpoint/2010/main" val="19407046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642A758-CD1E-4D0E-93F3-09ED180C661A}"/>
              </a:ext>
            </a:extLst>
          </p:cNvPr>
          <p:cNvSpPr>
            <a:spLocks noGrp="1"/>
          </p:cNvSpPr>
          <p:nvPr>
            <p:ph type="body" idx="1"/>
          </p:nvPr>
        </p:nvSpPr>
        <p:spPr>
          <a:xfrm>
            <a:off x="107577" y="0"/>
            <a:ext cx="9036423" cy="4807371"/>
          </a:xfrm>
        </p:spPr>
        <p:txBody>
          <a:bodyPr/>
          <a:lstStyle/>
          <a:p>
            <a:r>
              <a:rPr lang="en-US" sz="1200" b="1" dirty="0">
                <a:latin typeface="Calibri" panose="020F0502020204030204" pitchFamily="34" charset="0"/>
                <a:ea typeface="Calibri" panose="020F0502020204030204" pitchFamily="34" charset="0"/>
                <a:cs typeface="Calibri" panose="020F0502020204030204" pitchFamily="34" charset="0"/>
              </a:rPr>
              <a:t>Ensure that no </a:t>
            </a:r>
            <a:r>
              <a:rPr lang="en-US" sz="1200" b="1" dirty="0" err="1">
                <a:latin typeface="Calibri" panose="020F0502020204030204" pitchFamily="34" charset="0"/>
                <a:ea typeface="Calibri" panose="020F0502020204030204" pitchFamily="34" charset="0"/>
                <a:cs typeface="Calibri" panose="020F0502020204030204" pitchFamily="34" charset="0"/>
              </a:rPr>
              <a:t>Delivery_Date</a:t>
            </a:r>
            <a:r>
              <a:rPr lang="en-US" sz="1200" b="1" dirty="0">
                <a:latin typeface="Calibri" panose="020F0502020204030204" pitchFamily="34" charset="0"/>
                <a:ea typeface="Calibri" panose="020F0502020204030204" pitchFamily="34" charset="0"/>
                <a:cs typeface="Calibri" panose="020F0502020204030204" pitchFamily="34" charset="0"/>
              </a:rPr>
              <a:t> occurs before </a:t>
            </a:r>
            <a:r>
              <a:rPr lang="en-US" sz="1200" b="1" dirty="0" err="1">
                <a:latin typeface="Calibri" panose="020F0502020204030204" pitchFamily="34" charset="0"/>
                <a:ea typeface="Calibri" panose="020F0502020204030204" pitchFamily="34" charset="0"/>
                <a:cs typeface="Calibri" panose="020F0502020204030204" pitchFamily="34" charset="0"/>
              </a:rPr>
              <a:t>Pickup_Date</a:t>
            </a:r>
            <a:r>
              <a:rPr lang="en-US" sz="1200" b="1" dirty="0">
                <a:latin typeface="Calibri" panose="020F0502020204030204" pitchFamily="34" charset="0"/>
                <a:ea typeface="Calibri" panose="020F0502020204030204" pitchFamily="34" charset="0"/>
                <a:cs typeface="Calibri" panose="020F0502020204030204" pitchFamily="34" charset="0"/>
              </a:rPr>
              <a:t> (flag such records)</a:t>
            </a:r>
            <a:br>
              <a:rPr lang="en-US" sz="1200" b="1" dirty="0">
                <a:latin typeface="Calibri" panose="020F0502020204030204" pitchFamily="34" charset="0"/>
                <a:ea typeface="Calibri" panose="020F0502020204030204" pitchFamily="34" charset="0"/>
                <a:cs typeface="Calibri" panose="020F0502020204030204" pitchFamily="34" charset="0"/>
              </a:rPr>
            </a:br>
            <a:br>
              <a:rPr lang="en-US" sz="1200" b="1" dirty="0">
                <a:latin typeface="Calibri" panose="020F0502020204030204" pitchFamily="34" charset="0"/>
                <a:ea typeface="Calibri" panose="020F0502020204030204" pitchFamily="34" charset="0"/>
                <a:cs typeface="Calibri" panose="020F0502020204030204" pitchFamily="34" charset="0"/>
              </a:rPr>
            </a:br>
            <a:r>
              <a:rPr lang="en-US" sz="1200" dirty="0">
                <a:latin typeface="Calibri" panose="020F0502020204030204" pitchFamily="34" charset="0"/>
                <a:ea typeface="Calibri" panose="020F0502020204030204" pitchFamily="34" charset="0"/>
                <a:cs typeface="Calibri" panose="020F0502020204030204" pitchFamily="34" charset="0"/>
              </a:rPr>
              <a:t>SELECT </a:t>
            </a:r>
            <a:r>
              <a:rPr lang="en-US" sz="1200" dirty="0" err="1">
                <a:latin typeface="Calibri" panose="020F0502020204030204" pitchFamily="34" charset="0"/>
                <a:ea typeface="Calibri" panose="020F0502020204030204" pitchFamily="34" charset="0"/>
                <a:cs typeface="Calibri" panose="020F0502020204030204" pitchFamily="34" charset="0"/>
              </a:rPr>
              <a:t>Shipment_ID,Pickup_Date,Delivery_Date</a:t>
            </a:r>
            <a:r>
              <a:rPr lang="en-US" sz="1200" dirty="0">
                <a:latin typeface="Calibri" panose="020F0502020204030204" pitchFamily="34" charset="0"/>
                <a:ea typeface="Calibri" panose="020F0502020204030204" pitchFamily="34" charset="0"/>
                <a:cs typeface="Calibri" panose="020F0502020204030204" pitchFamily="34" charset="0"/>
              </a:rPr>
              <a:t> FROM </a:t>
            </a:r>
            <a:r>
              <a:rPr lang="en-US" sz="1200" dirty="0" err="1">
                <a:latin typeface="Calibri" panose="020F0502020204030204" pitchFamily="34" charset="0"/>
                <a:ea typeface="Calibri" panose="020F0502020204030204" pitchFamily="34" charset="0"/>
                <a:cs typeface="Calibri" panose="020F0502020204030204" pitchFamily="34" charset="0"/>
              </a:rPr>
              <a:t>shipmentsWHERE</a:t>
            </a:r>
            <a:r>
              <a:rPr lang="en-US" sz="1200" dirty="0">
                <a:latin typeface="Calibri" panose="020F0502020204030204" pitchFamily="34" charset="0"/>
                <a:ea typeface="Calibri" panose="020F0502020204030204" pitchFamily="34" charset="0"/>
                <a:cs typeface="Calibri" panose="020F0502020204030204" pitchFamily="34" charset="0"/>
              </a:rPr>
              <a:t> </a:t>
            </a:r>
            <a:r>
              <a:rPr lang="en-US" sz="1200" dirty="0" err="1">
                <a:latin typeface="Calibri" panose="020F0502020204030204" pitchFamily="34" charset="0"/>
                <a:ea typeface="Calibri" panose="020F0502020204030204" pitchFamily="34" charset="0"/>
                <a:cs typeface="Calibri" panose="020F0502020204030204" pitchFamily="34" charset="0"/>
              </a:rPr>
              <a:t>Delivery_Date</a:t>
            </a:r>
            <a:r>
              <a:rPr lang="en-US" sz="1200" dirty="0">
                <a:latin typeface="Calibri" panose="020F0502020204030204" pitchFamily="34" charset="0"/>
                <a:ea typeface="Calibri" panose="020F0502020204030204" pitchFamily="34" charset="0"/>
                <a:cs typeface="Calibri" panose="020F0502020204030204" pitchFamily="34" charset="0"/>
              </a:rPr>
              <a:t> &lt; </a:t>
            </a:r>
            <a:r>
              <a:rPr lang="en-US" sz="1200" dirty="0" err="1">
                <a:latin typeface="Calibri" panose="020F0502020204030204" pitchFamily="34" charset="0"/>
                <a:ea typeface="Calibri" panose="020F0502020204030204" pitchFamily="34" charset="0"/>
                <a:cs typeface="Calibri" panose="020F0502020204030204" pitchFamily="34" charset="0"/>
              </a:rPr>
              <a:t>Pickup_Date</a:t>
            </a:r>
            <a:r>
              <a:rPr lang="en-US" sz="1200" dirty="0">
                <a:latin typeface="Calibri" panose="020F0502020204030204" pitchFamily="34" charset="0"/>
                <a:ea typeface="Calibri" panose="020F0502020204030204" pitchFamily="34" charset="0"/>
                <a:cs typeface="Calibri" panose="020F0502020204030204" pitchFamily="34" charset="0"/>
              </a:rPr>
              <a:t>;</a:t>
            </a:r>
          </a:p>
          <a:p>
            <a:pPr marL="165100" indent="0">
              <a:buNone/>
            </a:pPr>
            <a:endParaRPr lang="en-US" sz="1200" dirty="0">
              <a:latin typeface="Calibri" panose="020F0502020204030204" pitchFamily="34" charset="0"/>
              <a:ea typeface="Calibri" panose="020F0502020204030204" pitchFamily="34" charset="0"/>
              <a:cs typeface="Calibri" panose="020F0502020204030204" pitchFamily="34" charset="0"/>
            </a:endParaRPr>
          </a:p>
          <a:p>
            <a:pPr marL="165100" indent="0">
              <a:buNone/>
            </a:pPr>
            <a:endParaRPr lang="en-US" sz="1200" dirty="0">
              <a:latin typeface="Calibri" panose="020F0502020204030204" pitchFamily="34" charset="0"/>
              <a:ea typeface="Calibri" panose="020F0502020204030204" pitchFamily="34" charset="0"/>
              <a:cs typeface="Calibri" panose="020F0502020204030204" pitchFamily="34" charset="0"/>
            </a:endParaRPr>
          </a:p>
          <a:p>
            <a:pPr marL="165100" indent="0">
              <a:buNone/>
            </a:pPr>
            <a:endParaRPr lang="en-US" sz="1200" dirty="0">
              <a:latin typeface="Calibri" panose="020F0502020204030204" pitchFamily="34" charset="0"/>
              <a:ea typeface="Calibri" panose="020F0502020204030204" pitchFamily="34" charset="0"/>
              <a:cs typeface="Calibri" panose="020F0502020204030204" pitchFamily="34" charset="0"/>
            </a:endParaRPr>
          </a:p>
          <a:p>
            <a:pPr marL="165100" indent="0">
              <a:buNone/>
            </a:pPr>
            <a:endParaRPr lang="en-US" sz="1200" dirty="0">
              <a:latin typeface="Calibri" panose="020F0502020204030204" pitchFamily="34" charset="0"/>
              <a:ea typeface="Calibri" panose="020F0502020204030204" pitchFamily="34" charset="0"/>
              <a:cs typeface="Calibri" panose="020F0502020204030204" pitchFamily="34" charset="0"/>
            </a:endParaRPr>
          </a:p>
          <a:p>
            <a:pPr marL="165100" indent="0">
              <a:buNone/>
            </a:pPr>
            <a:endParaRPr lang="en-US" sz="1200" dirty="0">
              <a:latin typeface="Calibri" panose="020F0502020204030204" pitchFamily="34" charset="0"/>
              <a:ea typeface="Calibri" panose="020F0502020204030204" pitchFamily="34" charset="0"/>
              <a:cs typeface="Calibri" panose="020F0502020204030204" pitchFamily="34" charset="0"/>
            </a:endParaRPr>
          </a:p>
          <a:p>
            <a:pPr marL="165100" indent="0">
              <a:buNone/>
            </a:pPr>
            <a:endParaRPr lang="en-US" sz="1200" b="1" dirty="0">
              <a:latin typeface="Calibri" panose="020F0502020204030204" pitchFamily="34" charset="0"/>
              <a:ea typeface="Calibri" panose="020F0502020204030204" pitchFamily="34" charset="0"/>
              <a:cs typeface="Calibri" panose="020F0502020204030204" pitchFamily="34" charset="0"/>
            </a:endParaRPr>
          </a:p>
          <a:p>
            <a:r>
              <a:rPr lang="en-US" sz="1200" b="1" dirty="0">
                <a:latin typeface="Calibri" panose="020F0502020204030204" pitchFamily="34" charset="0"/>
                <a:ea typeface="Calibri" panose="020F0502020204030204" pitchFamily="34" charset="0"/>
                <a:cs typeface="Calibri" panose="020F0502020204030204" pitchFamily="34" charset="0"/>
              </a:rPr>
              <a:t>Validate referential integrity between Orders, Routes, Warehouses, and Shipments. </a:t>
            </a:r>
          </a:p>
          <a:p>
            <a:pPr marL="165100" indent="0">
              <a:buNone/>
            </a:pPr>
            <a:endParaRPr lang="en-US" sz="1200" b="1" dirty="0">
              <a:latin typeface="Calibri" panose="020F0502020204030204" pitchFamily="34" charset="0"/>
              <a:ea typeface="Calibri" panose="020F0502020204030204" pitchFamily="34" charset="0"/>
              <a:cs typeface="Calibri" panose="020F0502020204030204" pitchFamily="34" charset="0"/>
            </a:endParaRPr>
          </a:p>
          <a:p>
            <a:pPr marL="165100" indent="0">
              <a:buNone/>
            </a:pPr>
            <a:r>
              <a:rPr lang="en-US" sz="1200" b="1" dirty="0">
                <a:latin typeface="Calibri" panose="020F0502020204030204" pitchFamily="34" charset="0"/>
                <a:ea typeface="Calibri" panose="020F0502020204030204" pitchFamily="34" charset="0"/>
                <a:cs typeface="Calibri" panose="020F0502020204030204" pitchFamily="34" charset="0"/>
              </a:rPr>
              <a:t>- orders - route </a:t>
            </a:r>
            <a:br>
              <a:rPr lang="en-US" sz="1200" b="1" dirty="0">
                <a:latin typeface="Calibri" panose="020F0502020204030204" pitchFamily="34" charset="0"/>
                <a:ea typeface="Calibri" panose="020F0502020204030204" pitchFamily="34" charset="0"/>
                <a:cs typeface="Calibri" panose="020F0502020204030204" pitchFamily="34" charset="0"/>
              </a:rPr>
            </a:br>
            <a:r>
              <a:rPr lang="en-US" sz="1200" dirty="0">
                <a:latin typeface="Calibri" panose="020F0502020204030204" pitchFamily="34" charset="0"/>
                <a:ea typeface="Calibri" panose="020F0502020204030204" pitchFamily="34" charset="0"/>
                <a:cs typeface="Calibri" panose="020F0502020204030204" pitchFamily="34" charset="0"/>
              </a:rPr>
              <a:t>SELECT </a:t>
            </a:r>
            <a:r>
              <a:rPr lang="en-US" sz="1200" dirty="0" err="1">
                <a:latin typeface="Calibri" panose="020F0502020204030204" pitchFamily="34" charset="0"/>
                <a:ea typeface="Calibri" panose="020F0502020204030204" pitchFamily="34" charset="0"/>
                <a:cs typeface="Calibri" panose="020F0502020204030204" pitchFamily="34" charset="0"/>
              </a:rPr>
              <a:t>o.Order_ID</a:t>
            </a:r>
            <a:r>
              <a:rPr lang="en-US" sz="1200" dirty="0">
                <a:latin typeface="Calibri" panose="020F0502020204030204" pitchFamily="34" charset="0"/>
                <a:ea typeface="Calibri" panose="020F0502020204030204" pitchFamily="34" charset="0"/>
                <a:cs typeface="Calibri" panose="020F0502020204030204" pitchFamily="34" charset="0"/>
              </a:rPr>
              <a:t>, </a:t>
            </a:r>
            <a:r>
              <a:rPr lang="en-US" sz="1200" dirty="0" err="1">
                <a:latin typeface="Calibri" panose="020F0502020204030204" pitchFamily="34" charset="0"/>
                <a:ea typeface="Calibri" panose="020F0502020204030204" pitchFamily="34" charset="0"/>
                <a:cs typeface="Calibri" panose="020F0502020204030204" pitchFamily="34" charset="0"/>
              </a:rPr>
              <a:t>o.Route_IDFROM</a:t>
            </a:r>
            <a:r>
              <a:rPr lang="en-US" sz="1200" dirty="0">
                <a:latin typeface="Calibri" panose="020F0502020204030204" pitchFamily="34" charset="0"/>
                <a:ea typeface="Calibri" panose="020F0502020204030204" pitchFamily="34" charset="0"/>
                <a:cs typeface="Calibri" panose="020F0502020204030204" pitchFamily="34" charset="0"/>
              </a:rPr>
              <a:t> orders </a:t>
            </a:r>
            <a:r>
              <a:rPr lang="en-US" sz="1200" dirty="0" err="1">
                <a:latin typeface="Calibri" panose="020F0502020204030204" pitchFamily="34" charset="0"/>
                <a:ea typeface="Calibri" panose="020F0502020204030204" pitchFamily="34" charset="0"/>
                <a:cs typeface="Calibri" panose="020F0502020204030204" pitchFamily="34" charset="0"/>
              </a:rPr>
              <a:t>oLEFT</a:t>
            </a:r>
            <a:r>
              <a:rPr lang="en-US" sz="1200" dirty="0">
                <a:latin typeface="Calibri" panose="020F0502020204030204" pitchFamily="34" charset="0"/>
                <a:ea typeface="Calibri" panose="020F0502020204030204" pitchFamily="34" charset="0"/>
                <a:cs typeface="Calibri" panose="020F0502020204030204" pitchFamily="34" charset="0"/>
              </a:rPr>
              <a:t> JOIN routes </a:t>
            </a:r>
            <a:r>
              <a:rPr lang="en-US" sz="1200" dirty="0" err="1">
                <a:latin typeface="Calibri" panose="020F0502020204030204" pitchFamily="34" charset="0"/>
                <a:ea typeface="Calibri" panose="020F0502020204030204" pitchFamily="34" charset="0"/>
                <a:cs typeface="Calibri" panose="020F0502020204030204" pitchFamily="34" charset="0"/>
              </a:rPr>
              <a:t>rON</a:t>
            </a:r>
            <a:r>
              <a:rPr lang="en-US" sz="1200" dirty="0">
                <a:latin typeface="Calibri" panose="020F0502020204030204" pitchFamily="34" charset="0"/>
                <a:ea typeface="Calibri" panose="020F0502020204030204" pitchFamily="34" charset="0"/>
                <a:cs typeface="Calibri" panose="020F0502020204030204" pitchFamily="34" charset="0"/>
              </a:rPr>
              <a:t> </a:t>
            </a:r>
            <a:r>
              <a:rPr lang="en-US" sz="1200" dirty="0" err="1">
                <a:latin typeface="Calibri" panose="020F0502020204030204" pitchFamily="34" charset="0"/>
                <a:ea typeface="Calibri" panose="020F0502020204030204" pitchFamily="34" charset="0"/>
                <a:cs typeface="Calibri" panose="020F0502020204030204" pitchFamily="34" charset="0"/>
              </a:rPr>
              <a:t>o.Route_ID</a:t>
            </a:r>
            <a:r>
              <a:rPr lang="en-US" sz="1200" dirty="0">
                <a:latin typeface="Calibri" panose="020F0502020204030204" pitchFamily="34" charset="0"/>
                <a:ea typeface="Calibri" panose="020F0502020204030204" pitchFamily="34" charset="0"/>
                <a:cs typeface="Calibri" panose="020F0502020204030204" pitchFamily="34" charset="0"/>
              </a:rPr>
              <a:t> = </a:t>
            </a:r>
            <a:r>
              <a:rPr lang="en-US" sz="1200" dirty="0" err="1">
                <a:latin typeface="Calibri" panose="020F0502020204030204" pitchFamily="34" charset="0"/>
                <a:ea typeface="Calibri" panose="020F0502020204030204" pitchFamily="34" charset="0"/>
                <a:cs typeface="Calibri" panose="020F0502020204030204" pitchFamily="34" charset="0"/>
              </a:rPr>
              <a:t>r.Route_IDWHERE</a:t>
            </a:r>
            <a:r>
              <a:rPr lang="en-US" sz="1200" dirty="0">
                <a:latin typeface="Calibri" panose="020F0502020204030204" pitchFamily="34" charset="0"/>
                <a:ea typeface="Calibri" panose="020F0502020204030204" pitchFamily="34" charset="0"/>
                <a:cs typeface="Calibri" panose="020F0502020204030204" pitchFamily="34" charset="0"/>
              </a:rPr>
              <a:t> </a:t>
            </a:r>
            <a:r>
              <a:rPr lang="en-US" sz="1200" dirty="0" err="1">
                <a:latin typeface="Calibri" panose="020F0502020204030204" pitchFamily="34" charset="0"/>
                <a:ea typeface="Calibri" panose="020F0502020204030204" pitchFamily="34" charset="0"/>
                <a:cs typeface="Calibri" panose="020F0502020204030204" pitchFamily="34" charset="0"/>
              </a:rPr>
              <a:t>r.Route_ID</a:t>
            </a:r>
            <a:r>
              <a:rPr lang="en-US" sz="1200" dirty="0">
                <a:latin typeface="Calibri" panose="020F0502020204030204" pitchFamily="34" charset="0"/>
                <a:ea typeface="Calibri" panose="020F0502020204030204" pitchFamily="34" charset="0"/>
                <a:cs typeface="Calibri" panose="020F0502020204030204" pitchFamily="34" charset="0"/>
              </a:rPr>
              <a:t> IS NULL;</a:t>
            </a:r>
          </a:p>
          <a:p>
            <a:pPr marL="165100" indent="0">
              <a:buNone/>
            </a:pPr>
            <a:br>
              <a:rPr lang="en-US" sz="1200" dirty="0">
                <a:latin typeface="Calibri" panose="020F0502020204030204" pitchFamily="34" charset="0"/>
                <a:ea typeface="Calibri" panose="020F0502020204030204" pitchFamily="34" charset="0"/>
                <a:cs typeface="Calibri" panose="020F0502020204030204" pitchFamily="34" charset="0"/>
              </a:rPr>
            </a:br>
            <a:r>
              <a:rPr lang="en-US" sz="1200" b="1" dirty="0">
                <a:latin typeface="Calibri" panose="020F0502020204030204" pitchFamily="34" charset="0"/>
                <a:ea typeface="Calibri" panose="020F0502020204030204" pitchFamily="34" charset="0"/>
                <a:cs typeface="Calibri" panose="020F0502020204030204" pitchFamily="34" charset="0"/>
              </a:rPr>
              <a:t>-- orders – warehouse</a:t>
            </a:r>
          </a:p>
          <a:p>
            <a:pPr marL="165100" indent="0">
              <a:buNone/>
            </a:pPr>
            <a:r>
              <a:rPr lang="en-US" sz="1200" dirty="0">
                <a:latin typeface="Calibri" panose="020F0502020204030204" pitchFamily="34" charset="0"/>
                <a:ea typeface="Calibri" panose="020F0502020204030204" pitchFamily="34" charset="0"/>
                <a:cs typeface="Calibri" panose="020F0502020204030204" pitchFamily="34" charset="0"/>
              </a:rPr>
              <a:t>SELECT </a:t>
            </a:r>
            <a:r>
              <a:rPr lang="en-US" sz="1200" dirty="0" err="1">
                <a:latin typeface="Calibri" panose="020F0502020204030204" pitchFamily="34" charset="0"/>
                <a:ea typeface="Calibri" panose="020F0502020204030204" pitchFamily="34" charset="0"/>
                <a:cs typeface="Calibri" panose="020F0502020204030204" pitchFamily="34" charset="0"/>
              </a:rPr>
              <a:t>o.Order_ID</a:t>
            </a:r>
            <a:r>
              <a:rPr lang="en-US" sz="1200" dirty="0">
                <a:latin typeface="Calibri" panose="020F0502020204030204" pitchFamily="34" charset="0"/>
                <a:ea typeface="Calibri" panose="020F0502020204030204" pitchFamily="34" charset="0"/>
                <a:cs typeface="Calibri" panose="020F0502020204030204" pitchFamily="34" charset="0"/>
              </a:rPr>
              <a:t>, </a:t>
            </a:r>
            <a:r>
              <a:rPr lang="en-US" sz="1200" dirty="0" err="1">
                <a:latin typeface="Calibri" panose="020F0502020204030204" pitchFamily="34" charset="0"/>
                <a:ea typeface="Calibri" panose="020F0502020204030204" pitchFamily="34" charset="0"/>
                <a:cs typeface="Calibri" panose="020F0502020204030204" pitchFamily="34" charset="0"/>
              </a:rPr>
              <a:t>o.Warehouse_IDFROM</a:t>
            </a:r>
            <a:r>
              <a:rPr lang="en-US" sz="1200" dirty="0">
                <a:latin typeface="Calibri" panose="020F0502020204030204" pitchFamily="34" charset="0"/>
                <a:ea typeface="Calibri" panose="020F0502020204030204" pitchFamily="34" charset="0"/>
                <a:cs typeface="Calibri" panose="020F0502020204030204" pitchFamily="34" charset="0"/>
              </a:rPr>
              <a:t> orders </a:t>
            </a:r>
            <a:r>
              <a:rPr lang="en-US" sz="1200" dirty="0" err="1">
                <a:latin typeface="Calibri" panose="020F0502020204030204" pitchFamily="34" charset="0"/>
                <a:ea typeface="Calibri" panose="020F0502020204030204" pitchFamily="34" charset="0"/>
                <a:cs typeface="Calibri" panose="020F0502020204030204" pitchFamily="34" charset="0"/>
              </a:rPr>
              <a:t>oLEFT</a:t>
            </a:r>
            <a:r>
              <a:rPr lang="en-US" sz="1200" dirty="0">
                <a:latin typeface="Calibri" panose="020F0502020204030204" pitchFamily="34" charset="0"/>
                <a:ea typeface="Calibri" panose="020F0502020204030204" pitchFamily="34" charset="0"/>
                <a:cs typeface="Calibri" panose="020F0502020204030204" pitchFamily="34" charset="0"/>
              </a:rPr>
              <a:t> JOIN warehouses </a:t>
            </a:r>
            <a:r>
              <a:rPr lang="en-US" sz="1200" dirty="0" err="1">
                <a:latin typeface="Calibri" panose="020F0502020204030204" pitchFamily="34" charset="0"/>
                <a:ea typeface="Calibri" panose="020F0502020204030204" pitchFamily="34" charset="0"/>
                <a:cs typeface="Calibri" panose="020F0502020204030204" pitchFamily="34" charset="0"/>
              </a:rPr>
              <a:t>wON</a:t>
            </a:r>
            <a:r>
              <a:rPr lang="en-US" sz="1200" dirty="0">
                <a:latin typeface="Calibri" panose="020F0502020204030204" pitchFamily="34" charset="0"/>
                <a:ea typeface="Calibri" panose="020F0502020204030204" pitchFamily="34" charset="0"/>
                <a:cs typeface="Calibri" panose="020F0502020204030204" pitchFamily="34" charset="0"/>
              </a:rPr>
              <a:t> </a:t>
            </a:r>
            <a:r>
              <a:rPr lang="en-US" sz="1200" dirty="0" err="1">
                <a:latin typeface="Calibri" panose="020F0502020204030204" pitchFamily="34" charset="0"/>
                <a:ea typeface="Calibri" panose="020F0502020204030204" pitchFamily="34" charset="0"/>
                <a:cs typeface="Calibri" panose="020F0502020204030204" pitchFamily="34" charset="0"/>
              </a:rPr>
              <a:t>o.Warehouse_ID</a:t>
            </a:r>
            <a:r>
              <a:rPr lang="en-US" sz="1200" dirty="0">
                <a:latin typeface="Calibri" panose="020F0502020204030204" pitchFamily="34" charset="0"/>
                <a:ea typeface="Calibri" panose="020F0502020204030204" pitchFamily="34" charset="0"/>
                <a:cs typeface="Calibri" panose="020F0502020204030204" pitchFamily="34" charset="0"/>
              </a:rPr>
              <a:t> = </a:t>
            </a:r>
            <a:r>
              <a:rPr lang="en-US" sz="1200" dirty="0" err="1">
                <a:latin typeface="Calibri" panose="020F0502020204030204" pitchFamily="34" charset="0"/>
                <a:ea typeface="Calibri" panose="020F0502020204030204" pitchFamily="34" charset="0"/>
                <a:cs typeface="Calibri" panose="020F0502020204030204" pitchFamily="34" charset="0"/>
              </a:rPr>
              <a:t>w.Warehouse_IDWHERE</a:t>
            </a:r>
            <a:r>
              <a:rPr lang="en-US" sz="1200" dirty="0">
                <a:latin typeface="Calibri" panose="020F0502020204030204" pitchFamily="34" charset="0"/>
                <a:ea typeface="Calibri" panose="020F0502020204030204" pitchFamily="34" charset="0"/>
                <a:cs typeface="Calibri" panose="020F0502020204030204" pitchFamily="34" charset="0"/>
              </a:rPr>
              <a:t> </a:t>
            </a:r>
            <a:r>
              <a:rPr lang="en-US" sz="1200" dirty="0" err="1">
                <a:latin typeface="Calibri" panose="020F0502020204030204" pitchFamily="34" charset="0"/>
                <a:ea typeface="Calibri" panose="020F0502020204030204" pitchFamily="34" charset="0"/>
                <a:cs typeface="Calibri" panose="020F0502020204030204" pitchFamily="34" charset="0"/>
              </a:rPr>
              <a:t>w.Warehouse_ID</a:t>
            </a:r>
            <a:r>
              <a:rPr lang="en-US" sz="1200" dirty="0">
                <a:latin typeface="Calibri" panose="020F0502020204030204" pitchFamily="34" charset="0"/>
                <a:ea typeface="Calibri" panose="020F0502020204030204" pitchFamily="34" charset="0"/>
                <a:cs typeface="Calibri" panose="020F0502020204030204" pitchFamily="34" charset="0"/>
              </a:rPr>
              <a:t> IS NULL;</a:t>
            </a:r>
          </a:p>
          <a:p>
            <a:pPr marL="165100" indent="0">
              <a:buNone/>
            </a:pPr>
            <a:endParaRPr lang="en-US" sz="1200" dirty="0">
              <a:latin typeface="Calibri" panose="020F0502020204030204" pitchFamily="34" charset="0"/>
              <a:ea typeface="Calibri" panose="020F0502020204030204" pitchFamily="34" charset="0"/>
              <a:cs typeface="Calibri" panose="020F0502020204030204" pitchFamily="34" charset="0"/>
            </a:endParaRPr>
          </a:p>
          <a:p>
            <a:pPr marL="165100" indent="0">
              <a:buNone/>
            </a:pPr>
            <a:r>
              <a:rPr lang="en-US" sz="1200" b="1" dirty="0">
                <a:latin typeface="Calibri" panose="020F0502020204030204" pitchFamily="34" charset="0"/>
                <a:ea typeface="Calibri" panose="020F0502020204030204" pitchFamily="34" charset="0"/>
                <a:cs typeface="Calibri" panose="020F0502020204030204" pitchFamily="34" charset="0"/>
              </a:rPr>
              <a:t>-- orders-shipment</a:t>
            </a:r>
          </a:p>
          <a:p>
            <a:pPr marL="165100" indent="0">
              <a:buNone/>
            </a:pPr>
            <a:r>
              <a:rPr lang="en-US" sz="1200" dirty="0">
                <a:latin typeface="Calibri" panose="020F0502020204030204" pitchFamily="34" charset="0"/>
                <a:ea typeface="Calibri" panose="020F0502020204030204" pitchFamily="34" charset="0"/>
                <a:cs typeface="Calibri" panose="020F0502020204030204" pitchFamily="34" charset="0"/>
              </a:rPr>
              <a:t> SELECT </a:t>
            </a:r>
            <a:r>
              <a:rPr lang="en-US" sz="1200" dirty="0" err="1">
                <a:latin typeface="Calibri" panose="020F0502020204030204" pitchFamily="34" charset="0"/>
                <a:ea typeface="Calibri" panose="020F0502020204030204" pitchFamily="34" charset="0"/>
                <a:cs typeface="Calibri" panose="020F0502020204030204" pitchFamily="34" charset="0"/>
              </a:rPr>
              <a:t>s.Shipment_ID</a:t>
            </a:r>
            <a:r>
              <a:rPr lang="en-US" sz="1200" dirty="0">
                <a:latin typeface="Calibri" panose="020F0502020204030204" pitchFamily="34" charset="0"/>
                <a:ea typeface="Calibri" panose="020F0502020204030204" pitchFamily="34" charset="0"/>
                <a:cs typeface="Calibri" panose="020F0502020204030204" pitchFamily="34" charset="0"/>
              </a:rPr>
              <a:t>, </a:t>
            </a:r>
            <a:r>
              <a:rPr lang="en-US" sz="1200" dirty="0" err="1">
                <a:latin typeface="Calibri" panose="020F0502020204030204" pitchFamily="34" charset="0"/>
                <a:ea typeface="Calibri" panose="020F0502020204030204" pitchFamily="34" charset="0"/>
                <a:cs typeface="Calibri" panose="020F0502020204030204" pitchFamily="34" charset="0"/>
              </a:rPr>
              <a:t>s.Order_IDFROM</a:t>
            </a:r>
            <a:r>
              <a:rPr lang="en-US" sz="1200" dirty="0">
                <a:latin typeface="Calibri" panose="020F0502020204030204" pitchFamily="34" charset="0"/>
                <a:ea typeface="Calibri" panose="020F0502020204030204" pitchFamily="34" charset="0"/>
                <a:cs typeface="Calibri" panose="020F0502020204030204" pitchFamily="34" charset="0"/>
              </a:rPr>
              <a:t> shipments </a:t>
            </a:r>
            <a:r>
              <a:rPr lang="en-US" sz="1200" dirty="0" err="1">
                <a:latin typeface="Calibri" panose="020F0502020204030204" pitchFamily="34" charset="0"/>
                <a:ea typeface="Calibri" panose="020F0502020204030204" pitchFamily="34" charset="0"/>
                <a:cs typeface="Calibri" panose="020F0502020204030204" pitchFamily="34" charset="0"/>
              </a:rPr>
              <a:t>sLEFT</a:t>
            </a:r>
            <a:r>
              <a:rPr lang="en-US" sz="1200" dirty="0">
                <a:latin typeface="Calibri" panose="020F0502020204030204" pitchFamily="34" charset="0"/>
                <a:ea typeface="Calibri" panose="020F0502020204030204" pitchFamily="34" charset="0"/>
                <a:cs typeface="Calibri" panose="020F0502020204030204" pitchFamily="34" charset="0"/>
              </a:rPr>
              <a:t> JOIN orders </a:t>
            </a:r>
            <a:r>
              <a:rPr lang="en-US" sz="1200" dirty="0" err="1">
                <a:latin typeface="Calibri" panose="020F0502020204030204" pitchFamily="34" charset="0"/>
                <a:ea typeface="Calibri" panose="020F0502020204030204" pitchFamily="34" charset="0"/>
                <a:cs typeface="Calibri" panose="020F0502020204030204" pitchFamily="34" charset="0"/>
              </a:rPr>
              <a:t>oON</a:t>
            </a:r>
            <a:r>
              <a:rPr lang="en-US" sz="1200" dirty="0">
                <a:latin typeface="Calibri" panose="020F0502020204030204" pitchFamily="34" charset="0"/>
                <a:ea typeface="Calibri" panose="020F0502020204030204" pitchFamily="34" charset="0"/>
                <a:cs typeface="Calibri" panose="020F0502020204030204" pitchFamily="34" charset="0"/>
              </a:rPr>
              <a:t> </a:t>
            </a:r>
            <a:r>
              <a:rPr lang="en-US" sz="1200" dirty="0" err="1">
                <a:latin typeface="Calibri" panose="020F0502020204030204" pitchFamily="34" charset="0"/>
                <a:ea typeface="Calibri" panose="020F0502020204030204" pitchFamily="34" charset="0"/>
                <a:cs typeface="Calibri" panose="020F0502020204030204" pitchFamily="34" charset="0"/>
              </a:rPr>
              <a:t>s.Order_ID</a:t>
            </a:r>
            <a:r>
              <a:rPr lang="en-US" sz="1200" dirty="0">
                <a:latin typeface="Calibri" panose="020F0502020204030204" pitchFamily="34" charset="0"/>
                <a:ea typeface="Calibri" panose="020F0502020204030204" pitchFamily="34" charset="0"/>
                <a:cs typeface="Calibri" panose="020F0502020204030204" pitchFamily="34" charset="0"/>
              </a:rPr>
              <a:t> = </a:t>
            </a:r>
            <a:r>
              <a:rPr lang="en-US" sz="1200" dirty="0" err="1">
                <a:latin typeface="Calibri" panose="020F0502020204030204" pitchFamily="34" charset="0"/>
                <a:ea typeface="Calibri" panose="020F0502020204030204" pitchFamily="34" charset="0"/>
                <a:cs typeface="Calibri" panose="020F0502020204030204" pitchFamily="34" charset="0"/>
              </a:rPr>
              <a:t>o.Order_IDWHERE</a:t>
            </a:r>
            <a:r>
              <a:rPr lang="en-US" sz="1200" dirty="0">
                <a:latin typeface="Calibri" panose="020F0502020204030204" pitchFamily="34" charset="0"/>
                <a:ea typeface="Calibri" panose="020F0502020204030204" pitchFamily="34" charset="0"/>
                <a:cs typeface="Calibri" panose="020F0502020204030204" pitchFamily="34" charset="0"/>
              </a:rPr>
              <a:t> </a:t>
            </a:r>
            <a:r>
              <a:rPr lang="en-US" sz="1200" dirty="0" err="1">
                <a:latin typeface="Calibri" panose="020F0502020204030204" pitchFamily="34" charset="0"/>
                <a:ea typeface="Calibri" panose="020F0502020204030204" pitchFamily="34" charset="0"/>
                <a:cs typeface="Calibri" panose="020F0502020204030204" pitchFamily="34" charset="0"/>
              </a:rPr>
              <a:t>o.Order_ID</a:t>
            </a:r>
            <a:r>
              <a:rPr lang="en-US" sz="1200" dirty="0">
                <a:latin typeface="Calibri" panose="020F0502020204030204" pitchFamily="34" charset="0"/>
                <a:ea typeface="Calibri" panose="020F0502020204030204" pitchFamily="34" charset="0"/>
                <a:cs typeface="Calibri" panose="020F0502020204030204" pitchFamily="34" charset="0"/>
              </a:rPr>
              <a:t> IS NULL;</a:t>
            </a:r>
          </a:p>
          <a:p>
            <a:pPr marL="165100" indent="0">
              <a:buNone/>
            </a:pPr>
            <a:endParaRPr lang="en-US" sz="1200" dirty="0">
              <a:latin typeface="Calibri" panose="020F0502020204030204" pitchFamily="34" charset="0"/>
              <a:ea typeface="Calibri" panose="020F0502020204030204" pitchFamily="34" charset="0"/>
              <a:cs typeface="Calibri" panose="020F0502020204030204" pitchFamily="34" charset="0"/>
            </a:endParaRPr>
          </a:p>
          <a:p>
            <a:pPr marL="165100" indent="0">
              <a:buNone/>
            </a:pPr>
            <a:r>
              <a:rPr lang="en-US" sz="1200" b="1" dirty="0">
                <a:latin typeface="Calibri" panose="020F0502020204030204" pitchFamily="34" charset="0"/>
                <a:ea typeface="Calibri" panose="020F0502020204030204" pitchFamily="34" charset="0"/>
                <a:cs typeface="Calibri" panose="020F0502020204030204" pitchFamily="34" charset="0"/>
              </a:rPr>
              <a:t>-- shipment-route</a:t>
            </a:r>
          </a:p>
          <a:p>
            <a:pPr marL="165100" indent="0">
              <a:buNone/>
            </a:pPr>
            <a:r>
              <a:rPr lang="en-US" sz="1200" dirty="0">
                <a:latin typeface="Calibri" panose="020F0502020204030204" pitchFamily="34" charset="0"/>
                <a:ea typeface="Calibri" panose="020F0502020204030204" pitchFamily="34" charset="0"/>
                <a:cs typeface="Calibri" panose="020F0502020204030204" pitchFamily="34" charset="0"/>
              </a:rPr>
              <a:t>SELECT </a:t>
            </a:r>
            <a:r>
              <a:rPr lang="en-US" sz="1200" dirty="0" err="1">
                <a:latin typeface="Calibri" panose="020F0502020204030204" pitchFamily="34" charset="0"/>
                <a:ea typeface="Calibri" panose="020F0502020204030204" pitchFamily="34" charset="0"/>
                <a:cs typeface="Calibri" panose="020F0502020204030204" pitchFamily="34" charset="0"/>
              </a:rPr>
              <a:t>s.Shipment_ID</a:t>
            </a:r>
            <a:r>
              <a:rPr lang="en-US" sz="1200" dirty="0">
                <a:latin typeface="Calibri" panose="020F0502020204030204" pitchFamily="34" charset="0"/>
                <a:ea typeface="Calibri" panose="020F0502020204030204" pitchFamily="34" charset="0"/>
                <a:cs typeface="Calibri" panose="020F0502020204030204" pitchFamily="34" charset="0"/>
              </a:rPr>
              <a:t>, </a:t>
            </a:r>
            <a:r>
              <a:rPr lang="en-US" sz="1200" dirty="0" err="1">
                <a:latin typeface="Calibri" panose="020F0502020204030204" pitchFamily="34" charset="0"/>
                <a:ea typeface="Calibri" panose="020F0502020204030204" pitchFamily="34" charset="0"/>
                <a:cs typeface="Calibri" panose="020F0502020204030204" pitchFamily="34" charset="0"/>
              </a:rPr>
              <a:t>s.Route_IDFROM</a:t>
            </a:r>
            <a:r>
              <a:rPr lang="en-US" sz="1200" dirty="0">
                <a:latin typeface="Calibri" panose="020F0502020204030204" pitchFamily="34" charset="0"/>
                <a:ea typeface="Calibri" panose="020F0502020204030204" pitchFamily="34" charset="0"/>
                <a:cs typeface="Calibri" panose="020F0502020204030204" pitchFamily="34" charset="0"/>
              </a:rPr>
              <a:t> shipments </a:t>
            </a:r>
            <a:r>
              <a:rPr lang="en-US" sz="1200" dirty="0" err="1">
                <a:latin typeface="Calibri" panose="020F0502020204030204" pitchFamily="34" charset="0"/>
                <a:ea typeface="Calibri" panose="020F0502020204030204" pitchFamily="34" charset="0"/>
                <a:cs typeface="Calibri" panose="020F0502020204030204" pitchFamily="34" charset="0"/>
              </a:rPr>
              <a:t>sLEFT</a:t>
            </a:r>
            <a:r>
              <a:rPr lang="en-US" sz="1200" dirty="0">
                <a:latin typeface="Calibri" panose="020F0502020204030204" pitchFamily="34" charset="0"/>
                <a:ea typeface="Calibri" panose="020F0502020204030204" pitchFamily="34" charset="0"/>
                <a:cs typeface="Calibri" panose="020F0502020204030204" pitchFamily="34" charset="0"/>
              </a:rPr>
              <a:t> JOIN routes </a:t>
            </a:r>
            <a:r>
              <a:rPr lang="en-US" sz="1200" dirty="0" err="1">
                <a:latin typeface="Calibri" panose="020F0502020204030204" pitchFamily="34" charset="0"/>
                <a:ea typeface="Calibri" panose="020F0502020204030204" pitchFamily="34" charset="0"/>
                <a:cs typeface="Calibri" panose="020F0502020204030204" pitchFamily="34" charset="0"/>
              </a:rPr>
              <a:t>rON</a:t>
            </a:r>
            <a:r>
              <a:rPr lang="en-US" sz="1200" dirty="0">
                <a:latin typeface="Calibri" panose="020F0502020204030204" pitchFamily="34" charset="0"/>
                <a:ea typeface="Calibri" panose="020F0502020204030204" pitchFamily="34" charset="0"/>
                <a:cs typeface="Calibri" panose="020F0502020204030204" pitchFamily="34" charset="0"/>
              </a:rPr>
              <a:t> </a:t>
            </a:r>
            <a:r>
              <a:rPr lang="en-US" sz="1200" dirty="0" err="1">
                <a:latin typeface="Calibri" panose="020F0502020204030204" pitchFamily="34" charset="0"/>
                <a:ea typeface="Calibri" panose="020F0502020204030204" pitchFamily="34" charset="0"/>
                <a:cs typeface="Calibri" panose="020F0502020204030204" pitchFamily="34" charset="0"/>
              </a:rPr>
              <a:t>s.Route_ID</a:t>
            </a:r>
            <a:r>
              <a:rPr lang="en-US" sz="1200" dirty="0">
                <a:latin typeface="Calibri" panose="020F0502020204030204" pitchFamily="34" charset="0"/>
                <a:ea typeface="Calibri" panose="020F0502020204030204" pitchFamily="34" charset="0"/>
                <a:cs typeface="Calibri" panose="020F0502020204030204" pitchFamily="34" charset="0"/>
              </a:rPr>
              <a:t> = </a:t>
            </a:r>
            <a:r>
              <a:rPr lang="en-US" sz="1200" dirty="0" err="1">
                <a:latin typeface="Calibri" panose="020F0502020204030204" pitchFamily="34" charset="0"/>
                <a:ea typeface="Calibri" panose="020F0502020204030204" pitchFamily="34" charset="0"/>
                <a:cs typeface="Calibri" panose="020F0502020204030204" pitchFamily="34" charset="0"/>
              </a:rPr>
              <a:t>r.Route_IDWHERE</a:t>
            </a:r>
            <a:r>
              <a:rPr lang="en-US" sz="1200" dirty="0">
                <a:latin typeface="Calibri" panose="020F0502020204030204" pitchFamily="34" charset="0"/>
                <a:ea typeface="Calibri" panose="020F0502020204030204" pitchFamily="34" charset="0"/>
                <a:cs typeface="Calibri" panose="020F0502020204030204" pitchFamily="34" charset="0"/>
              </a:rPr>
              <a:t> </a:t>
            </a:r>
            <a:r>
              <a:rPr lang="en-US" sz="1200" dirty="0" err="1">
                <a:latin typeface="Calibri" panose="020F0502020204030204" pitchFamily="34" charset="0"/>
                <a:ea typeface="Calibri" panose="020F0502020204030204" pitchFamily="34" charset="0"/>
                <a:cs typeface="Calibri" panose="020F0502020204030204" pitchFamily="34" charset="0"/>
              </a:rPr>
              <a:t>r.Route_ID</a:t>
            </a:r>
            <a:r>
              <a:rPr lang="en-US" sz="1200" dirty="0">
                <a:latin typeface="Calibri" panose="020F0502020204030204" pitchFamily="34" charset="0"/>
                <a:ea typeface="Calibri" panose="020F0502020204030204" pitchFamily="34" charset="0"/>
                <a:cs typeface="Calibri" panose="020F0502020204030204" pitchFamily="34" charset="0"/>
              </a:rPr>
              <a:t> IS NULL;</a:t>
            </a:r>
          </a:p>
          <a:p>
            <a:pPr marL="165100" indent="0">
              <a:buNone/>
            </a:pPr>
            <a:endParaRPr lang="en-US" sz="1200" dirty="0">
              <a:latin typeface="Calibri" panose="020F0502020204030204" pitchFamily="34" charset="0"/>
              <a:ea typeface="Calibri" panose="020F0502020204030204" pitchFamily="34" charset="0"/>
              <a:cs typeface="Calibri" panose="020F0502020204030204" pitchFamily="34" charset="0"/>
            </a:endParaRPr>
          </a:p>
          <a:p>
            <a:pPr marL="165100" indent="0">
              <a:buNone/>
            </a:pPr>
            <a:r>
              <a:rPr lang="en-US" sz="1200" b="1" dirty="0">
                <a:latin typeface="Calibri" panose="020F0502020204030204" pitchFamily="34" charset="0"/>
                <a:ea typeface="Calibri" panose="020F0502020204030204" pitchFamily="34" charset="0"/>
                <a:cs typeface="Calibri" panose="020F0502020204030204" pitchFamily="34" charset="0"/>
              </a:rPr>
              <a:t>--  shipments - warehouse </a:t>
            </a:r>
          </a:p>
          <a:p>
            <a:pPr marL="165100" indent="0">
              <a:buNone/>
            </a:pPr>
            <a:r>
              <a:rPr lang="en-US" sz="1200" dirty="0">
                <a:latin typeface="Calibri" panose="020F0502020204030204" pitchFamily="34" charset="0"/>
                <a:ea typeface="Calibri" panose="020F0502020204030204" pitchFamily="34" charset="0"/>
                <a:cs typeface="Calibri" panose="020F0502020204030204" pitchFamily="34" charset="0"/>
              </a:rPr>
              <a:t>SELECT </a:t>
            </a:r>
            <a:r>
              <a:rPr lang="en-US" sz="1200" dirty="0" err="1">
                <a:latin typeface="Calibri" panose="020F0502020204030204" pitchFamily="34" charset="0"/>
                <a:ea typeface="Calibri" panose="020F0502020204030204" pitchFamily="34" charset="0"/>
                <a:cs typeface="Calibri" panose="020F0502020204030204" pitchFamily="34" charset="0"/>
              </a:rPr>
              <a:t>s.Shipment_ID</a:t>
            </a:r>
            <a:r>
              <a:rPr lang="en-US" sz="1200" dirty="0">
                <a:latin typeface="Calibri" panose="020F0502020204030204" pitchFamily="34" charset="0"/>
                <a:ea typeface="Calibri" panose="020F0502020204030204" pitchFamily="34" charset="0"/>
                <a:cs typeface="Calibri" panose="020F0502020204030204" pitchFamily="34" charset="0"/>
              </a:rPr>
              <a:t>, </a:t>
            </a:r>
            <a:r>
              <a:rPr lang="en-US" sz="1200" dirty="0" err="1">
                <a:latin typeface="Calibri" panose="020F0502020204030204" pitchFamily="34" charset="0"/>
                <a:ea typeface="Calibri" panose="020F0502020204030204" pitchFamily="34" charset="0"/>
                <a:cs typeface="Calibri" panose="020F0502020204030204" pitchFamily="34" charset="0"/>
              </a:rPr>
              <a:t>s.Warehouse_IDFROM</a:t>
            </a:r>
            <a:r>
              <a:rPr lang="en-US" sz="1200" dirty="0">
                <a:latin typeface="Calibri" panose="020F0502020204030204" pitchFamily="34" charset="0"/>
                <a:ea typeface="Calibri" panose="020F0502020204030204" pitchFamily="34" charset="0"/>
                <a:cs typeface="Calibri" panose="020F0502020204030204" pitchFamily="34" charset="0"/>
              </a:rPr>
              <a:t> shipments </a:t>
            </a:r>
            <a:r>
              <a:rPr lang="en-US" sz="1200" dirty="0" err="1">
                <a:latin typeface="Calibri" panose="020F0502020204030204" pitchFamily="34" charset="0"/>
                <a:ea typeface="Calibri" panose="020F0502020204030204" pitchFamily="34" charset="0"/>
                <a:cs typeface="Calibri" panose="020F0502020204030204" pitchFamily="34" charset="0"/>
              </a:rPr>
              <a:t>sLEFT</a:t>
            </a:r>
            <a:r>
              <a:rPr lang="en-US" sz="1200" dirty="0">
                <a:latin typeface="Calibri" panose="020F0502020204030204" pitchFamily="34" charset="0"/>
                <a:ea typeface="Calibri" panose="020F0502020204030204" pitchFamily="34" charset="0"/>
                <a:cs typeface="Calibri" panose="020F0502020204030204" pitchFamily="34" charset="0"/>
              </a:rPr>
              <a:t> JOIN warehouses </a:t>
            </a:r>
            <a:r>
              <a:rPr lang="en-US" sz="1200" dirty="0" err="1">
                <a:latin typeface="Calibri" panose="020F0502020204030204" pitchFamily="34" charset="0"/>
                <a:ea typeface="Calibri" panose="020F0502020204030204" pitchFamily="34" charset="0"/>
                <a:cs typeface="Calibri" panose="020F0502020204030204" pitchFamily="34" charset="0"/>
              </a:rPr>
              <a:t>wON</a:t>
            </a:r>
            <a:r>
              <a:rPr lang="en-US" sz="1200" dirty="0">
                <a:latin typeface="Calibri" panose="020F0502020204030204" pitchFamily="34" charset="0"/>
                <a:ea typeface="Calibri" panose="020F0502020204030204" pitchFamily="34" charset="0"/>
                <a:cs typeface="Calibri" panose="020F0502020204030204" pitchFamily="34" charset="0"/>
              </a:rPr>
              <a:t> </a:t>
            </a:r>
            <a:r>
              <a:rPr lang="en-US" sz="1200" dirty="0" err="1">
                <a:latin typeface="Calibri" panose="020F0502020204030204" pitchFamily="34" charset="0"/>
                <a:ea typeface="Calibri" panose="020F0502020204030204" pitchFamily="34" charset="0"/>
                <a:cs typeface="Calibri" panose="020F0502020204030204" pitchFamily="34" charset="0"/>
              </a:rPr>
              <a:t>s.Warehouse_ID</a:t>
            </a:r>
            <a:r>
              <a:rPr lang="en-US" sz="1200" dirty="0">
                <a:latin typeface="Calibri" panose="020F0502020204030204" pitchFamily="34" charset="0"/>
                <a:ea typeface="Calibri" panose="020F0502020204030204" pitchFamily="34" charset="0"/>
                <a:cs typeface="Calibri" panose="020F0502020204030204" pitchFamily="34" charset="0"/>
              </a:rPr>
              <a:t> = </a:t>
            </a:r>
            <a:r>
              <a:rPr lang="en-US" sz="1200" dirty="0" err="1">
                <a:latin typeface="Calibri" panose="020F0502020204030204" pitchFamily="34" charset="0"/>
                <a:ea typeface="Calibri" panose="020F0502020204030204" pitchFamily="34" charset="0"/>
                <a:cs typeface="Calibri" panose="020F0502020204030204" pitchFamily="34" charset="0"/>
              </a:rPr>
              <a:t>w.Warehouse_IDWHERE</a:t>
            </a:r>
            <a:r>
              <a:rPr lang="en-US" sz="1200" dirty="0">
                <a:latin typeface="Calibri" panose="020F0502020204030204" pitchFamily="34" charset="0"/>
                <a:ea typeface="Calibri" panose="020F0502020204030204" pitchFamily="34" charset="0"/>
                <a:cs typeface="Calibri" panose="020F0502020204030204" pitchFamily="34" charset="0"/>
              </a:rPr>
              <a:t> </a:t>
            </a:r>
            <a:r>
              <a:rPr lang="en-US" sz="1200" dirty="0" err="1">
                <a:latin typeface="Calibri" panose="020F0502020204030204" pitchFamily="34" charset="0"/>
                <a:ea typeface="Calibri" panose="020F0502020204030204" pitchFamily="34" charset="0"/>
                <a:cs typeface="Calibri" panose="020F0502020204030204" pitchFamily="34" charset="0"/>
              </a:rPr>
              <a:t>w.Warehouse_ID</a:t>
            </a:r>
            <a:r>
              <a:rPr lang="en-US" sz="1200" dirty="0">
                <a:latin typeface="Calibri" panose="020F0502020204030204" pitchFamily="34" charset="0"/>
                <a:ea typeface="Calibri" panose="020F0502020204030204" pitchFamily="34" charset="0"/>
                <a:cs typeface="Calibri" panose="020F0502020204030204" pitchFamily="34" charset="0"/>
              </a:rPr>
              <a:t> IS NULL;</a:t>
            </a:r>
          </a:p>
        </p:txBody>
      </p:sp>
      <p:pic>
        <p:nvPicPr>
          <p:cNvPr id="5" name="Picture 4">
            <a:extLst>
              <a:ext uri="{FF2B5EF4-FFF2-40B4-BE49-F238E27FC236}">
                <a16:creationId xmlns:a16="http://schemas.microsoft.com/office/drawing/2014/main" id="{7EAC1C14-9429-473B-8107-1A126BF00111}"/>
              </a:ext>
            </a:extLst>
          </p:cNvPr>
          <p:cNvPicPr>
            <a:picLocks noChangeAspect="1"/>
          </p:cNvPicPr>
          <p:nvPr/>
        </p:nvPicPr>
        <p:blipFill>
          <a:blip r:embed="rId2"/>
          <a:stretch>
            <a:fillRect/>
          </a:stretch>
        </p:blipFill>
        <p:spPr>
          <a:xfrm>
            <a:off x="2763520" y="723783"/>
            <a:ext cx="2224306" cy="879946"/>
          </a:xfrm>
          <a:prstGeom prst="rect">
            <a:avLst/>
          </a:prstGeom>
        </p:spPr>
      </p:pic>
    </p:spTree>
    <p:extLst>
      <p:ext uri="{BB962C8B-B14F-4D97-AF65-F5344CB8AC3E}">
        <p14:creationId xmlns:p14="http://schemas.microsoft.com/office/powerpoint/2010/main" val="36995579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D94ED3E-4A0D-4D3D-8E9D-227B49FFA298}"/>
              </a:ext>
            </a:extLst>
          </p:cNvPr>
          <p:cNvSpPr txBox="1"/>
          <p:nvPr/>
        </p:nvSpPr>
        <p:spPr>
          <a:xfrm>
            <a:off x="295275" y="105988"/>
            <a:ext cx="7629525" cy="584775"/>
          </a:xfrm>
          <a:prstGeom prst="rect">
            <a:avLst/>
          </a:prstGeom>
          <a:noFill/>
        </p:spPr>
        <p:txBody>
          <a:bodyPr wrap="square" rtlCol="0">
            <a:spAutoFit/>
          </a:bodyPr>
          <a:lstStyle/>
          <a:p>
            <a:r>
              <a:rPr lang="en-US" sz="3200" dirty="0">
                <a:latin typeface="Calibri" panose="020F0502020204030204" pitchFamily="34" charset="0"/>
                <a:ea typeface="Calibri" panose="020F0502020204030204" pitchFamily="34" charset="0"/>
                <a:cs typeface="Calibri" panose="020F0502020204030204" pitchFamily="34" charset="0"/>
              </a:rPr>
              <a:t>TASK 2: DELIVERY DELAY ANALYSIS</a:t>
            </a:r>
          </a:p>
        </p:txBody>
      </p:sp>
      <p:sp>
        <p:nvSpPr>
          <p:cNvPr id="4" name="TextBox 3">
            <a:extLst>
              <a:ext uri="{FF2B5EF4-FFF2-40B4-BE49-F238E27FC236}">
                <a16:creationId xmlns:a16="http://schemas.microsoft.com/office/drawing/2014/main" id="{BF3338C6-F1F3-44A1-B6AD-E7F6BF629616}"/>
              </a:ext>
            </a:extLst>
          </p:cNvPr>
          <p:cNvSpPr txBox="1"/>
          <p:nvPr/>
        </p:nvSpPr>
        <p:spPr>
          <a:xfrm>
            <a:off x="85725" y="782955"/>
            <a:ext cx="9058275" cy="4247317"/>
          </a:xfrm>
          <a:prstGeom prst="rect">
            <a:avLst/>
          </a:prstGeom>
          <a:noFill/>
        </p:spPr>
        <p:txBody>
          <a:bodyPr wrap="square" rtlCol="0">
            <a:spAutoFit/>
          </a:bodyPr>
          <a:lstStyle/>
          <a:p>
            <a:r>
              <a:rPr lang="en-US" sz="1200" b="1" u="sng" dirty="0">
                <a:latin typeface="Calibri" panose="020F0502020204030204" pitchFamily="34" charset="0"/>
                <a:ea typeface="Calibri" panose="020F0502020204030204" pitchFamily="34" charset="0"/>
                <a:cs typeface="Calibri" panose="020F0502020204030204" pitchFamily="34" charset="0"/>
              </a:rPr>
              <a:t>OBJECTIVE</a:t>
            </a:r>
          </a:p>
          <a:p>
            <a:r>
              <a:rPr lang="en-US" sz="1200" dirty="0">
                <a:latin typeface="Calibri" panose="020F0502020204030204" pitchFamily="34" charset="0"/>
                <a:ea typeface="Calibri" panose="020F0502020204030204" pitchFamily="34" charset="0"/>
                <a:cs typeface="Calibri" panose="020F0502020204030204" pitchFamily="34" charset="0"/>
              </a:rPr>
              <a:t>Analyze delivery delays to identify inefficient routes, warehouses, and service types impacting delivery performance.</a:t>
            </a:r>
          </a:p>
          <a:p>
            <a:endParaRPr lang="en-US" sz="1200" dirty="0">
              <a:latin typeface="Calibri" panose="020F0502020204030204" pitchFamily="34" charset="0"/>
              <a:ea typeface="Calibri" panose="020F0502020204030204" pitchFamily="34" charset="0"/>
              <a:cs typeface="Calibri" panose="020F0502020204030204" pitchFamily="34" charset="0"/>
            </a:endParaRPr>
          </a:p>
          <a:p>
            <a:r>
              <a:rPr lang="en-US" sz="1200" b="1" u="sng" dirty="0">
                <a:latin typeface="Calibri" panose="020F0502020204030204" pitchFamily="34" charset="0"/>
                <a:ea typeface="Calibri" panose="020F0502020204030204" pitchFamily="34" charset="0"/>
                <a:cs typeface="Calibri" panose="020F0502020204030204" pitchFamily="34" charset="0"/>
              </a:rPr>
              <a:t>TASKS : </a:t>
            </a:r>
          </a:p>
          <a:p>
            <a:pPr marL="285750" indent="-285750">
              <a:buFont typeface="Arial" panose="020B0604020202020204" pitchFamily="34" charset="0"/>
              <a:buChar char="•"/>
            </a:pPr>
            <a:r>
              <a:rPr lang="en-US" b="1" dirty="0">
                <a:latin typeface="Calibri" panose="020F0502020204030204" pitchFamily="34" charset="0"/>
                <a:ea typeface="Calibri" panose="020F0502020204030204" pitchFamily="34" charset="0"/>
                <a:cs typeface="Calibri" panose="020F0502020204030204" pitchFamily="34" charset="0"/>
              </a:rPr>
              <a:t>Calculate delivery delay (in hours) for each shipment using </a:t>
            </a:r>
            <a:r>
              <a:rPr lang="en-US" b="1" dirty="0" err="1">
                <a:latin typeface="Calibri" panose="020F0502020204030204" pitchFamily="34" charset="0"/>
                <a:ea typeface="Calibri" panose="020F0502020204030204" pitchFamily="34" charset="0"/>
                <a:cs typeface="Calibri" panose="020F0502020204030204" pitchFamily="34" charset="0"/>
              </a:rPr>
              <a:t>Delivery_Date</a:t>
            </a:r>
            <a:r>
              <a:rPr lang="en-US" b="1" dirty="0">
                <a:latin typeface="Calibri" panose="020F0502020204030204" pitchFamily="34" charset="0"/>
                <a:ea typeface="Calibri" panose="020F0502020204030204" pitchFamily="34" charset="0"/>
                <a:cs typeface="Calibri" panose="020F0502020204030204" pitchFamily="34" charset="0"/>
              </a:rPr>
              <a:t> – </a:t>
            </a:r>
            <a:r>
              <a:rPr lang="en-US" b="1" dirty="0" err="1">
                <a:latin typeface="Calibri" panose="020F0502020204030204" pitchFamily="34" charset="0"/>
                <a:ea typeface="Calibri" panose="020F0502020204030204" pitchFamily="34" charset="0"/>
                <a:cs typeface="Calibri" panose="020F0502020204030204" pitchFamily="34" charset="0"/>
              </a:rPr>
              <a:t>Pickup_Date</a:t>
            </a:r>
            <a:r>
              <a:rPr lang="en-US" b="1" dirty="0">
                <a:latin typeface="Calibri" panose="020F0502020204030204" pitchFamily="34" charset="0"/>
                <a:ea typeface="Calibri" panose="020F0502020204030204" pitchFamily="34" charset="0"/>
                <a:cs typeface="Calibri" panose="020F0502020204030204" pitchFamily="34" charset="0"/>
              </a:rPr>
              <a:t>. </a:t>
            </a:r>
            <a:br>
              <a:rPr lang="en-US" sz="1200" b="1" dirty="0">
                <a:latin typeface="Calibri" panose="020F0502020204030204" pitchFamily="34" charset="0"/>
                <a:ea typeface="Calibri" panose="020F0502020204030204" pitchFamily="34" charset="0"/>
                <a:cs typeface="Calibri" panose="020F0502020204030204" pitchFamily="34" charset="0"/>
              </a:rPr>
            </a:br>
            <a:br>
              <a:rPr lang="en-US" sz="1200" b="1" dirty="0">
                <a:latin typeface="Calibri" panose="020F0502020204030204" pitchFamily="34" charset="0"/>
                <a:ea typeface="Calibri" panose="020F0502020204030204" pitchFamily="34" charset="0"/>
                <a:cs typeface="Calibri" panose="020F0502020204030204" pitchFamily="34" charset="0"/>
              </a:rPr>
            </a:br>
            <a:r>
              <a:rPr lang="en-US" sz="1200" dirty="0">
                <a:solidFill>
                  <a:schemeClr val="bg1"/>
                </a:solidFill>
                <a:latin typeface="Calibri" panose="020F0502020204030204" pitchFamily="34" charset="0"/>
                <a:ea typeface="Calibri" panose="020F0502020204030204" pitchFamily="34" charset="0"/>
                <a:cs typeface="Calibri" panose="020F0502020204030204" pitchFamily="34" charset="0"/>
              </a:rPr>
              <a:t>SELECT     </a:t>
            </a:r>
            <a:br>
              <a:rPr lang="en-US" sz="1200" dirty="0">
                <a:solidFill>
                  <a:schemeClr val="bg1"/>
                </a:solidFill>
                <a:latin typeface="Calibri" panose="020F0502020204030204" pitchFamily="34" charset="0"/>
                <a:ea typeface="Calibri" panose="020F0502020204030204" pitchFamily="34" charset="0"/>
                <a:cs typeface="Calibri" panose="020F0502020204030204" pitchFamily="34" charset="0"/>
              </a:rPr>
            </a:br>
            <a:r>
              <a:rPr lang="en-US" sz="1200" dirty="0">
                <a:solidFill>
                  <a:schemeClr val="bg1"/>
                </a:solidFill>
                <a:latin typeface="Calibri" panose="020F0502020204030204" pitchFamily="34" charset="0"/>
                <a:ea typeface="Calibri" panose="020F0502020204030204" pitchFamily="34" charset="0"/>
                <a:cs typeface="Calibri" panose="020F0502020204030204" pitchFamily="34" charset="0"/>
              </a:rPr>
              <a:t>	</a:t>
            </a:r>
            <a:r>
              <a:rPr lang="en-US" sz="1200" dirty="0" err="1">
                <a:solidFill>
                  <a:schemeClr val="bg1"/>
                </a:solidFill>
                <a:latin typeface="Calibri" panose="020F0502020204030204" pitchFamily="34" charset="0"/>
                <a:ea typeface="Calibri" panose="020F0502020204030204" pitchFamily="34" charset="0"/>
                <a:cs typeface="Calibri" panose="020F0502020204030204" pitchFamily="34" charset="0"/>
              </a:rPr>
              <a:t>Shipment_ID</a:t>
            </a:r>
            <a:r>
              <a:rPr lang="en-US" sz="1200" dirty="0">
                <a:solidFill>
                  <a:schemeClr val="bg1"/>
                </a:solidFill>
                <a:latin typeface="Calibri" panose="020F0502020204030204" pitchFamily="34" charset="0"/>
                <a:ea typeface="Calibri" panose="020F0502020204030204" pitchFamily="34" charset="0"/>
                <a:cs typeface="Calibri" panose="020F0502020204030204" pitchFamily="34" charset="0"/>
              </a:rPr>
              <a:t>,</a:t>
            </a:r>
          </a:p>
          <a:p>
            <a:pPr lvl="2"/>
            <a:r>
              <a:rPr lang="en-US" sz="1200" dirty="0">
                <a:solidFill>
                  <a:schemeClr val="bg1"/>
                </a:solidFill>
                <a:latin typeface="Calibri" panose="020F0502020204030204" pitchFamily="34" charset="0"/>
                <a:ea typeface="Calibri" panose="020F0502020204030204" pitchFamily="34" charset="0"/>
                <a:cs typeface="Calibri" panose="020F0502020204030204" pitchFamily="34" charset="0"/>
              </a:rPr>
              <a:t>	</a:t>
            </a:r>
            <a:r>
              <a:rPr lang="en-US" sz="1200" dirty="0" err="1">
                <a:solidFill>
                  <a:schemeClr val="bg1"/>
                </a:solidFill>
                <a:latin typeface="Calibri" panose="020F0502020204030204" pitchFamily="34" charset="0"/>
                <a:ea typeface="Calibri" panose="020F0502020204030204" pitchFamily="34" charset="0"/>
                <a:cs typeface="Calibri" panose="020F0502020204030204" pitchFamily="34" charset="0"/>
              </a:rPr>
              <a:t>Pickup_Date</a:t>
            </a:r>
            <a:r>
              <a:rPr lang="en-US" sz="1200" dirty="0">
                <a:solidFill>
                  <a:schemeClr val="bg1"/>
                </a:solidFill>
                <a:latin typeface="Calibri" panose="020F0502020204030204" pitchFamily="34" charset="0"/>
                <a:ea typeface="Calibri" panose="020F0502020204030204" pitchFamily="34" charset="0"/>
                <a:cs typeface="Calibri" panose="020F0502020204030204" pitchFamily="34" charset="0"/>
              </a:rPr>
              <a:t>,</a:t>
            </a:r>
          </a:p>
          <a:p>
            <a:pPr lvl="2"/>
            <a:r>
              <a:rPr lang="en-US" sz="1200" dirty="0">
                <a:solidFill>
                  <a:schemeClr val="bg1"/>
                </a:solidFill>
                <a:latin typeface="Calibri" panose="020F0502020204030204" pitchFamily="34" charset="0"/>
                <a:ea typeface="Calibri" panose="020F0502020204030204" pitchFamily="34" charset="0"/>
                <a:cs typeface="Calibri" panose="020F0502020204030204" pitchFamily="34" charset="0"/>
              </a:rPr>
              <a:t>	</a:t>
            </a:r>
            <a:r>
              <a:rPr lang="en-US" sz="1200" dirty="0" err="1">
                <a:solidFill>
                  <a:schemeClr val="bg1"/>
                </a:solidFill>
                <a:latin typeface="Calibri" panose="020F0502020204030204" pitchFamily="34" charset="0"/>
                <a:ea typeface="Calibri" panose="020F0502020204030204" pitchFamily="34" charset="0"/>
                <a:cs typeface="Calibri" panose="020F0502020204030204" pitchFamily="34" charset="0"/>
              </a:rPr>
              <a:t>Delivery_Date</a:t>
            </a:r>
            <a:r>
              <a:rPr lang="en-US" sz="1200" dirty="0">
                <a:solidFill>
                  <a:schemeClr val="bg1"/>
                </a:solidFill>
                <a:latin typeface="Calibri" panose="020F0502020204030204" pitchFamily="34" charset="0"/>
                <a:ea typeface="Calibri" panose="020F0502020204030204" pitchFamily="34" charset="0"/>
                <a:cs typeface="Calibri" panose="020F0502020204030204" pitchFamily="34" charset="0"/>
              </a:rPr>
              <a:t>, </a:t>
            </a:r>
          </a:p>
          <a:p>
            <a:pPr lvl="2"/>
            <a:r>
              <a:rPr lang="en-US" sz="1200" dirty="0">
                <a:solidFill>
                  <a:schemeClr val="bg1"/>
                </a:solidFill>
                <a:latin typeface="Calibri" panose="020F0502020204030204" pitchFamily="34" charset="0"/>
                <a:ea typeface="Calibri" panose="020F0502020204030204" pitchFamily="34" charset="0"/>
                <a:cs typeface="Calibri" panose="020F0502020204030204" pitchFamily="34" charset="0"/>
              </a:rPr>
              <a:t>	TIMESTAMPDIFF(HOUR, </a:t>
            </a:r>
            <a:r>
              <a:rPr lang="en-US" sz="1200" dirty="0" err="1">
                <a:solidFill>
                  <a:schemeClr val="bg1"/>
                </a:solidFill>
                <a:latin typeface="Calibri" panose="020F0502020204030204" pitchFamily="34" charset="0"/>
                <a:ea typeface="Calibri" panose="020F0502020204030204" pitchFamily="34" charset="0"/>
                <a:cs typeface="Calibri" panose="020F0502020204030204" pitchFamily="34" charset="0"/>
              </a:rPr>
              <a:t>Pickup_Date</a:t>
            </a:r>
            <a:r>
              <a:rPr lang="en-US" sz="1200" dirty="0">
                <a:solidFill>
                  <a:schemeClr val="bg1"/>
                </a:solidFill>
                <a:latin typeface="Calibri" panose="020F0502020204030204" pitchFamily="34" charset="0"/>
                <a:ea typeface="Calibri" panose="020F0502020204030204" pitchFamily="34" charset="0"/>
                <a:cs typeface="Calibri" panose="020F0502020204030204" pitchFamily="34" charset="0"/>
              </a:rPr>
              <a:t>, </a:t>
            </a:r>
            <a:r>
              <a:rPr lang="en-US" sz="1200" dirty="0" err="1">
                <a:solidFill>
                  <a:schemeClr val="bg1"/>
                </a:solidFill>
                <a:latin typeface="Calibri" panose="020F0502020204030204" pitchFamily="34" charset="0"/>
                <a:ea typeface="Calibri" panose="020F0502020204030204" pitchFamily="34" charset="0"/>
                <a:cs typeface="Calibri" panose="020F0502020204030204" pitchFamily="34" charset="0"/>
              </a:rPr>
              <a:t>Delivery_Date</a:t>
            </a:r>
            <a:r>
              <a:rPr lang="en-US" sz="1200" dirty="0">
                <a:solidFill>
                  <a:schemeClr val="bg1"/>
                </a:solidFill>
                <a:latin typeface="Calibri" panose="020F0502020204030204" pitchFamily="34" charset="0"/>
                <a:ea typeface="Calibri" panose="020F0502020204030204" pitchFamily="34" charset="0"/>
                <a:cs typeface="Calibri" panose="020F0502020204030204" pitchFamily="34" charset="0"/>
              </a:rPr>
              <a:t>) AS </a:t>
            </a:r>
            <a:r>
              <a:rPr lang="en-US" sz="1200" dirty="0" err="1">
                <a:solidFill>
                  <a:schemeClr val="bg1"/>
                </a:solidFill>
                <a:latin typeface="Calibri" panose="020F0502020204030204" pitchFamily="34" charset="0"/>
                <a:ea typeface="Calibri" panose="020F0502020204030204" pitchFamily="34" charset="0"/>
                <a:cs typeface="Calibri" panose="020F0502020204030204" pitchFamily="34" charset="0"/>
              </a:rPr>
              <a:t>Delivery_Delay_Hours</a:t>
            </a:r>
            <a:endParaRPr lang="en-US" sz="1200"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r>
              <a:rPr lang="en-US" sz="1200" dirty="0">
                <a:solidFill>
                  <a:schemeClr val="bg1"/>
                </a:solidFill>
                <a:latin typeface="Calibri" panose="020F0502020204030204" pitchFamily="34" charset="0"/>
                <a:ea typeface="Calibri" panose="020F0502020204030204" pitchFamily="34" charset="0"/>
                <a:cs typeface="Calibri" panose="020F0502020204030204" pitchFamily="34" charset="0"/>
              </a:rPr>
              <a:t>      FROM Shipments;</a:t>
            </a:r>
          </a:p>
          <a:p>
            <a:br>
              <a:rPr lang="en-US" sz="1200" dirty="0">
                <a:latin typeface="Calibri" panose="020F0502020204030204" pitchFamily="34" charset="0"/>
                <a:ea typeface="Calibri" panose="020F0502020204030204" pitchFamily="34" charset="0"/>
                <a:cs typeface="Calibri" panose="020F0502020204030204" pitchFamily="34" charset="0"/>
              </a:rPr>
            </a:br>
            <a:r>
              <a:rPr lang="en-US" sz="1200" b="1" u="sng" dirty="0">
                <a:latin typeface="Calibri" panose="020F0502020204030204" pitchFamily="34" charset="0"/>
                <a:ea typeface="Calibri" panose="020F0502020204030204" pitchFamily="34" charset="0"/>
                <a:cs typeface="Calibri" panose="020F0502020204030204" pitchFamily="34" charset="0"/>
              </a:rPr>
              <a:t>What was calculated:</a:t>
            </a:r>
            <a:br>
              <a:rPr lang="en-US" sz="1200" u="sng" dirty="0">
                <a:latin typeface="Calibri" panose="020F0502020204030204" pitchFamily="34" charset="0"/>
                <a:ea typeface="Calibri" panose="020F0502020204030204" pitchFamily="34" charset="0"/>
                <a:cs typeface="Calibri" panose="020F0502020204030204" pitchFamily="34" charset="0"/>
              </a:rPr>
            </a:br>
            <a:r>
              <a:rPr lang="en-US" sz="1200" dirty="0">
                <a:latin typeface="Calibri" panose="020F0502020204030204" pitchFamily="34" charset="0"/>
                <a:ea typeface="Calibri" panose="020F0502020204030204" pitchFamily="34" charset="0"/>
                <a:cs typeface="Calibri" panose="020F0502020204030204" pitchFamily="34" charset="0"/>
              </a:rPr>
              <a:t>The delivery delay for each shipment in hours using the time </a:t>
            </a:r>
          </a:p>
          <a:p>
            <a:r>
              <a:rPr lang="en-US" sz="1200" dirty="0">
                <a:latin typeface="Calibri" panose="020F0502020204030204" pitchFamily="34" charset="0"/>
                <a:ea typeface="Calibri" panose="020F0502020204030204" pitchFamily="34" charset="0"/>
                <a:cs typeface="Calibri" panose="020F0502020204030204" pitchFamily="34" charset="0"/>
              </a:rPr>
              <a:t>difference between pickup and delivery.</a:t>
            </a:r>
          </a:p>
          <a:p>
            <a:endParaRPr lang="en-US" sz="1200" dirty="0">
              <a:latin typeface="Calibri" panose="020F0502020204030204" pitchFamily="34" charset="0"/>
              <a:ea typeface="Calibri" panose="020F0502020204030204" pitchFamily="34" charset="0"/>
              <a:cs typeface="Calibri" panose="020F0502020204030204" pitchFamily="34" charset="0"/>
            </a:endParaRPr>
          </a:p>
          <a:p>
            <a:r>
              <a:rPr lang="en-US" sz="1200" b="1" u="sng" dirty="0">
                <a:latin typeface="Calibri" panose="020F0502020204030204" pitchFamily="34" charset="0"/>
                <a:ea typeface="Calibri" panose="020F0502020204030204" pitchFamily="34" charset="0"/>
                <a:cs typeface="Calibri" panose="020F0502020204030204" pitchFamily="34" charset="0"/>
              </a:rPr>
              <a:t>What we got:</a:t>
            </a:r>
            <a:br>
              <a:rPr lang="en-US" sz="1200" dirty="0">
                <a:latin typeface="Calibri" panose="020F0502020204030204" pitchFamily="34" charset="0"/>
                <a:ea typeface="Calibri" panose="020F0502020204030204" pitchFamily="34" charset="0"/>
                <a:cs typeface="Calibri" panose="020F0502020204030204" pitchFamily="34" charset="0"/>
              </a:rPr>
            </a:br>
            <a:r>
              <a:rPr lang="en-US" sz="1200" dirty="0">
                <a:latin typeface="Calibri" panose="020F0502020204030204" pitchFamily="34" charset="0"/>
                <a:ea typeface="Calibri" panose="020F0502020204030204" pitchFamily="34" charset="0"/>
                <a:cs typeface="Calibri" panose="020F0502020204030204" pitchFamily="34" charset="0"/>
              </a:rPr>
              <a:t>Each shipment now has a clear delay value, making it easy</a:t>
            </a:r>
          </a:p>
          <a:p>
            <a:r>
              <a:rPr lang="en-US" sz="1200" dirty="0">
                <a:latin typeface="Calibri" panose="020F0502020204030204" pitchFamily="34" charset="0"/>
                <a:ea typeface="Calibri" panose="020F0502020204030204" pitchFamily="34" charset="0"/>
                <a:cs typeface="Calibri" panose="020F0502020204030204" pitchFamily="34" charset="0"/>
              </a:rPr>
              <a:t> to identify how long deliveries actually took.</a:t>
            </a:r>
          </a:p>
          <a:p>
            <a:pPr lvl="2"/>
            <a:endParaRPr lang="en-US" dirty="0"/>
          </a:p>
          <a:p>
            <a:endParaRPr lang="en-US" dirty="0"/>
          </a:p>
        </p:txBody>
      </p:sp>
      <p:pic>
        <p:nvPicPr>
          <p:cNvPr id="1026" name="Picture 2" descr="FedEx Logo and symbol, meaning, history, PNG, brand">
            <a:extLst>
              <a:ext uri="{FF2B5EF4-FFF2-40B4-BE49-F238E27FC236}">
                <a16:creationId xmlns:a16="http://schemas.microsoft.com/office/drawing/2014/main" id="{2996362C-AFA9-4D85-B50E-EF59AFA4F64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89661" y="-116436"/>
            <a:ext cx="1830439" cy="1029622"/>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a:extLst>
              <a:ext uri="{FF2B5EF4-FFF2-40B4-BE49-F238E27FC236}">
                <a16:creationId xmlns:a16="http://schemas.microsoft.com/office/drawing/2014/main" id="{7F9DFDEA-898A-4FEB-A090-79B58ECB6196}"/>
              </a:ext>
            </a:extLst>
          </p:cNvPr>
          <p:cNvPicPr>
            <a:picLocks noChangeAspect="1"/>
          </p:cNvPicPr>
          <p:nvPr/>
        </p:nvPicPr>
        <p:blipFill>
          <a:blip r:embed="rId3"/>
          <a:stretch>
            <a:fillRect/>
          </a:stretch>
        </p:blipFill>
        <p:spPr>
          <a:xfrm>
            <a:off x="5381950" y="2972900"/>
            <a:ext cx="3334060" cy="1688494"/>
          </a:xfrm>
          <a:prstGeom prst="rect">
            <a:avLst/>
          </a:prstGeom>
        </p:spPr>
      </p:pic>
    </p:spTree>
    <p:extLst>
      <p:ext uri="{BB962C8B-B14F-4D97-AF65-F5344CB8AC3E}">
        <p14:creationId xmlns:p14="http://schemas.microsoft.com/office/powerpoint/2010/main" val="31224329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F3338C6-F1F3-44A1-B6AD-E7F6BF629616}"/>
              </a:ext>
            </a:extLst>
          </p:cNvPr>
          <p:cNvSpPr txBox="1"/>
          <p:nvPr/>
        </p:nvSpPr>
        <p:spPr>
          <a:xfrm>
            <a:off x="314325" y="285750"/>
            <a:ext cx="8543925" cy="2954655"/>
          </a:xfrm>
          <a:prstGeom prst="rect">
            <a:avLst/>
          </a:prstGeom>
          <a:noFill/>
        </p:spPr>
        <p:txBody>
          <a:bodyPr wrap="square" rtlCol="0">
            <a:spAutoFit/>
          </a:bodyPr>
          <a:lstStyle/>
          <a:p>
            <a:pPr marL="285750" indent="-285750">
              <a:buFont typeface="Arial" panose="020B0604020202020204" pitchFamily="34" charset="0"/>
              <a:buChar char="•"/>
            </a:pPr>
            <a:r>
              <a:rPr lang="en-US" b="1" dirty="0">
                <a:latin typeface="Calibri" panose="020F0502020204030204" pitchFamily="34" charset="0"/>
                <a:ea typeface="Calibri" panose="020F0502020204030204" pitchFamily="34" charset="0"/>
                <a:cs typeface="Calibri" panose="020F0502020204030204" pitchFamily="34" charset="0"/>
              </a:rPr>
              <a:t>Top 10 delayed routes based on average delay hours. </a:t>
            </a:r>
            <a:br>
              <a:rPr lang="en-US" dirty="0">
                <a:latin typeface="Calibri" panose="020F0502020204030204" pitchFamily="34" charset="0"/>
                <a:ea typeface="Calibri" panose="020F0502020204030204" pitchFamily="34" charset="0"/>
                <a:cs typeface="Calibri" panose="020F0502020204030204" pitchFamily="34" charset="0"/>
              </a:rPr>
            </a:br>
            <a:br>
              <a:rPr lang="en-US" dirty="0">
                <a:latin typeface="Calibri" panose="020F0502020204030204" pitchFamily="34" charset="0"/>
                <a:ea typeface="Calibri" panose="020F0502020204030204" pitchFamily="34" charset="0"/>
                <a:cs typeface="Calibri" panose="020F0502020204030204" pitchFamily="34" charset="0"/>
              </a:rPr>
            </a:br>
            <a:r>
              <a:rPr lang="en-US" sz="1200" dirty="0">
                <a:solidFill>
                  <a:schemeClr val="bg1"/>
                </a:solidFill>
                <a:latin typeface="Calibri" panose="020F0502020204030204" pitchFamily="34" charset="0"/>
                <a:ea typeface="Calibri" panose="020F0502020204030204" pitchFamily="34" charset="0"/>
                <a:cs typeface="Calibri" panose="020F0502020204030204" pitchFamily="34" charset="0"/>
              </a:rPr>
              <a:t>SELECT </a:t>
            </a:r>
            <a:r>
              <a:rPr lang="en-US" sz="1200" dirty="0" err="1">
                <a:solidFill>
                  <a:schemeClr val="bg1"/>
                </a:solidFill>
                <a:latin typeface="Calibri" panose="020F0502020204030204" pitchFamily="34" charset="0"/>
                <a:ea typeface="Calibri" panose="020F0502020204030204" pitchFamily="34" charset="0"/>
                <a:cs typeface="Calibri" panose="020F0502020204030204" pitchFamily="34" charset="0"/>
              </a:rPr>
              <a:t>route_id</a:t>
            </a:r>
            <a:r>
              <a:rPr lang="en-US" sz="1200" dirty="0">
                <a:solidFill>
                  <a:schemeClr val="bg1"/>
                </a:solidFill>
                <a:latin typeface="Calibri" panose="020F0502020204030204" pitchFamily="34" charset="0"/>
                <a:ea typeface="Calibri" panose="020F0502020204030204" pitchFamily="34" charset="0"/>
                <a:cs typeface="Calibri" panose="020F0502020204030204" pitchFamily="34" charset="0"/>
              </a:rPr>
              <a:t>,</a:t>
            </a:r>
          </a:p>
          <a:p>
            <a:pPr lvl="1"/>
            <a:r>
              <a:rPr lang="en-US" sz="1200" dirty="0">
                <a:solidFill>
                  <a:schemeClr val="bg1"/>
                </a:solidFill>
                <a:latin typeface="Calibri" panose="020F0502020204030204" pitchFamily="34" charset="0"/>
                <a:ea typeface="Calibri" panose="020F0502020204030204" pitchFamily="34" charset="0"/>
                <a:cs typeface="Calibri" panose="020F0502020204030204" pitchFamily="34" charset="0"/>
              </a:rPr>
              <a:t>	AVG(</a:t>
            </a:r>
            <a:r>
              <a:rPr lang="en-US" sz="1200" dirty="0" err="1">
                <a:solidFill>
                  <a:schemeClr val="bg1"/>
                </a:solidFill>
                <a:latin typeface="Calibri" panose="020F0502020204030204" pitchFamily="34" charset="0"/>
                <a:ea typeface="Calibri" panose="020F0502020204030204" pitchFamily="34" charset="0"/>
                <a:cs typeface="Calibri" panose="020F0502020204030204" pitchFamily="34" charset="0"/>
              </a:rPr>
              <a:t>Delay_Hours</a:t>
            </a:r>
            <a:r>
              <a:rPr lang="en-US" sz="1200" dirty="0">
                <a:solidFill>
                  <a:schemeClr val="bg1"/>
                </a:solidFill>
                <a:latin typeface="Calibri" panose="020F0502020204030204" pitchFamily="34" charset="0"/>
                <a:ea typeface="Calibri" panose="020F0502020204030204" pitchFamily="34" charset="0"/>
                <a:cs typeface="Calibri" panose="020F0502020204030204" pitchFamily="34" charset="0"/>
              </a:rPr>
              <a:t>) AS </a:t>
            </a:r>
            <a:r>
              <a:rPr lang="en-US" sz="1200" dirty="0" err="1">
                <a:solidFill>
                  <a:schemeClr val="bg1"/>
                </a:solidFill>
                <a:latin typeface="Calibri" panose="020F0502020204030204" pitchFamily="34" charset="0"/>
                <a:ea typeface="Calibri" panose="020F0502020204030204" pitchFamily="34" charset="0"/>
                <a:cs typeface="Calibri" panose="020F0502020204030204" pitchFamily="34" charset="0"/>
              </a:rPr>
              <a:t>Avg_Delay_Hours</a:t>
            </a:r>
            <a:endParaRPr lang="en-US" sz="1200"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pPr lvl="1"/>
            <a:r>
              <a:rPr lang="en-US" sz="1200" dirty="0">
                <a:solidFill>
                  <a:schemeClr val="bg1"/>
                </a:solidFill>
                <a:latin typeface="Calibri" panose="020F0502020204030204" pitchFamily="34" charset="0"/>
                <a:ea typeface="Calibri" panose="020F0502020204030204" pitchFamily="34" charset="0"/>
                <a:cs typeface="Calibri" panose="020F0502020204030204" pitchFamily="34" charset="0"/>
              </a:rPr>
              <a:t>      FROM Shipments</a:t>
            </a:r>
          </a:p>
          <a:p>
            <a:pPr lvl="1"/>
            <a:r>
              <a:rPr lang="en-US" sz="1200" dirty="0">
                <a:solidFill>
                  <a:schemeClr val="bg1"/>
                </a:solidFill>
                <a:latin typeface="Calibri" panose="020F0502020204030204" pitchFamily="34" charset="0"/>
                <a:ea typeface="Calibri" panose="020F0502020204030204" pitchFamily="34" charset="0"/>
                <a:cs typeface="Calibri" panose="020F0502020204030204" pitchFamily="34" charset="0"/>
              </a:rPr>
              <a:t>     GROUP BY </a:t>
            </a:r>
            <a:r>
              <a:rPr lang="en-US" sz="1200" dirty="0" err="1">
                <a:solidFill>
                  <a:schemeClr val="bg1"/>
                </a:solidFill>
                <a:latin typeface="Calibri" panose="020F0502020204030204" pitchFamily="34" charset="0"/>
                <a:ea typeface="Calibri" panose="020F0502020204030204" pitchFamily="34" charset="0"/>
                <a:cs typeface="Calibri" panose="020F0502020204030204" pitchFamily="34" charset="0"/>
              </a:rPr>
              <a:t>Route_ID</a:t>
            </a:r>
            <a:endParaRPr lang="en-US" sz="1200"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pPr lvl="1"/>
            <a:r>
              <a:rPr lang="en-US" sz="1200" dirty="0">
                <a:solidFill>
                  <a:schemeClr val="bg1"/>
                </a:solidFill>
                <a:latin typeface="Calibri" panose="020F0502020204030204" pitchFamily="34" charset="0"/>
                <a:ea typeface="Calibri" panose="020F0502020204030204" pitchFamily="34" charset="0"/>
                <a:cs typeface="Calibri" panose="020F0502020204030204" pitchFamily="34" charset="0"/>
              </a:rPr>
              <a:t>     ORDER BY </a:t>
            </a:r>
            <a:r>
              <a:rPr lang="en-US" sz="1200" dirty="0" err="1">
                <a:solidFill>
                  <a:schemeClr val="bg1"/>
                </a:solidFill>
                <a:latin typeface="Calibri" panose="020F0502020204030204" pitchFamily="34" charset="0"/>
                <a:ea typeface="Calibri" panose="020F0502020204030204" pitchFamily="34" charset="0"/>
                <a:cs typeface="Calibri" panose="020F0502020204030204" pitchFamily="34" charset="0"/>
              </a:rPr>
              <a:t>Avg_Delay_Hours</a:t>
            </a:r>
            <a:r>
              <a:rPr lang="en-US" sz="1200" dirty="0">
                <a:solidFill>
                  <a:schemeClr val="bg1"/>
                </a:solidFill>
                <a:latin typeface="Calibri" panose="020F0502020204030204" pitchFamily="34" charset="0"/>
                <a:ea typeface="Calibri" panose="020F0502020204030204" pitchFamily="34" charset="0"/>
                <a:cs typeface="Calibri" panose="020F0502020204030204" pitchFamily="34" charset="0"/>
              </a:rPr>
              <a:t> DESC</a:t>
            </a:r>
          </a:p>
          <a:p>
            <a:pPr lvl="1"/>
            <a:r>
              <a:rPr lang="en-US" sz="1200" dirty="0">
                <a:solidFill>
                  <a:schemeClr val="bg1"/>
                </a:solidFill>
                <a:latin typeface="Calibri" panose="020F0502020204030204" pitchFamily="34" charset="0"/>
                <a:ea typeface="Calibri" panose="020F0502020204030204" pitchFamily="34" charset="0"/>
                <a:cs typeface="Calibri" panose="020F0502020204030204" pitchFamily="34" charset="0"/>
              </a:rPr>
              <a:t>     LIMIT 10;</a:t>
            </a:r>
          </a:p>
          <a:p>
            <a:br>
              <a:rPr lang="en-US" sz="1200" dirty="0">
                <a:latin typeface="Calibri" panose="020F0502020204030204" pitchFamily="34" charset="0"/>
                <a:ea typeface="Calibri" panose="020F0502020204030204" pitchFamily="34" charset="0"/>
                <a:cs typeface="Calibri" panose="020F0502020204030204" pitchFamily="34" charset="0"/>
              </a:rPr>
            </a:br>
            <a:r>
              <a:rPr lang="en-US" sz="1200" b="1" u="sng" dirty="0">
                <a:latin typeface="Calibri" panose="020F0502020204030204" pitchFamily="34" charset="0"/>
                <a:ea typeface="Calibri" panose="020F0502020204030204" pitchFamily="34" charset="0"/>
                <a:cs typeface="Calibri" panose="020F0502020204030204" pitchFamily="34" charset="0"/>
              </a:rPr>
              <a:t>What was calculated:</a:t>
            </a:r>
            <a:br>
              <a:rPr lang="en-US" sz="1200" u="sng" dirty="0">
                <a:latin typeface="Calibri" panose="020F0502020204030204" pitchFamily="34" charset="0"/>
                <a:ea typeface="Calibri" panose="020F0502020204030204" pitchFamily="34" charset="0"/>
                <a:cs typeface="Calibri" panose="020F0502020204030204" pitchFamily="34" charset="0"/>
              </a:rPr>
            </a:br>
            <a:r>
              <a:rPr lang="en-US" sz="1200" dirty="0">
                <a:latin typeface="Calibri" panose="020F0502020204030204" pitchFamily="34" charset="0"/>
                <a:ea typeface="Calibri" panose="020F0502020204030204" pitchFamily="34" charset="0"/>
                <a:cs typeface="Calibri" panose="020F0502020204030204" pitchFamily="34" charset="0"/>
              </a:rPr>
              <a:t>Average delay hours per route and ranked to find the top 10 most delayed routes.</a:t>
            </a:r>
          </a:p>
          <a:p>
            <a:endParaRPr lang="en-US" sz="1200" dirty="0">
              <a:latin typeface="Calibri" panose="020F0502020204030204" pitchFamily="34" charset="0"/>
              <a:ea typeface="Calibri" panose="020F0502020204030204" pitchFamily="34" charset="0"/>
              <a:cs typeface="Calibri" panose="020F0502020204030204" pitchFamily="34" charset="0"/>
            </a:endParaRPr>
          </a:p>
          <a:p>
            <a:r>
              <a:rPr lang="en-US" sz="1200" b="1" u="sng" dirty="0">
                <a:latin typeface="Calibri" panose="020F0502020204030204" pitchFamily="34" charset="0"/>
                <a:ea typeface="Calibri" panose="020F0502020204030204" pitchFamily="34" charset="0"/>
                <a:cs typeface="Calibri" panose="020F0502020204030204" pitchFamily="34" charset="0"/>
              </a:rPr>
              <a:t>What we got:</a:t>
            </a:r>
            <a:br>
              <a:rPr lang="en-US" sz="1200" dirty="0">
                <a:latin typeface="Calibri" panose="020F0502020204030204" pitchFamily="34" charset="0"/>
                <a:ea typeface="Calibri" panose="020F0502020204030204" pitchFamily="34" charset="0"/>
                <a:cs typeface="Calibri" panose="020F0502020204030204" pitchFamily="34" charset="0"/>
              </a:rPr>
            </a:br>
            <a:r>
              <a:rPr lang="en-US" sz="1200" dirty="0">
                <a:latin typeface="Calibri" panose="020F0502020204030204" pitchFamily="34" charset="0"/>
                <a:ea typeface="Calibri" panose="020F0502020204030204" pitchFamily="34" charset="0"/>
                <a:cs typeface="Calibri" panose="020F0502020204030204" pitchFamily="34" charset="0"/>
              </a:rPr>
              <a:t>A list of routes that consistently experience the highest delays, highlighting where route optimization is most needed.</a:t>
            </a:r>
          </a:p>
          <a:p>
            <a:pPr lvl="1"/>
            <a:endParaRPr lang="en-US" dirty="0"/>
          </a:p>
        </p:txBody>
      </p:sp>
      <p:pic>
        <p:nvPicPr>
          <p:cNvPr id="3" name="Picture 2">
            <a:extLst>
              <a:ext uri="{FF2B5EF4-FFF2-40B4-BE49-F238E27FC236}">
                <a16:creationId xmlns:a16="http://schemas.microsoft.com/office/drawing/2014/main" id="{3E295A8D-E67E-4FA4-AC07-F3C990D47847}"/>
              </a:ext>
            </a:extLst>
          </p:cNvPr>
          <p:cNvPicPr>
            <a:picLocks noChangeAspect="1"/>
          </p:cNvPicPr>
          <p:nvPr/>
        </p:nvPicPr>
        <p:blipFill>
          <a:blip r:embed="rId2"/>
          <a:stretch>
            <a:fillRect/>
          </a:stretch>
        </p:blipFill>
        <p:spPr>
          <a:xfrm>
            <a:off x="5991090" y="353184"/>
            <a:ext cx="1924319" cy="1810003"/>
          </a:xfrm>
          <a:prstGeom prst="rect">
            <a:avLst/>
          </a:prstGeom>
        </p:spPr>
      </p:pic>
    </p:spTree>
    <p:extLst>
      <p:ext uri="{BB962C8B-B14F-4D97-AF65-F5344CB8AC3E}">
        <p14:creationId xmlns:p14="http://schemas.microsoft.com/office/powerpoint/2010/main" val="2432942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F3338C6-F1F3-44A1-B6AD-E7F6BF629616}"/>
              </a:ext>
            </a:extLst>
          </p:cNvPr>
          <p:cNvSpPr txBox="1"/>
          <p:nvPr/>
        </p:nvSpPr>
        <p:spPr>
          <a:xfrm>
            <a:off x="314325" y="285750"/>
            <a:ext cx="8543925" cy="3847207"/>
          </a:xfrm>
          <a:prstGeom prst="rect">
            <a:avLst/>
          </a:prstGeom>
          <a:noFill/>
        </p:spPr>
        <p:txBody>
          <a:bodyPr wrap="square" rtlCol="0">
            <a:spAutoFit/>
          </a:bodyPr>
          <a:lstStyle/>
          <a:p>
            <a:pPr marL="285750" lvl="1" indent="-285750">
              <a:buFont typeface="Arial" panose="020B0604020202020204" pitchFamily="34" charset="0"/>
              <a:buChar char="•"/>
            </a:pPr>
            <a:r>
              <a:rPr lang="en-US" b="1" dirty="0">
                <a:latin typeface="Calibri" panose="020F0502020204030204" pitchFamily="34" charset="0"/>
                <a:ea typeface="Calibri" panose="020F0502020204030204" pitchFamily="34" charset="0"/>
                <a:cs typeface="Calibri" panose="020F0502020204030204" pitchFamily="34" charset="0"/>
              </a:rPr>
              <a:t>Rank shipments by delay within each </a:t>
            </a:r>
            <a:r>
              <a:rPr lang="en-US" b="1" dirty="0" err="1">
                <a:latin typeface="Calibri" panose="020F0502020204030204" pitchFamily="34" charset="0"/>
                <a:ea typeface="Calibri" panose="020F0502020204030204" pitchFamily="34" charset="0"/>
                <a:cs typeface="Calibri" panose="020F0502020204030204" pitchFamily="34" charset="0"/>
              </a:rPr>
              <a:t>Warehouse_ID</a:t>
            </a:r>
            <a:r>
              <a:rPr lang="en-US" dirty="0">
                <a:latin typeface="Calibri" panose="020F0502020204030204" pitchFamily="34" charset="0"/>
                <a:ea typeface="Calibri" panose="020F0502020204030204" pitchFamily="34" charset="0"/>
                <a:cs typeface="Calibri" panose="020F0502020204030204" pitchFamily="34" charset="0"/>
              </a:rPr>
              <a:t>	</a:t>
            </a:r>
          </a:p>
          <a:p>
            <a:pPr lvl="1"/>
            <a:r>
              <a:rPr lang="en-US" sz="1200" dirty="0">
                <a:solidFill>
                  <a:schemeClr val="bg1"/>
                </a:solidFill>
                <a:latin typeface="Calibri" panose="020F0502020204030204" pitchFamily="34" charset="0"/>
                <a:ea typeface="Calibri" panose="020F0502020204030204" pitchFamily="34" charset="0"/>
                <a:cs typeface="Calibri" panose="020F0502020204030204" pitchFamily="34" charset="0"/>
              </a:rPr>
              <a:t>      SELECT   </a:t>
            </a:r>
          </a:p>
          <a:p>
            <a:pPr lvl="1"/>
            <a:r>
              <a:rPr lang="en-US" sz="1200" dirty="0">
                <a:solidFill>
                  <a:schemeClr val="bg1"/>
                </a:solidFill>
                <a:latin typeface="Calibri" panose="020F0502020204030204" pitchFamily="34" charset="0"/>
                <a:ea typeface="Calibri" panose="020F0502020204030204" pitchFamily="34" charset="0"/>
                <a:cs typeface="Calibri" panose="020F0502020204030204" pitchFamily="34" charset="0"/>
              </a:rPr>
              <a:t>	 </a:t>
            </a:r>
            <a:r>
              <a:rPr lang="en-US" sz="1200" dirty="0" err="1">
                <a:solidFill>
                  <a:schemeClr val="bg1"/>
                </a:solidFill>
                <a:latin typeface="Calibri" panose="020F0502020204030204" pitchFamily="34" charset="0"/>
                <a:ea typeface="Calibri" panose="020F0502020204030204" pitchFamily="34" charset="0"/>
                <a:cs typeface="Calibri" panose="020F0502020204030204" pitchFamily="34" charset="0"/>
              </a:rPr>
              <a:t>Shipment_ID</a:t>
            </a:r>
            <a:r>
              <a:rPr lang="en-US" sz="1200" dirty="0">
                <a:solidFill>
                  <a:schemeClr val="bg1"/>
                </a:solidFill>
                <a:latin typeface="Calibri" panose="020F0502020204030204" pitchFamily="34" charset="0"/>
                <a:ea typeface="Calibri" panose="020F0502020204030204" pitchFamily="34" charset="0"/>
                <a:cs typeface="Calibri" panose="020F0502020204030204" pitchFamily="34" charset="0"/>
              </a:rPr>
              <a:t>,  </a:t>
            </a:r>
          </a:p>
          <a:p>
            <a:pPr lvl="1"/>
            <a:r>
              <a:rPr lang="en-US" sz="1200" dirty="0">
                <a:solidFill>
                  <a:schemeClr val="bg1"/>
                </a:solidFill>
                <a:latin typeface="Calibri" panose="020F0502020204030204" pitchFamily="34" charset="0"/>
                <a:ea typeface="Calibri" panose="020F0502020204030204" pitchFamily="34" charset="0"/>
                <a:cs typeface="Calibri" panose="020F0502020204030204" pitchFamily="34" charset="0"/>
              </a:rPr>
              <a:t>	 </a:t>
            </a:r>
            <a:r>
              <a:rPr lang="en-US" sz="1200" dirty="0" err="1">
                <a:solidFill>
                  <a:schemeClr val="bg1"/>
                </a:solidFill>
                <a:latin typeface="Calibri" panose="020F0502020204030204" pitchFamily="34" charset="0"/>
                <a:ea typeface="Calibri" panose="020F0502020204030204" pitchFamily="34" charset="0"/>
                <a:cs typeface="Calibri" panose="020F0502020204030204" pitchFamily="34" charset="0"/>
              </a:rPr>
              <a:t>Warehouse_ID</a:t>
            </a:r>
            <a:r>
              <a:rPr lang="en-US" sz="1200" dirty="0">
                <a:solidFill>
                  <a:schemeClr val="bg1"/>
                </a:solidFill>
                <a:latin typeface="Calibri" panose="020F0502020204030204" pitchFamily="34" charset="0"/>
                <a:ea typeface="Calibri" panose="020F0502020204030204" pitchFamily="34" charset="0"/>
                <a:cs typeface="Calibri" panose="020F0502020204030204" pitchFamily="34" charset="0"/>
              </a:rPr>
              <a:t>, </a:t>
            </a:r>
          </a:p>
          <a:p>
            <a:pPr lvl="1"/>
            <a:r>
              <a:rPr lang="en-US" sz="1200" dirty="0">
                <a:solidFill>
                  <a:schemeClr val="bg1"/>
                </a:solidFill>
                <a:latin typeface="Calibri" panose="020F0502020204030204" pitchFamily="34" charset="0"/>
                <a:ea typeface="Calibri" panose="020F0502020204030204" pitchFamily="34" charset="0"/>
                <a:cs typeface="Calibri" panose="020F0502020204030204" pitchFamily="34" charset="0"/>
              </a:rPr>
              <a:t>	 </a:t>
            </a:r>
            <a:r>
              <a:rPr lang="en-US" sz="1200" dirty="0" err="1">
                <a:solidFill>
                  <a:schemeClr val="bg1"/>
                </a:solidFill>
                <a:latin typeface="Calibri" panose="020F0502020204030204" pitchFamily="34" charset="0"/>
                <a:ea typeface="Calibri" panose="020F0502020204030204" pitchFamily="34" charset="0"/>
                <a:cs typeface="Calibri" panose="020F0502020204030204" pitchFamily="34" charset="0"/>
              </a:rPr>
              <a:t>Delay_Hours</a:t>
            </a:r>
            <a:r>
              <a:rPr lang="en-US" sz="1200" dirty="0">
                <a:solidFill>
                  <a:schemeClr val="bg1"/>
                </a:solidFill>
                <a:latin typeface="Calibri" panose="020F0502020204030204" pitchFamily="34" charset="0"/>
                <a:ea typeface="Calibri" panose="020F0502020204030204" pitchFamily="34" charset="0"/>
                <a:cs typeface="Calibri" panose="020F0502020204030204" pitchFamily="34" charset="0"/>
              </a:rPr>
              <a:t>,</a:t>
            </a:r>
          </a:p>
          <a:p>
            <a:pPr lvl="1"/>
            <a:r>
              <a:rPr lang="en-US" sz="1200" dirty="0">
                <a:solidFill>
                  <a:schemeClr val="bg1"/>
                </a:solidFill>
                <a:latin typeface="Calibri" panose="020F0502020204030204" pitchFamily="34" charset="0"/>
                <a:ea typeface="Calibri" panose="020F0502020204030204" pitchFamily="34" charset="0"/>
                <a:cs typeface="Calibri" panose="020F0502020204030204" pitchFamily="34" charset="0"/>
              </a:rPr>
              <a:t>	 RANK() OVER (  </a:t>
            </a:r>
          </a:p>
          <a:p>
            <a:pPr lvl="1"/>
            <a:r>
              <a:rPr lang="en-US" sz="1200" dirty="0">
                <a:solidFill>
                  <a:schemeClr val="bg1"/>
                </a:solidFill>
                <a:latin typeface="Calibri" panose="020F0502020204030204" pitchFamily="34" charset="0"/>
                <a:ea typeface="Calibri" panose="020F0502020204030204" pitchFamily="34" charset="0"/>
                <a:cs typeface="Calibri" panose="020F0502020204030204" pitchFamily="34" charset="0"/>
              </a:rPr>
              <a:t>		  PARTITION BY </a:t>
            </a:r>
            <a:r>
              <a:rPr lang="en-US" sz="1200" dirty="0" err="1">
                <a:solidFill>
                  <a:schemeClr val="bg1"/>
                </a:solidFill>
                <a:latin typeface="Calibri" panose="020F0502020204030204" pitchFamily="34" charset="0"/>
                <a:ea typeface="Calibri" panose="020F0502020204030204" pitchFamily="34" charset="0"/>
                <a:cs typeface="Calibri" panose="020F0502020204030204" pitchFamily="34" charset="0"/>
              </a:rPr>
              <a:t>Warehouse_ID</a:t>
            </a:r>
            <a:r>
              <a:rPr lang="en-US" sz="1200" dirty="0">
                <a:solidFill>
                  <a:schemeClr val="bg1"/>
                </a:solidFill>
                <a:latin typeface="Calibri" panose="020F0502020204030204" pitchFamily="34" charset="0"/>
                <a:ea typeface="Calibri" panose="020F0502020204030204" pitchFamily="34" charset="0"/>
                <a:cs typeface="Calibri" panose="020F0502020204030204" pitchFamily="34" charset="0"/>
              </a:rPr>
              <a:t>   </a:t>
            </a:r>
          </a:p>
          <a:p>
            <a:pPr lvl="1"/>
            <a:r>
              <a:rPr lang="en-US" sz="1200" dirty="0">
                <a:solidFill>
                  <a:schemeClr val="bg1"/>
                </a:solidFill>
                <a:latin typeface="Calibri" panose="020F0502020204030204" pitchFamily="34" charset="0"/>
                <a:ea typeface="Calibri" panose="020F0502020204030204" pitchFamily="34" charset="0"/>
                <a:cs typeface="Calibri" panose="020F0502020204030204" pitchFamily="34" charset="0"/>
              </a:rPr>
              <a:t>                                       ORDER BY </a:t>
            </a:r>
            <a:r>
              <a:rPr lang="en-US" sz="1200" dirty="0" err="1">
                <a:solidFill>
                  <a:schemeClr val="bg1"/>
                </a:solidFill>
                <a:latin typeface="Calibri" panose="020F0502020204030204" pitchFamily="34" charset="0"/>
                <a:ea typeface="Calibri" panose="020F0502020204030204" pitchFamily="34" charset="0"/>
                <a:cs typeface="Calibri" panose="020F0502020204030204" pitchFamily="34" charset="0"/>
              </a:rPr>
              <a:t>Delay_Hours</a:t>
            </a:r>
            <a:r>
              <a:rPr lang="en-US" sz="1200" dirty="0">
                <a:solidFill>
                  <a:schemeClr val="bg1"/>
                </a:solidFill>
                <a:latin typeface="Calibri" panose="020F0502020204030204" pitchFamily="34" charset="0"/>
                <a:ea typeface="Calibri" panose="020F0502020204030204" pitchFamily="34" charset="0"/>
                <a:cs typeface="Calibri" panose="020F0502020204030204" pitchFamily="34" charset="0"/>
              </a:rPr>
              <a:t> DESC   </a:t>
            </a:r>
          </a:p>
          <a:p>
            <a:pPr lvl="1"/>
            <a:r>
              <a:rPr lang="en-US" sz="1200" dirty="0">
                <a:solidFill>
                  <a:schemeClr val="bg1"/>
                </a:solidFill>
                <a:latin typeface="Calibri" panose="020F0502020204030204" pitchFamily="34" charset="0"/>
                <a:ea typeface="Calibri" panose="020F0502020204030204" pitchFamily="34" charset="0"/>
                <a:cs typeface="Calibri" panose="020F0502020204030204" pitchFamily="34" charset="0"/>
              </a:rPr>
              <a:t>	 ) AS </a:t>
            </a:r>
            <a:r>
              <a:rPr lang="en-US" sz="1200" dirty="0" err="1">
                <a:solidFill>
                  <a:schemeClr val="bg1"/>
                </a:solidFill>
                <a:latin typeface="Calibri" panose="020F0502020204030204" pitchFamily="34" charset="0"/>
                <a:ea typeface="Calibri" panose="020F0502020204030204" pitchFamily="34" charset="0"/>
                <a:cs typeface="Calibri" panose="020F0502020204030204" pitchFamily="34" charset="0"/>
              </a:rPr>
              <a:t>Delay_Rank</a:t>
            </a:r>
            <a:endParaRPr lang="en-US" sz="1200"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pPr lvl="1"/>
            <a:r>
              <a:rPr lang="en-US" sz="1200" dirty="0">
                <a:solidFill>
                  <a:schemeClr val="bg1"/>
                </a:solidFill>
                <a:latin typeface="Calibri" panose="020F0502020204030204" pitchFamily="34" charset="0"/>
                <a:ea typeface="Calibri" panose="020F0502020204030204" pitchFamily="34" charset="0"/>
                <a:cs typeface="Calibri" panose="020F0502020204030204" pitchFamily="34" charset="0"/>
              </a:rPr>
              <a:t>     FROM Shipments;</a:t>
            </a:r>
          </a:p>
          <a:p>
            <a:endParaRPr lang="en-US" sz="1200" dirty="0">
              <a:latin typeface="Calibri" panose="020F0502020204030204" pitchFamily="34" charset="0"/>
              <a:ea typeface="Calibri" panose="020F0502020204030204" pitchFamily="34" charset="0"/>
              <a:cs typeface="Calibri" panose="020F0502020204030204" pitchFamily="34" charset="0"/>
            </a:endParaRPr>
          </a:p>
          <a:p>
            <a:endParaRPr lang="en-US" sz="1200" dirty="0">
              <a:latin typeface="Calibri" panose="020F0502020204030204" pitchFamily="34" charset="0"/>
              <a:ea typeface="Calibri" panose="020F0502020204030204" pitchFamily="34" charset="0"/>
              <a:cs typeface="Calibri" panose="020F0502020204030204" pitchFamily="34" charset="0"/>
            </a:endParaRPr>
          </a:p>
          <a:p>
            <a:br>
              <a:rPr lang="en-US" sz="1200" dirty="0">
                <a:latin typeface="Calibri" panose="020F0502020204030204" pitchFamily="34" charset="0"/>
                <a:ea typeface="Calibri" panose="020F0502020204030204" pitchFamily="34" charset="0"/>
                <a:cs typeface="Calibri" panose="020F0502020204030204" pitchFamily="34" charset="0"/>
              </a:rPr>
            </a:br>
            <a:r>
              <a:rPr lang="en-US" sz="1200" b="1" u="sng" dirty="0">
                <a:latin typeface="Calibri" panose="020F0502020204030204" pitchFamily="34" charset="0"/>
                <a:ea typeface="Calibri" panose="020F0502020204030204" pitchFamily="34" charset="0"/>
                <a:cs typeface="Calibri" panose="020F0502020204030204" pitchFamily="34" charset="0"/>
              </a:rPr>
              <a:t>What was calculated:</a:t>
            </a:r>
            <a:br>
              <a:rPr lang="en-US" sz="1200" dirty="0">
                <a:latin typeface="Calibri" panose="020F0502020204030204" pitchFamily="34" charset="0"/>
                <a:ea typeface="Calibri" panose="020F0502020204030204" pitchFamily="34" charset="0"/>
                <a:cs typeface="Calibri" panose="020F0502020204030204" pitchFamily="34" charset="0"/>
              </a:rPr>
            </a:br>
            <a:r>
              <a:rPr lang="en-US" sz="1200" dirty="0">
                <a:latin typeface="Calibri" panose="020F0502020204030204" pitchFamily="34" charset="0"/>
                <a:ea typeface="Calibri" panose="020F0502020204030204" pitchFamily="34" charset="0"/>
                <a:cs typeface="Calibri" panose="020F0502020204030204" pitchFamily="34" charset="0"/>
              </a:rPr>
              <a:t>Shipments were ranked by delay within each warehouse using a SQL window</a:t>
            </a:r>
          </a:p>
          <a:p>
            <a:r>
              <a:rPr lang="en-US" sz="1200" dirty="0">
                <a:latin typeface="Calibri" panose="020F0502020204030204" pitchFamily="34" charset="0"/>
                <a:ea typeface="Calibri" panose="020F0502020204030204" pitchFamily="34" charset="0"/>
                <a:cs typeface="Calibri" panose="020F0502020204030204" pitchFamily="34" charset="0"/>
              </a:rPr>
              <a:t> function.</a:t>
            </a:r>
          </a:p>
          <a:p>
            <a:endParaRPr lang="en-US" sz="1200" dirty="0">
              <a:latin typeface="Calibri" panose="020F0502020204030204" pitchFamily="34" charset="0"/>
              <a:ea typeface="Calibri" panose="020F0502020204030204" pitchFamily="34" charset="0"/>
              <a:cs typeface="Calibri" panose="020F0502020204030204" pitchFamily="34" charset="0"/>
            </a:endParaRPr>
          </a:p>
          <a:p>
            <a:r>
              <a:rPr lang="en-US" sz="1200" b="1" u="sng" dirty="0">
                <a:latin typeface="Calibri" panose="020F0502020204030204" pitchFamily="34" charset="0"/>
                <a:ea typeface="Calibri" panose="020F0502020204030204" pitchFamily="34" charset="0"/>
                <a:cs typeface="Calibri" panose="020F0502020204030204" pitchFamily="34" charset="0"/>
              </a:rPr>
              <a:t>What we got:</a:t>
            </a:r>
            <a:br>
              <a:rPr lang="en-US" sz="1200" dirty="0">
                <a:latin typeface="Calibri" panose="020F0502020204030204" pitchFamily="34" charset="0"/>
                <a:ea typeface="Calibri" panose="020F0502020204030204" pitchFamily="34" charset="0"/>
                <a:cs typeface="Calibri" panose="020F0502020204030204" pitchFamily="34" charset="0"/>
              </a:rPr>
            </a:br>
            <a:r>
              <a:rPr lang="en-US" sz="1200" dirty="0">
                <a:latin typeface="Calibri" panose="020F0502020204030204" pitchFamily="34" charset="0"/>
                <a:ea typeface="Calibri" panose="020F0502020204030204" pitchFamily="34" charset="0"/>
                <a:cs typeface="Calibri" panose="020F0502020204030204" pitchFamily="34" charset="0"/>
              </a:rPr>
              <a:t>This shows which shipments caused the highest delays inside each warehouse, helping identify internal bottlenecks.</a:t>
            </a:r>
          </a:p>
          <a:p>
            <a:pPr lvl="1"/>
            <a:endParaRPr lang="en-US" dirty="0"/>
          </a:p>
        </p:txBody>
      </p:sp>
      <p:pic>
        <p:nvPicPr>
          <p:cNvPr id="5" name="Picture 4">
            <a:extLst>
              <a:ext uri="{FF2B5EF4-FFF2-40B4-BE49-F238E27FC236}">
                <a16:creationId xmlns:a16="http://schemas.microsoft.com/office/drawing/2014/main" id="{9D60AD4C-0AD9-49AC-A6BD-72E814F847AF}"/>
              </a:ext>
            </a:extLst>
          </p:cNvPr>
          <p:cNvPicPr>
            <a:picLocks noChangeAspect="1"/>
          </p:cNvPicPr>
          <p:nvPr/>
        </p:nvPicPr>
        <p:blipFill>
          <a:blip r:embed="rId2"/>
          <a:stretch>
            <a:fillRect/>
          </a:stretch>
        </p:blipFill>
        <p:spPr>
          <a:xfrm>
            <a:off x="5476407" y="285750"/>
            <a:ext cx="3353268" cy="2953162"/>
          </a:xfrm>
          <a:prstGeom prst="rect">
            <a:avLst/>
          </a:prstGeom>
        </p:spPr>
      </p:pic>
    </p:spTree>
    <p:extLst>
      <p:ext uri="{BB962C8B-B14F-4D97-AF65-F5344CB8AC3E}">
        <p14:creationId xmlns:p14="http://schemas.microsoft.com/office/powerpoint/2010/main" val="23175358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F3338C6-F1F3-44A1-B6AD-E7F6BF629616}"/>
              </a:ext>
            </a:extLst>
          </p:cNvPr>
          <p:cNvSpPr txBox="1"/>
          <p:nvPr/>
        </p:nvSpPr>
        <p:spPr>
          <a:xfrm>
            <a:off x="314325" y="285750"/>
            <a:ext cx="8543925" cy="3447098"/>
          </a:xfrm>
          <a:prstGeom prst="rect">
            <a:avLst/>
          </a:prstGeom>
          <a:noFill/>
        </p:spPr>
        <p:txBody>
          <a:bodyPr wrap="square" rtlCol="0">
            <a:spAutoFit/>
          </a:bodyPr>
          <a:lstStyle/>
          <a:p>
            <a:pPr marL="285750" lvl="1" indent="-285750">
              <a:buFont typeface="Arial" panose="020B0604020202020204" pitchFamily="34" charset="0"/>
              <a:buChar char="•"/>
            </a:pPr>
            <a:r>
              <a:rPr lang="en-US" b="1" dirty="0">
                <a:latin typeface="Calibri" panose="020F0502020204030204" pitchFamily="34" charset="0"/>
                <a:ea typeface="Calibri" panose="020F0502020204030204" pitchFamily="34" charset="0"/>
                <a:cs typeface="Calibri" panose="020F0502020204030204" pitchFamily="34" charset="0"/>
              </a:rPr>
              <a:t>Identify the average delay per </a:t>
            </a:r>
            <a:r>
              <a:rPr lang="en-US" b="1" dirty="0" err="1">
                <a:latin typeface="Calibri" panose="020F0502020204030204" pitchFamily="34" charset="0"/>
                <a:ea typeface="Calibri" panose="020F0502020204030204" pitchFamily="34" charset="0"/>
                <a:cs typeface="Calibri" panose="020F0502020204030204" pitchFamily="34" charset="0"/>
              </a:rPr>
              <a:t>Delivery_Type</a:t>
            </a:r>
            <a:r>
              <a:rPr lang="en-US" b="1" dirty="0">
                <a:latin typeface="Calibri" panose="020F0502020204030204" pitchFamily="34" charset="0"/>
                <a:ea typeface="Calibri" panose="020F0502020204030204" pitchFamily="34" charset="0"/>
                <a:cs typeface="Calibri" panose="020F0502020204030204" pitchFamily="34" charset="0"/>
              </a:rPr>
              <a:t> (Express / Standard) to compare service-level efficiency.</a:t>
            </a:r>
            <a:r>
              <a:rPr lang="en-US" sz="1200" b="1" dirty="0">
                <a:latin typeface="Calibri" panose="020F0502020204030204" pitchFamily="34" charset="0"/>
                <a:ea typeface="Calibri" panose="020F0502020204030204" pitchFamily="34" charset="0"/>
                <a:cs typeface="Calibri" panose="020F0502020204030204" pitchFamily="34" charset="0"/>
              </a:rPr>
              <a:t>	</a:t>
            </a:r>
          </a:p>
          <a:p>
            <a:r>
              <a:rPr lang="en-US" sz="1200" dirty="0">
                <a:latin typeface="Calibri" panose="020F0502020204030204" pitchFamily="34" charset="0"/>
                <a:ea typeface="Calibri" panose="020F0502020204030204" pitchFamily="34" charset="0"/>
                <a:cs typeface="Calibri" panose="020F0502020204030204" pitchFamily="34" charset="0"/>
              </a:rPr>
              <a:t>           </a:t>
            </a:r>
            <a:r>
              <a:rPr lang="en-US" sz="1200" dirty="0">
                <a:solidFill>
                  <a:schemeClr val="bg1"/>
                </a:solidFill>
                <a:latin typeface="Calibri" panose="020F0502020204030204" pitchFamily="34" charset="0"/>
                <a:ea typeface="Calibri" panose="020F0502020204030204" pitchFamily="34" charset="0"/>
                <a:cs typeface="Calibri" panose="020F0502020204030204" pitchFamily="34" charset="0"/>
              </a:rPr>
              <a:t>SELECT </a:t>
            </a:r>
          </a:p>
          <a:p>
            <a:r>
              <a:rPr lang="en-US" sz="1200" dirty="0">
                <a:solidFill>
                  <a:schemeClr val="bg1"/>
                </a:solidFill>
                <a:latin typeface="Calibri" panose="020F0502020204030204" pitchFamily="34" charset="0"/>
                <a:ea typeface="Calibri" panose="020F0502020204030204" pitchFamily="34" charset="0"/>
                <a:cs typeface="Calibri" panose="020F0502020204030204" pitchFamily="34" charset="0"/>
              </a:rPr>
              <a:t>	</a:t>
            </a:r>
            <a:r>
              <a:rPr lang="en-US" sz="1200" dirty="0" err="1">
                <a:solidFill>
                  <a:schemeClr val="bg1"/>
                </a:solidFill>
                <a:latin typeface="Calibri" panose="020F0502020204030204" pitchFamily="34" charset="0"/>
                <a:ea typeface="Calibri" panose="020F0502020204030204" pitchFamily="34" charset="0"/>
                <a:cs typeface="Calibri" panose="020F0502020204030204" pitchFamily="34" charset="0"/>
              </a:rPr>
              <a:t>o.Delivery_Type</a:t>
            </a:r>
            <a:r>
              <a:rPr lang="en-US" sz="1200" dirty="0">
                <a:solidFill>
                  <a:schemeClr val="bg1"/>
                </a:solidFill>
                <a:latin typeface="Calibri" panose="020F0502020204030204" pitchFamily="34" charset="0"/>
                <a:ea typeface="Calibri" panose="020F0502020204030204" pitchFamily="34" charset="0"/>
                <a:cs typeface="Calibri" panose="020F0502020204030204" pitchFamily="34" charset="0"/>
              </a:rPr>
              <a:t>,</a:t>
            </a:r>
          </a:p>
          <a:p>
            <a:r>
              <a:rPr lang="en-US" sz="1200" dirty="0">
                <a:solidFill>
                  <a:schemeClr val="bg1"/>
                </a:solidFill>
                <a:latin typeface="Calibri" panose="020F0502020204030204" pitchFamily="34" charset="0"/>
                <a:ea typeface="Calibri" panose="020F0502020204030204" pitchFamily="34" charset="0"/>
                <a:cs typeface="Calibri" panose="020F0502020204030204" pitchFamily="34" charset="0"/>
              </a:rPr>
              <a:t>	 AVG(     </a:t>
            </a:r>
          </a:p>
          <a:p>
            <a:r>
              <a:rPr lang="en-US" sz="1200" dirty="0">
                <a:solidFill>
                  <a:schemeClr val="bg1"/>
                </a:solidFill>
                <a:latin typeface="Calibri" panose="020F0502020204030204" pitchFamily="34" charset="0"/>
                <a:ea typeface="Calibri" panose="020F0502020204030204" pitchFamily="34" charset="0"/>
                <a:cs typeface="Calibri" panose="020F0502020204030204" pitchFamily="34" charset="0"/>
              </a:rPr>
              <a:t>		TIMESTAMPDIFF(HOUR, </a:t>
            </a:r>
            <a:r>
              <a:rPr lang="en-US" sz="1200" dirty="0" err="1">
                <a:solidFill>
                  <a:schemeClr val="bg1"/>
                </a:solidFill>
                <a:latin typeface="Calibri" panose="020F0502020204030204" pitchFamily="34" charset="0"/>
                <a:ea typeface="Calibri" panose="020F0502020204030204" pitchFamily="34" charset="0"/>
                <a:cs typeface="Calibri" panose="020F0502020204030204" pitchFamily="34" charset="0"/>
              </a:rPr>
              <a:t>s.Pickup_Date</a:t>
            </a:r>
            <a:r>
              <a:rPr lang="en-US" sz="1200" dirty="0">
                <a:solidFill>
                  <a:schemeClr val="bg1"/>
                </a:solidFill>
                <a:latin typeface="Calibri" panose="020F0502020204030204" pitchFamily="34" charset="0"/>
                <a:ea typeface="Calibri" panose="020F0502020204030204" pitchFamily="34" charset="0"/>
                <a:cs typeface="Calibri" panose="020F0502020204030204" pitchFamily="34" charset="0"/>
              </a:rPr>
              <a:t>, </a:t>
            </a:r>
            <a:r>
              <a:rPr lang="en-US" sz="1200" dirty="0" err="1">
                <a:solidFill>
                  <a:schemeClr val="bg1"/>
                </a:solidFill>
                <a:latin typeface="Calibri" panose="020F0502020204030204" pitchFamily="34" charset="0"/>
                <a:ea typeface="Calibri" panose="020F0502020204030204" pitchFamily="34" charset="0"/>
                <a:cs typeface="Calibri" panose="020F0502020204030204" pitchFamily="34" charset="0"/>
              </a:rPr>
              <a:t>s.Delivery_Date</a:t>
            </a:r>
            <a:r>
              <a:rPr lang="en-US" sz="1200" dirty="0">
                <a:solidFill>
                  <a:schemeClr val="bg1"/>
                </a:solidFill>
                <a:latin typeface="Calibri" panose="020F0502020204030204" pitchFamily="34" charset="0"/>
                <a:ea typeface="Calibri" panose="020F0502020204030204" pitchFamily="34" charset="0"/>
                <a:cs typeface="Calibri" panose="020F0502020204030204" pitchFamily="34" charset="0"/>
              </a:rPr>
              <a:t>)   </a:t>
            </a:r>
          </a:p>
          <a:p>
            <a:r>
              <a:rPr lang="en-US" sz="1200" dirty="0">
                <a:solidFill>
                  <a:schemeClr val="bg1"/>
                </a:solidFill>
                <a:latin typeface="Calibri" panose="020F0502020204030204" pitchFamily="34" charset="0"/>
                <a:ea typeface="Calibri" panose="020F0502020204030204" pitchFamily="34" charset="0"/>
                <a:cs typeface="Calibri" panose="020F0502020204030204" pitchFamily="34" charset="0"/>
              </a:rPr>
              <a:t>	 ) AS </a:t>
            </a:r>
            <a:r>
              <a:rPr lang="en-US" sz="1200" dirty="0" err="1">
                <a:solidFill>
                  <a:schemeClr val="bg1"/>
                </a:solidFill>
                <a:latin typeface="Calibri" panose="020F0502020204030204" pitchFamily="34" charset="0"/>
                <a:ea typeface="Calibri" panose="020F0502020204030204" pitchFamily="34" charset="0"/>
                <a:cs typeface="Calibri" panose="020F0502020204030204" pitchFamily="34" charset="0"/>
              </a:rPr>
              <a:t>Avg_Delivery_Delay_Hours</a:t>
            </a:r>
            <a:endParaRPr lang="en-US" sz="1200"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r>
              <a:rPr lang="en-US" sz="1200" dirty="0">
                <a:solidFill>
                  <a:schemeClr val="bg1"/>
                </a:solidFill>
                <a:latin typeface="Calibri" panose="020F0502020204030204" pitchFamily="34" charset="0"/>
                <a:ea typeface="Calibri" panose="020F0502020204030204" pitchFamily="34" charset="0"/>
                <a:cs typeface="Calibri" panose="020F0502020204030204" pitchFamily="34" charset="0"/>
              </a:rPr>
              <a:t>FROM Shipments s</a:t>
            </a:r>
          </a:p>
          <a:p>
            <a:r>
              <a:rPr lang="en-US" sz="1200" dirty="0">
                <a:solidFill>
                  <a:schemeClr val="bg1"/>
                </a:solidFill>
                <a:latin typeface="Calibri" panose="020F0502020204030204" pitchFamily="34" charset="0"/>
                <a:ea typeface="Calibri" panose="020F0502020204030204" pitchFamily="34" charset="0"/>
                <a:cs typeface="Calibri" panose="020F0502020204030204" pitchFamily="34" charset="0"/>
              </a:rPr>
              <a:t>JOIN Orders o    </a:t>
            </a:r>
          </a:p>
          <a:p>
            <a:r>
              <a:rPr lang="en-US" sz="1200" dirty="0">
                <a:solidFill>
                  <a:schemeClr val="bg1"/>
                </a:solidFill>
                <a:latin typeface="Calibri" panose="020F0502020204030204" pitchFamily="34" charset="0"/>
                <a:ea typeface="Calibri" panose="020F0502020204030204" pitchFamily="34" charset="0"/>
                <a:cs typeface="Calibri" panose="020F0502020204030204" pitchFamily="34" charset="0"/>
              </a:rPr>
              <a:t>	ON </a:t>
            </a:r>
            <a:r>
              <a:rPr lang="en-US" sz="1200" dirty="0" err="1">
                <a:solidFill>
                  <a:schemeClr val="bg1"/>
                </a:solidFill>
                <a:latin typeface="Calibri" panose="020F0502020204030204" pitchFamily="34" charset="0"/>
                <a:ea typeface="Calibri" panose="020F0502020204030204" pitchFamily="34" charset="0"/>
                <a:cs typeface="Calibri" panose="020F0502020204030204" pitchFamily="34" charset="0"/>
              </a:rPr>
              <a:t>s.Order_ID</a:t>
            </a:r>
            <a:r>
              <a:rPr lang="en-US" sz="1200" dirty="0">
                <a:solidFill>
                  <a:schemeClr val="bg1"/>
                </a:solidFill>
                <a:latin typeface="Calibri" panose="020F0502020204030204" pitchFamily="34" charset="0"/>
                <a:ea typeface="Calibri" panose="020F0502020204030204" pitchFamily="34" charset="0"/>
                <a:cs typeface="Calibri" panose="020F0502020204030204" pitchFamily="34" charset="0"/>
              </a:rPr>
              <a:t> = </a:t>
            </a:r>
            <a:r>
              <a:rPr lang="en-US" sz="1200" dirty="0" err="1">
                <a:solidFill>
                  <a:schemeClr val="bg1"/>
                </a:solidFill>
                <a:latin typeface="Calibri" panose="020F0502020204030204" pitchFamily="34" charset="0"/>
                <a:ea typeface="Calibri" panose="020F0502020204030204" pitchFamily="34" charset="0"/>
                <a:cs typeface="Calibri" panose="020F0502020204030204" pitchFamily="34" charset="0"/>
              </a:rPr>
              <a:t>o.Order_ID</a:t>
            </a:r>
            <a:endParaRPr lang="en-US" sz="1200"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r>
              <a:rPr lang="en-US" sz="1200" dirty="0">
                <a:solidFill>
                  <a:schemeClr val="bg1"/>
                </a:solidFill>
                <a:latin typeface="Calibri" panose="020F0502020204030204" pitchFamily="34" charset="0"/>
                <a:ea typeface="Calibri" panose="020F0502020204030204" pitchFamily="34" charset="0"/>
                <a:cs typeface="Calibri" panose="020F0502020204030204" pitchFamily="34" charset="0"/>
              </a:rPr>
              <a:t>GROUP BY </a:t>
            </a:r>
            <a:r>
              <a:rPr lang="en-US" sz="1200" dirty="0" err="1">
                <a:solidFill>
                  <a:schemeClr val="bg1"/>
                </a:solidFill>
                <a:latin typeface="Calibri" panose="020F0502020204030204" pitchFamily="34" charset="0"/>
                <a:ea typeface="Calibri" panose="020F0502020204030204" pitchFamily="34" charset="0"/>
                <a:cs typeface="Calibri" panose="020F0502020204030204" pitchFamily="34" charset="0"/>
              </a:rPr>
              <a:t>o.Delivery_Type</a:t>
            </a:r>
            <a:r>
              <a:rPr lang="en-US" sz="1200" dirty="0">
                <a:solidFill>
                  <a:schemeClr val="bg1"/>
                </a:solidFill>
                <a:latin typeface="Calibri" panose="020F0502020204030204" pitchFamily="34" charset="0"/>
                <a:ea typeface="Calibri" panose="020F0502020204030204" pitchFamily="34" charset="0"/>
                <a:cs typeface="Calibri" panose="020F0502020204030204" pitchFamily="34" charset="0"/>
              </a:rPr>
              <a:t>;</a:t>
            </a:r>
          </a:p>
          <a:p>
            <a:endParaRPr lang="en-US" sz="1200" dirty="0">
              <a:latin typeface="Calibri" panose="020F0502020204030204" pitchFamily="34" charset="0"/>
              <a:ea typeface="Calibri" panose="020F0502020204030204" pitchFamily="34" charset="0"/>
              <a:cs typeface="Calibri" panose="020F0502020204030204" pitchFamily="34" charset="0"/>
            </a:endParaRPr>
          </a:p>
          <a:p>
            <a:br>
              <a:rPr lang="en-US" sz="1200" dirty="0">
                <a:latin typeface="Calibri" panose="020F0502020204030204" pitchFamily="34" charset="0"/>
                <a:ea typeface="Calibri" panose="020F0502020204030204" pitchFamily="34" charset="0"/>
                <a:cs typeface="Calibri" panose="020F0502020204030204" pitchFamily="34" charset="0"/>
              </a:rPr>
            </a:br>
            <a:r>
              <a:rPr lang="en-US" sz="1200" b="1" u="sng" dirty="0">
                <a:latin typeface="Calibri" panose="020F0502020204030204" pitchFamily="34" charset="0"/>
                <a:ea typeface="Calibri" panose="020F0502020204030204" pitchFamily="34" charset="0"/>
                <a:cs typeface="Calibri" panose="020F0502020204030204" pitchFamily="34" charset="0"/>
              </a:rPr>
              <a:t>What was calculated:</a:t>
            </a:r>
            <a:br>
              <a:rPr lang="en-US" sz="1200" dirty="0">
                <a:latin typeface="Calibri" panose="020F0502020204030204" pitchFamily="34" charset="0"/>
                <a:ea typeface="Calibri" panose="020F0502020204030204" pitchFamily="34" charset="0"/>
                <a:cs typeface="Calibri" panose="020F0502020204030204" pitchFamily="34" charset="0"/>
              </a:rPr>
            </a:br>
            <a:r>
              <a:rPr lang="en-US" sz="1200" dirty="0">
                <a:latin typeface="Calibri" panose="020F0502020204030204" pitchFamily="34" charset="0"/>
                <a:ea typeface="Calibri" panose="020F0502020204030204" pitchFamily="34" charset="0"/>
                <a:cs typeface="Calibri" panose="020F0502020204030204" pitchFamily="34" charset="0"/>
              </a:rPr>
              <a:t>Average delivery delay for Express and Standard services.</a:t>
            </a:r>
          </a:p>
          <a:p>
            <a:endParaRPr lang="en-US" sz="1200" dirty="0">
              <a:latin typeface="Calibri" panose="020F0502020204030204" pitchFamily="34" charset="0"/>
              <a:ea typeface="Calibri" panose="020F0502020204030204" pitchFamily="34" charset="0"/>
              <a:cs typeface="Calibri" panose="020F0502020204030204" pitchFamily="34" charset="0"/>
            </a:endParaRPr>
          </a:p>
          <a:p>
            <a:r>
              <a:rPr lang="en-US" sz="1200" b="1" u="sng" dirty="0">
                <a:latin typeface="Calibri" panose="020F0502020204030204" pitchFamily="34" charset="0"/>
                <a:ea typeface="Calibri" panose="020F0502020204030204" pitchFamily="34" charset="0"/>
                <a:cs typeface="Calibri" panose="020F0502020204030204" pitchFamily="34" charset="0"/>
              </a:rPr>
              <a:t>What we got:</a:t>
            </a:r>
            <a:br>
              <a:rPr lang="en-US" sz="1200" dirty="0">
                <a:latin typeface="Calibri" panose="020F0502020204030204" pitchFamily="34" charset="0"/>
                <a:ea typeface="Calibri" panose="020F0502020204030204" pitchFamily="34" charset="0"/>
                <a:cs typeface="Calibri" panose="020F0502020204030204" pitchFamily="34" charset="0"/>
              </a:rPr>
            </a:br>
            <a:r>
              <a:rPr lang="en-US" sz="1200" dirty="0">
                <a:latin typeface="Calibri" panose="020F0502020204030204" pitchFamily="34" charset="0"/>
                <a:ea typeface="Calibri" panose="020F0502020204030204" pitchFamily="34" charset="0"/>
                <a:cs typeface="Calibri" panose="020F0502020204030204" pitchFamily="34" charset="0"/>
              </a:rPr>
              <a:t>A clear comparison of service-level efficiency, showing which delivery type performs faster and which needs improvement.</a:t>
            </a:r>
          </a:p>
          <a:p>
            <a:endParaRPr lang="en-US" sz="1200" dirty="0">
              <a:latin typeface="Calibri" panose="020F0502020204030204" pitchFamily="34" charset="0"/>
              <a:ea typeface="Calibri" panose="020F0502020204030204" pitchFamily="34" charset="0"/>
              <a:cs typeface="Calibri" panose="020F0502020204030204" pitchFamily="34" charset="0"/>
            </a:endParaRPr>
          </a:p>
        </p:txBody>
      </p:sp>
      <p:pic>
        <p:nvPicPr>
          <p:cNvPr id="3" name="Picture 2">
            <a:extLst>
              <a:ext uri="{FF2B5EF4-FFF2-40B4-BE49-F238E27FC236}">
                <a16:creationId xmlns:a16="http://schemas.microsoft.com/office/drawing/2014/main" id="{AB74221F-6E98-4B62-BB28-8DBC27AB64BC}"/>
              </a:ext>
            </a:extLst>
          </p:cNvPr>
          <p:cNvPicPr>
            <a:picLocks noChangeAspect="1"/>
          </p:cNvPicPr>
          <p:nvPr/>
        </p:nvPicPr>
        <p:blipFill>
          <a:blip r:embed="rId2"/>
          <a:stretch>
            <a:fillRect/>
          </a:stretch>
        </p:blipFill>
        <p:spPr>
          <a:xfrm>
            <a:off x="5533840" y="2049971"/>
            <a:ext cx="2648320" cy="657317"/>
          </a:xfrm>
          <a:prstGeom prst="rect">
            <a:avLst/>
          </a:prstGeom>
        </p:spPr>
      </p:pic>
    </p:spTree>
    <p:extLst>
      <p:ext uri="{BB962C8B-B14F-4D97-AF65-F5344CB8AC3E}">
        <p14:creationId xmlns:p14="http://schemas.microsoft.com/office/powerpoint/2010/main" val="12202982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0A83D2E-C521-45AB-A38C-7B93858A1153}"/>
              </a:ext>
            </a:extLst>
          </p:cNvPr>
          <p:cNvSpPr txBox="1"/>
          <p:nvPr/>
        </p:nvSpPr>
        <p:spPr>
          <a:xfrm>
            <a:off x="685800" y="200025"/>
            <a:ext cx="7505700" cy="584775"/>
          </a:xfrm>
          <a:prstGeom prst="rect">
            <a:avLst/>
          </a:prstGeom>
          <a:noFill/>
        </p:spPr>
        <p:txBody>
          <a:bodyPr wrap="square" rtlCol="0">
            <a:spAutoFit/>
          </a:bodyPr>
          <a:lstStyle/>
          <a:p>
            <a:r>
              <a:rPr lang="en-US" sz="3200" dirty="0">
                <a:solidFill>
                  <a:schemeClr val="bg1"/>
                </a:solidFill>
                <a:latin typeface="Calibri" panose="020F0502020204030204" pitchFamily="34" charset="0"/>
                <a:ea typeface="Calibri" panose="020F0502020204030204" pitchFamily="34" charset="0"/>
                <a:cs typeface="Calibri" panose="020F0502020204030204" pitchFamily="34" charset="0"/>
              </a:rPr>
              <a:t>TASK 3: ROUTE OPTIMIZATION INSIGHTS</a:t>
            </a:r>
          </a:p>
        </p:txBody>
      </p:sp>
      <p:sp>
        <p:nvSpPr>
          <p:cNvPr id="4" name="TextBox 3">
            <a:extLst>
              <a:ext uri="{FF2B5EF4-FFF2-40B4-BE49-F238E27FC236}">
                <a16:creationId xmlns:a16="http://schemas.microsoft.com/office/drawing/2014/main" id="{079C1228-E7A2-4F8A-BC1E-B57696F05568}"/>
              </a:ext>
            </a:extLst>
          </p:cNvPr>
          <p:cNvSpPr txBox="1"/>
          <p:nvPr/>
        </p:nvSpPr>
        <p:spPr>
          <a:xfrm>
            <a:off x="161925" y="784800"/>
            <a:ext cx="8772525" cy="4524315"/>
          </a:xfrm>
          <a:prstGeom prst="rect">
            <a:avLst/>
          </a:prstGeom>
          <a:noFill/>
        </p:spPr>
        <p:txBody>
          <a:bodyPr wrap="square" rtlCol="0">
            <a:spAutoFit/>
          </a:bodyPr>
          <a:lstStyle/>
          <a:p>
            <a:r>
              <a:rPr lang="en-US" sz="1200" b="1" u="sng" dirty="0">
                <a:solidFill>
                  <a:schemeClr val="bg1"/>
                </a:solidFill>
                <a:latin typeface="Calibri" panose="020F0502020204030204" pitchFamily="34" charset="0"/>
                <a:ea typeface="Calibri" panose="020F0502020204030204" pitchFamily="34" charset="0"/>
                <a:cs typeface="Calibri" panose="020F0502020204030204" pitchFamily="34" charset="0"/>
              </a:rPr>
              <a:t>OBJECTIVE</a:t>
            </a:r>
          </a:p>
          <a:p>
            <a:pPr>
              <a:buFont typeface="Arial" panose="020B0604020202020204" pitchFamily="34" charset="0"/>
              <a:buChar char="•"/>
            </a:pPr>
            <a:r>
              <a:rPr lang="en-US" sz="1200" dirty="0">
                <a:solidFill>
                  <a:schemeClr val="bg1"/>
                </a:solidFill>
                <a:latin typeface="Calibri" panose="020F0502020204030204" pitchFamily="34" charset="0"/>
                <a:ea typeface="Calibri" panose="020F0502020204030204" pitchFamily="34" charset="0"/>
                <a:cs typeface="Calibri" panose="020F0502020204030204" pitchFamily="34" charset="0"/>
              </a:rPr>
              <a:t>Evaluate route performance using time, delay, and distance metrics</a:t>
            </a:r>
          </a:p>
          <a:p>
            <a:pPr>
              <a:buFont typeface="Arial" panose="020B0604020202020204" pitchFamily="34" charset="0"/>
              <a:buChar char="•"/>
            </a:pPr>
            <a:r>
              <a:rPr lang="en-US" sz="1200" dirty="0">
                <a:solidFill>
                  <a:schemeClr val="bg1"/>
                </a:solidFill>
                <a:latin typeface="Calibri" panose="020F0502020204030204" pitchFamily="34" charset="0"/>
                <a:ea typeface="Calibri" panose="020F0502020204030204" pitchFamily="34" charset="0"/>
                <a:cs typeface="Calibri" panose="020F0502020204030204" pitchFamily="34" charset="0"/>
              </a:rPr>
              <a:t>Identify inefficient and delay-prone routes</a:t>
            </a:r>
          </a:p>
          <a:p>
            <a:pPr>
              <a:buFont typeface="Arial" panose="020B0604020202020204" pitchFamily="34" charset="0"/>
              <a:buChar char="•"/>
            </a:pPr>
            <a:r>
              <a:rPr lang="en-US" sz="1200" dirty="0">
                <a:solidFill>
                  <a:schemeClr val="bg1"/>
                </a:solidFill>
                <a:latin typeface="Calibri" panose="020F0502020204030204" pitchFamily="34" charset="0"/>
                <a:ea typeface="Calibri" panose="020F0502020204030204" pitchFamily="34" charset="0"/>
                <a:cs typeface="Calibri" panose="020F0502020204030204" pitchFamily="34" charset="0"/>
              </a:rPr>
              <a:t>Highlight routes that require optimization or operational review</a:t>
            </a:r>
          </a:p>
          <a:p>
            <a:endParaRPr lang="en-US" sz="1200"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r>
              <a:rPr lang="en-US" sz="1200" b="1" u="sng" dirty="0">
                <a:solidFill>
                  <a:schemeClr val="bg1"/>
                </a:solidFill>
                <a:latin typeface="Calibri" panose="020F0502020204030204" pitchFamily="34" charset="0"/>
                <a:ea typeface="Calibri" panose="020F0502020204030204" pitchFamily="34" charset="0"/>
                <a:cs typeface="Calibri" panose="020F0502020204030204" pitchFamily="34" charset="0"/>
              </a:rPr>
              <a:t>TASKS :</a:t>
            </a:r>
          </a:p>
          <a:p>
            <a:pPr marL="285750" indent="-285750">
              <a:buFont typeface="Arial" panose="020B0604020202020204" pitchFamily="34" charset="0"/>
              <a:buChar char="•"/>
            </a:pPr>
            <a:r>
              <a:rPr lang="en-US" b="1" dirty="0">
                <a:solidFill>
                  <a:schemeClr val="bg1"/>
                </a:solidFill>
                <a:latin typeface="Calibri" panose="020F0502020204030204" pitchFamily="34" charset="0"/>
                <a:ea typeface="Calibri" panose="020F0502020204030204" pitchFamily="34" charset="0"/>
                <a:cs typeface="Calibri" panose="020F0502020204030204" pitchFamily="34" charset="0"/>
              </a:rPr>
              <a:t>Average transit time (in hours) across all shipments. </a:t>
            </a:r>
          </a:p>
          <a:p>
            <a:r>
              <a:rPr lang="en-US" sz="1200" dirty="0">
                <a:solidFill>
                  <a:schemeClr val="tx1"/>
                </a:solidFill>
                <a:latin typeface="Calibri" panose="020F0502020204030204" pitchFamily="34" charset="0"/>
                <a:ea typeface="Calibri" panose="020F0502020204030204" pitchFamily="34" charset="0"/>
                <a:cs typeface="Calibri" panose="020F0502020204030204" pitchFamily="34" charset="0"/>
              </a:rPr>
              <a:t>             </a:t>
            </a:r>
            <a:r>
              <a:rPr lang="en-US" sz="1200" dirty="0">
                <a:solidFill>
                  <a:srgbClr val="FFFF00"/>
                </a:solidFill>
                <a:latin typeface="Calibri" panose="020F0502020204030204" pitchFamily="34" charset="0"/>
                <a:ea typeface="Calibri" panose="020F0502020204030204" pitchFamily="34" charset="0"/>
                <a:cs typeface="Calibri" panose="020F0502020204030204" pitchFamily="34" charset="0"/>
              </a:rPr>
              <a:t>SELECT </a:t>
            </a:r>
          </a:p>
          <a:p>
            <a:r>
              <a:rPr lang="en-US" sz="1200" dirty="0">
                <a:solidFill>
                  <a:srgbClr val="FFFF00"/>
                </a:solidFill>
                <a:latin typeface="Calibri" panose="020F0502020204030204" pitchFamily="34" charset="0"/>
                <a:ea typeface="Calibri" panose="020F0502020204030204" pitchFamily="34" charset="0"/>
                <a:cs typeface="Calibri" panose="020F0502020204030204" pitchFamily="34" charset="0"/>
              </a:rPr>
              <a:t>	 </a:t>
            </a:r>
            <a:r>
              <a:rPr lang="en-US" sz="1200" dirty="0" err="1">
                <a:solidFill>
                  <a:srgbClr val="FFFF00"/>
                </a:solidFill>
                <a:latin typeface="Calibri" panose="020F0502020204030204" pitchFamily="34" charset="0"/>
                <a:ea typeface="Calibri" panose="020F0502020204030204" pitchFamily="34" charset="0"/>
                <a:cs typeface="Calibri" panose="020F0502020204030204" pitchFamily="34" charset="0"/>
              </a:rPr>
              <a:t>Route_ID</a:t>
            </a:r>
            <a:r>
              <a:rPr lang="en-US" sz="1200" dirty="0">
                <a:solidFill>
                  <a:srgbClr val="FFFF00"/>
                </a:solidFill>
                <a:latin typeface="Calibri" panose="020F0502020204030204" pitchFamily="34" charset="0"/>
                <a:ea typeface="Calibri" panose="020F0502020204030204" pitchFamily="34" charset="0"/>
                <a:cs typeface="Calibri" panose="020F0502020204030204" pitchFamily="34" charset="0"/>
              </a:rPr>
              <a:t>, </a:t>
            </a:r>
          </a:p>
          <a:p>
            <a:r>
              <a:rPr lang="en-US" sz="1200" dirty="0">
                <a:solidFill>
                  <a:srgbClr val="FFFF00"/>
                </a:solidFill>
                <a:latin typeface="Calibri" panose="020F0502020204030204" pitchFamily="34" charset="0"/>
                <a:ea typeface="Calibri" panose="020F0502020204030204" pitchFamily="34" charset="0"/>
                <a:cs typeface="Calibri" panose="020F0502020204030204" pitchFamily="34" charset="0"/>
              </a:rPr>
              <a:t>	AVG(TIMESTAMPDIFF(HOUR, </a:t>
            </a:r>
            <a:r>
              <a:rPr lang="en-US" sz="1200" dirty="0" err="1">
                <a:solidFill>
                  <a:srgbClr val="FFFF00"/>
                </a:solidFill>
                <a:latin typeface="Calibri" panose="020F0502020204030204" pitchFamily="34" charset="0"/>
                <a:ea typeface="Calibri" panose="020F0502020204030204" pitchFamily="34" charset="0"/>
                <a:cs typeface="Calibri" panose="020F0502020204030204" pitchFamily="34" charset="0"/>
              </a:rPr>
              <a:t>Pickup_Date</a:t>
            </a:r>
            <a:r>
              <a:rPr lang="en-US" sz="1200" dirty="0">
                <a:solidFill>
                  <a:srgbClr val="FFFF00"/>
                </a:solidFill>
                <a:latin typeface="Calibri" panose="020F0502020204030204" pitchFamily="34" charset="0"/>
                <a:ea typeface="Calibri" panose="020F0502020204030204" pitchFamily="34" charset="0"/>
                <a:cs typeface="Calibri" panose="020F0502020204030204" pitchFamily="34" charset="0"/>
              </a:rPr>
              <a:t>, </a:t>
            </a:r>
            <a:r>
              <a:rPr lang="en-US" sz="1200" dirty="0" err="1">
                <a:solidFill>
                  <a:srgbClr val="FFFF00"/>
                </a:solidFill>
                <a:latin typeface="Calibri" panose="020F0502020204030204" pitchFamily="34" charset="0"/>
                <a:ea typeface="Calibri" panose="020F0502020204030204" pitchFamily="34" charset="0"/>
                <a:cs typeface="Calibri" panose="020F0502020204030204" pitchFamily="34" charset="0"/>
              </a:rPr>
              <a:t>Delivery_Date</a:t>
            </a:r>
            <a:r>
              <a:rPr lang="en-US" sz="1200" dirty="0">
                <a:solidFill>
                  <a:srgbClr val="FFFF00"/>
                </a:solidFill>
                <a:latin typeface="Calibri" panose="020F0502020204030204" pitchFamily="34" charset="0"/>
                <a:ea typeface="Calibri" panose="020F0502020204030204" pitchFamily="34" charset="0"/>
                <a:cs typeface="Calibri" panose="020F0502020204030204" pitchFamily="34" charset="0"/>
              </a:rPr>
              <a:t>))        </a:t>
            </a:r>
          </a:p>
          <a:p>
            <a:r>
              <a:rPr lang="en-US" sz="1200" dirty="0">
                <a:solidFill>
                  <a:srgbClr val="FFFF00"/>
                </a:solidFill>
                <a:latin typeface="Calibri" panose="020F0502020204030204" pitchFamily="34" charset="0"/>
                <a:ea typeface="Calibri" panose="020F0502020204030204" pitchFamily="34" charset="0"/>
                <a:cs typeface="Calibri" panose="020F0502020204030204" pitchFamily="34" charset="0"/>
              </a:rPr>
              <a:t>	            AS </a:t>
            </a:r>
            <a:r>
              <a:rPr lang="en-US" sz="1200" dirty="0" err="1">
                <a:solidFill>
                  <a:srgbClr val="FFFF00"/>
                </a:solidFill>
                <a:latin typeface="Calibri" panose="020F0502020204030204" pitchFamily="34" charset="0"/>
                <a:ea typeface="Calibri" panose="020F0502020204030204" pitchFamily="34" charset="0"/>
                <a:cs typeface="Calibri" panose="020F0502020204030204" pitchFamily="34" charset="0"/>
              </a:rPr>
              <a:t>Avg_Transit_Time_Hours</a:t>
            </a:r>
            <a:endParaRPr lang="en-US" sz="1200" dirty="0">
              <a:solidFill>
                <a:srgbClr val="FFFF00"/>
              </a:solidFill>
              <a:latin typeface="Calibri" panose="020F0502020204030204" pitchFamily="34" charset="0"/>
              <a:ea typeface="Calibri" panose="020F0502020204030204" pitchFamily="34" charset="0"/>
              <a:cs typeface="Calibri" panose="020F0502020204030204" pitchFamily="34" charset="0"/>
            </a:endParaRPr>
          </a:p>
          <a:p>
            <a:r>
              <a:rPr lang="en-US" sz="1200" dirty="0">
                <a:solidFill>
                  <a:srgbClr val="FFFF00"/>
                </a:solidFill>
                <a:latin typeface="Calibri" panose="020F0502020204030204" pitchFamily="34" charset="0"/>
                <a:ea typeface="Calibri" panose="020F0502020204030204" pitchFamily="34" charset="0"/>
                <a:cs typeface="Calibri" panose="020F0502020204030204" pitchFamily="34" charset="0"/>
              </a:rPr>
              <a:t>            FROM Shipments</a:t>
            </a:r>
          </a:p>
          <a:p>
            <a:r>
              <a:rPr lang="en-US" sz="1200" dirty="0">
                <a:solidFill>
                  <a:srgbClr val="FFFF00"/>
                </a:solidFill>
                <a:latin typeface="Calibri" panose="020F0502020204030204" pitchFamily="34" charset="0"/>
                <a:ea typeface="Calibri" panose="020F0502020204030204" pitchFamily="34" charset="0"/>
                <a:cs typeface="Calibri" panose="020F0502020204030204" pitchFamily="34" charset="0"/>
              </a:rPr>
              <a:t>            GROUP BY </a:t>
            </a:r>
            <a:r>
              <a:rPr lang="en-US" sz="1200" dirty="0" err="1">
                <a:solidFill>
                  <a:srgbClr val="FFFF00"/>
                </a:solidFill>
                <a:latin typeface="Calibri" panose="020F0502020204030204" pitchFamily="34" charset="0"/>
                <a:ea typeface="Calibri" panose="020F0502020204030204" pitchFamily="34" charset="0"/>
                <a:cs typeface="Calibri" panose="020F0502020204030204" pitchFamily="34" charset="0"/>
              </a:rPr>
              <a:t>Route_ID</a:t>
            </a:r>
            <a:r>
              <a:rPr lang="en-US" sz="1200" dirty="0">
                <a:solidFill>
                  <a:srgbClr val="FFFF00"/>
                </a:solidFill>
                <a:latin typeface="Calibri" panose="020F0502020204030204" pitchFamily="34" charset="0"/>
                <a:ea typeface="Calibri" panose="020F0502020204030204" pitchFamily="34" charset="0"/>
                <a:cs typeface="Calibri" panose="020F0502020204030204" pitchFamily="34" charset="0"/>
              </a:rPr>
              <a:t>;</a:t>
            </a:r>
            <a:br>
              <a:rPr lang="en-US" sz="1200" dirty="0">
                <a:solidFill>
                  <a:srgbClr val="FFFF00"/>
                </a:solidFill>
                <a:latin typeface="Calibri" panose="020F0502020204030204" pitchFamily="34" charset="0"/>
                <a:ea typeface="Calibri" panose="020F0502020204030204" pitchFamily="34" charset="0"/>
                <a:cs typeface="Calibri" panose="020F0502020204030204" pitchFamily="34" charset="0"/>
              </a:rPr>
            </a:br>
            <a:endParaRPr lang="en-US" sz="1200" dirty="0">
              <a:solidFill>
                <a:srgbClr val="FFFF00"/>
              </a:solidFill>
              <a:latin typeface="Calibri" panose="020F0502020204030204" pitchFamily="34" charset="0"/>
              <a:ea typeface="Calibri" panose="020F0502020204030204" pitchFamily="34" charset="0"/>
              <a:cs typeface="Calibri" panose="020F0502020204030204" pitchFamily="34" charset="0"/>
            </a:endParaRPr>
          </a:p>
          <a:p>
            <a:r>
              <a:rPr lang="en-US" sz="1200" b="1" u="sng" dirty="0">
                <a:solidFill>
                  <a:schemeClr val="bg1"/>
                </a:solidFill>
                <a:latin typeface="Calibri" panose="020F0502020204030204" pitchFamily="34" charset="0"/>
                <a:ea typeface="Calibri" panose="020F0502020204030204" pitchFamily="34" charset="0"/>
                <a:cs typeface="Calibri" panose="020F0502020204030204" pitchFamily="34" charset="0"/>
              </a:rPr>
              <a:t>What was calculated:</a:t>
            </a:r>
            <a:br>
              <a:rPr lang="en-US" sz="1200" dirty="0">
                <a:solidFill>
                  <a:schemeClr val="bg1"/>
                </a:solidFill>
                <a:latin typeface="Calibri" panose="020F0502020204030204" pitchFamily="34" charset="0"/>
                <a:ea typeface="Calibri" panose="020F0502020204030204" pitchFamily="34" charset="0"/>
                <a:cs typeface="Calibri" panose="020F0502020204030204" pitchFamily="34" charset="0"/>
              </a:rPr>
            </a:br>
            <a:r>
              <a:rPr lang="en-US" sz="1200" dirty="0">
                <a:solidFill>
                  <a:schemeClr val="bg1"/>
                </a:solidFill>
                <a:latin typeface="Calibri" panose="020F0502020204030204" pitchFamily="34" charset="0"/>
                <a:ea typeface="Calibri" panose="020F0502020204030204" pitchFamily="34" charset="0"/>
                <a:cs typeface="Calibri" panose="020F0502020204030204" pitchFamily="34" charset="0"/>
              </a:rPr>
              <a:t>The average transit time (in hours) taken by shipments on each route.</a:t>
            </a:r>
          </a:p>
          <a:p>
            <a:endParaRPr lang="en-US" sz="1200"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r>
              <a:rPr lang="en-US" sz="1200" b="1" u="sng" dirty="0">
                <a:solidFill>
                  <a:schemeClr val="bg1"/>
                </a:solidFill>
                <a:latin typeface="Calibri" panose="020F0502020204030204" pitchFamily="34" charset="0"/>
                <a:ea typeface="Calibri" panose="020F0502020204030204" pitchFamily="34" charset="0"/>
                <a:cs typeface="Calibri" panose="020F0502020204030204" pitchFamily="34" charset="0"/>
              </a:rPr>
              <a:t>What we got:</a:t>
            </a:r>
            <a:br>
              <a:rPr lang="en-US" sz="1200" dirty="0">
                <a:solidFill>
                  <a:schemeClr val="bg1"/>
                </a:solidFill>
                <a:latin typeface="Calibri" panose="020F0502020204030204" pitchFamily="34" charset="0"/>
                <a:ea typeface="Calibri" panose="020F0502020204030204" pitchFamily="34" charset="0"/>
                <a:cs typeface="Calibri" panose="020F0502020204030204" pitchFamily="34" charset="0"/>
              </a:rPr>
            </a:br>
            <a:r>
              <a:rPr lang="en-US" sz="1200" dirty="0">
                <a:solidFill>
                  <a:schemeClr val="bg1"/>
                </a:solidFill>
                <a:latin typeface="Calibri" panose="020F0502020204030204" pitchFamily="34" charset="0"/>
                <a:ea typeface="Calibri" panose="020F0502020204030204" pitchFamily="34" charset="0"/>
                <a:cs typeface="Calibri" panose="020F0502020204030204" pitchFamily="34" charset="0"/>
              </a:rPr>
              <a:t>A clear view of how long shipments usually take on every route,</a:t>
            </a:r>
          </a:p>
          <a:p>
            <a:r>
              <a:rPr lang="en-US" sz="1200" dirty="0">
                <a:solidFill>
                  <a:schemeClr val="bg1"/>
                </a:solidFill>
                <a:latin typeface="Calibri" panose="020F0502020204030204" pitchFamily="34" charset="0"/>
                <a:ea typeface="Calibri" panose="020F0502020204030204" pitchFamily="34" charset="0"/>
                <a:cs typeface="Calibri" panose="020F0502020204030204" pitchFamily="34" charset="0"/>
              </a:rPr>
              <a:t> helping compare fast and slow routes.</a:t>
            </a:r>
          </a:p>
          <a:p>
            <a:pPr>
              <a:buFont typeface="Arial" panose="020B0604020202020204" pitchFamily="34" charset="0"/>
              <a:buChar char="•"/>
            </a:pPr>
            <a:endParaRPr lang="en-US" sz="1200"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endParaRPr lang="en-US" sz="1200"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endParaRPr lang="en-US" sz="1200" dirty="0">
              <a:latin typeface="Calibri" panose="020F0502020204030204" pitchFamily="34" charset="0"/>
              <a:ea typeface="Calibri" panose="020F0502020204030204" pitchFamily="34" charset="0"/>
              <a:cs typeface="Calibri" panose="020F0502020204030204" pitchFamily="34" charset="0"/>
            </a:endParaRPr>
          </a:p>
          <a:p>
            <a:endParaRPr lang="en-US" sz="1200" dirty="0">
              <a:latin typeface="Calibri" panose="020F0502020204030204" pitchFamily="34" charset="0"/>
              <a:ea typeface="Calibri" panose="020F0502020204030204" pitchFamily="34" charset="0"/>
              <a:cs typeface="Calibri" panose="020F0502020204030204" pitchFamily="34" charset="0"/>
            </a:endParaRPr>
          </a:p>
        </p:txBody>
      </p:sp>
      <p:pic>
        <p:nvPicPr>
          <p:cNvPr id="6" name="Picture 5">
            <a:extLst>
              <a:ext uri="{FF2B5EF4-FFF2-40B4-BE49-F238E27FC236}">
                <a16:creationId xmlns:a16="http://schemas.microsoft.com/office/drawing/2014/main" id="{EA04698A-917E-4877-9FD6-C6B2AC60413F}"/>
              </a:ext>
            </a:extLst>
          </p:cNvPr>
          <p:cNvPicPr>
            <a:picLocks noChangeAspect="1"/>
          </p:cNvPicPr>
          <p:nvPr/>
        </p:nvPicPr>
        <p:blipFill>
          <a:blip r:embed="rId2"/>
          <a:stretch>
            <a:fillRect/>
          </a:stretch>
        </p:blipFill>
        <p:spPr>
          <a:xfrm>
            <a:off x="6009971" y="1081643"/>
            <a:ext cx="2181529" cy="3277057"/>
          </a:xfrm>
          <a:prstGeom prst="rect">
            <a:avLst/>
          </a:prstGeom>
        </p:spPr>
      </p:pic>
    </p:spTree>
    <p:extLst>
      <p:ext uri="{BB962C8B-B14F-4D97-AF65-F5344CB8AC3E}">
        <p14:creationId xmlns:p14="http://schemas.microsoft.com/office/powerpoint/2010/main" val="19321165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79C1228-E7A2-4F8A-BC1E-B57696F05568}"/>
              </a:ext>
            </a:extLst>
          </p:cNvPr>
          <p:cNvSpPr txBox="1"/>
          <p:nvPr/>
        </p:nvSpPr>
        <p:spPr>
          <a:xfrm>
            <a:off x="185737" y="79950"/>
            <a:ext cx="8772525" cy="3447098"/>
          </a:xfrm>
          <a:prstGeom prst="rect">
            <a:avLst/>
          </a:prstGeom>
          <a:noFill/>
        </p:spPr>
        <p:txBody>
          <a:bodyPr wrap="square" rtlCol="0">
            <a:spAutoFit/>
          </a:bodyPr>
          <a:lstStyle/>
          <a:p>
            <a:endParaRPr lang="en-US" sz="1200"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b="1" dirty="0">
                <a:solidFill>
                  <a:schemeClr val="bg1"/>
                </a:solidFill>
                <a:latin typeface="Calibri" panose="020F0502020204030204" pitchFamily="34" charset="0"/>
                <a:ea typeface="Calibri" panose="020F0502020204030204" pitchFamily="34" charset="0"/>
                <a:cs typeface="Calibri" panose="020F0502020204030204" pitchFamily="34" charset="0"/>
              </a:rPr>
              <a:t>Average delay (in hours) per route.</a:t>
            </a:r>
          </a:p>
          <a:p>
            <a:r>
              <a:rPr lang="en-US" sz="1200" dirty="0">
                <a:solidFill>
                  <a:srgbClr val="FFFF00"/>
                </a:solidFill>
                <a:latin typeface="Calibri" panose="020F0502020204030204" pitchFamily="34" charset="0"/>
                <a:ea typeface="Calibri" panose="020F0502020204030204" pitchFamily="34" charset="0"/>
                <a:cs typeface="Calibri" panose="020F0502020204030204" pitchFamily="34" charset="0"/>
              </a:rPr>
              <a:t>SELECT  </a:t>
            </a:r>
          </a:p>
          <a:p>
            <a:r>
              <a:rPr lang="en-US" sz="1200" dirty="0">
                <a:solidFill>
                  <a:srgbClr val="FFFF00"/>
                </a:solidFill>
                <a:latin typeface="Calibri" panose="020F0502020204030204" pitchFamily="34" charset="0"/>
                <a:ea typeface="Calibri" panose="020F0502020204030204" pitchFamily="34" charset="0"/>
                <a:cs typeface="Calibri" panose="020F0502020204030204" pitchFamily="34" charset="0"/>
              </a:rPr>
              <a:t>  </a:t>
            </a:r>
            <a:r>
              <a:rPr lang="en-US" sz="1200" dirty="0" err="1">
                <a:solidFill>
                  <a:srgbClr val="FFFF00"/>
                </a:solidFill>
                <a:latin typeface="Calibri" panose="020F0502020204030204" pitchFamily="34" charset="0"/>
                <a:ea typeface="Calibri" panose="020F0502020204030204" pitchFamily="34" charset="0"/>
                <a:cs typeface="Calibri" panose="020F0502020204030204" pitchFamily="34" charset="0"/>
              </a:rPr>
              <a:t>Route_ID</a:t>
            </a:r>
            <a:r>
              <a:rPr lang="en-US" sz="1200" dirty="0">
                <a:solidFill>
                  <a:srgbClr val="FFFF00"/>
                </a:solidFill>
                <a:latin typeface="Calibri" panose="020F0502020204030204" pitchFamily="34" charset="0"/>
                <a:ea typeface="Calibri" panose="020F0502020204030204" pitchFamily="34" charset="0"/>
                <a:cs typeface="Calibri" panose="020F0502020204030204" pitchFamily="34" charset="0"/>
              </a:rPr>
              <a:t>,    </a:t>
            </a:r>
          </a:p>
          <a:p>
            <a:r>
              <a:rPr lang="en-US" sz="1200" dirty="0">
                <a:solidFill>
                  <a:srgbClr val="FFFF00"/>
                </a:solidFill>
                <a:latin typeface="Calibri" panose="020F0502020204030204" pitchFamily="34" charset="0"/>
                <a:ea typeface="Calibri" panose="020F0502020204030204" pitchFamily="34" charset="0"/>
                <a:cs typeface="Calibri" panose="020F0502020204030204" pitchFamily="34" charset="0"/>
              </a:rPr>
              <a:t>AVG(</a:t>
            </a:r>
            <a:r>
              <a:rPr lang="en-US" sz="1200" dirty="0" err="1">
                <a:solidFill>
                  <a:srgbClr val="FFFF00"/>
                </a:solidFill>
                <a:latin typeface="Calibri" panose="020F0502020204030204" pitchFamily="34" charset="0"/>
                <a:ea typeface="Calibri" panose="020F0502020204030204" pitchFamily="34" charset="0"/>
                <a:cs typeface="Calibri" panose="020F0502020204030204" pitchFamily="34" charset="0"/>
              </a:rPr>
              <a:t>Delay_Hours</a:t>
            </a:r>
            <a:r>
              <a:rPr lang="en-US" sz="1200" dirty="0">
                <a:solidFill>
                  <a:srgbClr val="FFFF00"/>
                </a:solidFill>
                <a:latin typeface="Calibri" panose="020F0502020204030204" pitchFamily="34" charset="0"/>
                <a:ea typeface="Calibri" panose="020F0502020204030204" pitchFamily="34" charset="0"/>
                <a:cs typeface="Calibri" panose="020F0502020204030204" pitchFamily="34" charset="0"/>
              </a:rPr>
              <a:t>) AS </a:t>
            </a:r>
            <a:r>
              <a:rPr lang="en-US" sz="1200" dirty="0" err="1">
                <a:solidFill>
                  <a:srgbClr val="FFFF00"/>
                </a:solidFill>
                <a:latin typeface="Calibri" panose="020F0502020204030204" pitchFamily="34" charset="0"/>
                <a:ea typeface="Calibri" panose="020F0502020204030204" pitchFamily="34" charset="0"/>
                <a:cs typeface="Calibri" panose="020F0502020204030204" pitchFamily="34" charset="0"/>
              </a:rPr>
              <a:t>Avg_Delay_Hours</a:t>
            </a:r>
            <a:endParaRPr lang="en-US" sz="1200" dirty="0">
              <a:solidFill>
                <a:srgbClr val="FFFF00"/>
              </a:solidFill>
              <a:latin typeface="Calibri" panose="020F0502020204030204" pitchFamily="34" charset="0"/>
              <a:ea typeface="Calibri" panose="020F0502020204030204" pitchFamily="34" charset="0"/>
              <a:cs typeface="Calibri" panose="020F0502020204030204" pitchFamily="34" charset="0"/>
            </a:endParaRPr>
          </a:p>
          <a:p>
            <a:r>
              <a:rPr lang="en-US" sz="1200" dirty="0">
                <a:solidFill>
                  <a:srgbClr val="FFFF00"/>
                </a:solidFill>
                <a:latin typeface="Calibri" panose="020F0502020204030204" pitchFamily="34" charset="0"/>
                <a:ea typeface="Calibri" panose="020F0502020204030204" pitchFamily="34" charset="0"/>
                <a:cs typeface="Calibri" panose="020F0502020204030204" pitchFamily="34" charset="0"/>
              </a:rPr>
              <a:t>FROM Shipments</a:t>
            </a:r>
          </a:p>
          <a:p>
            <a:r>
              <a:rPr lang="en-US" sz="1200" dirty="0">
                <a:solidFill>
                  <a:srgbClr val="FFFF00"/>
                </a:solidFill>
                <a:latin typeface="Calibri" panose="020F0502020204030204" pitchFamily="34" charset="0"/>
                <a:ea typeface="Calibri" panose="020F0502020204030204" pitchFamily="34" charset="0"/>
                <a:cs typeface="Calibri" panose="020F0502020204030204" pitchFamily="34" charset="0"/>
              </a:rPr>
              <a:t>GROUP BY </a:t>
            </a:r>
            <a:r>
              <a:rPr lang="en-US" sz="1200" dirty="0" err="1">
                <a:solidFill>
                  <a:srgbClr val="FFFF00"/>
                </a:solidFill>
                <a:latin typeface="Calibri" panose="020F0502020204030204" pitchFamily="34" charset="0"/>
                <a:ea typeface="Calibri" panose="020F0502020204030204" pitchFamily="34" charset="0"/>
                <a:cs typeface="Calibri" panose="020F0502020204030204" pitchFamily="34" charset="0"/>
              </a:rPr>
              <a:t>Route_ID</a:t>
            </a:r>
            <a:r>
              <a:rPr lang="en-US" sz="1200" dirty="0">
                <a:solidFill>
                  <a:srgbClr val="FFFF00"/>
                </a:solidFill>
                <a:latin typeface="Calibri" panose="020F0502020204030204" pitchFamily="34" charset="0"/>
                <a:ea typeface="Calibri" panose="020F0502020204030204" pitchFamily="34" charset="0"/>
                <a:cs typeface="Calibri" panose="020F0502020204030204" pitchFamily="34" charset="0"/>
              </a:rPr>
              <a:t> order by </a:t>
            </a:r>
            <a:r>
              <a:rPr lang="en-US" sz="1200" dirty="0" err="1">
                <a:solidFill>
                  <a:srgbClr val="FFFF00"/>
                </a:solidFill>
                <a:latin typeface="Calibri" panose="020F0502020204030204" pitchFamily="34" charset="0"/>
                <a:ea typeface="Calibri" panose="020F0502020204030204" pitchFamily="34" charset="0"/>
                <a:cs typeface="Calibri" panose="020F0502020204030204" pitchFamily="34" charset="0"/>
              </a:rPr>
              <a:t>Route_id</a:t>
            </a:r>
            <a:r>
              <a:rPr lang="en-US" sz="1200" dirty="0">
                <a:solidFill>
                  <a:srgbClr val="FFFF00"/>
                </a:solidFill>
                <a:latin typeface="Calibri" panose="020F0502020204030204" pitchFamily="34" charset="0"/>
                <a:ea typeface="Calibri" panose="020F0502020204030204" pitchFamily="34" charset="0"/>
                <a:cs typeface="Calibri" panose="020F0502020204030204" pitchFamily="34" charset="0"/>
              </a:rPr>
              <a:t>;</a:t>
            </a:r>
            <a:br>
              <a:rPr lang="en-US" sz="1200" dirty="0">
                <a:solidFill>
                  <a:srgbClr val="FFFF00"/>
                </a:solidFill>
                <a:latin typeface="Calibri" panose="020F0502020204030204" pitchFamily="34" charset="0"/>
                <a:ea typeface="Calibri" panose="020F0502020204030204" pitchFamily="34" charset="0"/>
                <a:cs typeface="Calibri" panose="020F0502020204030204" pitchFamily="34" charset="0"/>
              </a:rPr>
            </a:br>
            <a:endParaRPr lang="en-US" sz="1200" dirty="0">
              <a:solidFill>
                <a:srgbClr val="FFFF00"/>
              </a:solidFill>
              <a:latin typeface="Calibri" panose="020F0502020204030204" pitchFamily="34" charset="0"/>
              <a:ea typeface="Calibri" panose="020F0502020204030204" pitchFamily="34" charset="0"/>
              <a:cs typeface="Calibri" panose="020F0502020204030204" pitchFamily="34" charset="0"/>
            </a:endParaRPr>
          </a:p>
          <a:p>
            <a:r>
              <a:rPr lang="en-US" sz="1200" b="1" u="sng" dirty="0">
                <a:solidFill>
                  <a:schemeClr val="bg1"/>
                </a:solidFill>
                <a:latin typeface="Calibri" panose="020F0502020204030204" pitchFamily="34" charset="0"/>
                <a:ea typeface="Calibri" panose="020F0502020204030204" pitchFamily="34" charset="0"/>
                <a:cs typeface="Calibri" panose="020F0502020204030204" pitchFamily="34" charset="0"/>
              </a:rPr>
              <a:t>What was calculated:</a:t>
            </a:r>
            <a:br>
              <a:rPr lang="en-US" sz="1200" dirty="0">
                <a:solidFill>
                  <a:schemeClr val="bg1"/>
                </a:solidFill>
                <a:latin typeface="Calibri" panose="020F0502020204030204" pitchFamily="34" charset="0"/>
                <a:ea typeface="Calibri" panose="020F0502020204030204" pitchFamily="34" charset="0"/>
                <a:cs typeface="Calibri" panose="020F0502020204030204" pitchFamily="34" charset="0"/>
              </a:rPr>
            </a:br>
            <a:r>
              <a:rPr lang="en-US" sz="1200" dirty="0">
                <a:solidFill>
                  <a:schemeClr val="bg1"/>
                </a:solidFill>
                <a:latin typeface="Calibri" panose="020F0502020204030204" pitchFamily="34" charset="0"/>
                <a:ea typeface="Calibri" panose="020F0502020204030204" pitchFamily="34" charset="0"/>
                <a:cs typeface="Calibri" panose="020F0502020204030204" pitchFamily="34" charset="0"/>
              </a:rPr>
              <a:t>The average delay (in hours) experienced on each route.</a:t>
            </a:r>
          </a:p>
          <a:p>
            <a:endParaRPr lang="en-US" sz="1200"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r>
              <a:rPr lang="en-US" sz="1200" b="1" u="sng" dirty="0">
                <a:solidFill>
                  <a:schemeClr val="bg1"/>
                </a:solidFill>
                <a:latin typeface="Calibri" panose="020F0502020204030204" pitchFamily="34" charset="0"/>
                <a:ea typeface="Calibri" panose="020F0502020204030204" pitchFamily="34" charset="0"/>
                <a:cs typeface="Calibri" panose="020F0502020204030204" pitchFamily="34" charset="0"/>
              </a:rPr>
              <a:t>What we got:</a:t>
            </a:r>
            <a:br>
              <a:rPr lang="en-US" sz="1200" dirty="0">
                <a:solidFill>
                  <a:schemeClr val="bg1"/>
                </a:solidFill>
                <a:latin typeface="Calibri" panose="020F0502020204030204" pitchFamily="34" charset="0"/>
                <a:ea typeface="Calibri" panose="020F0502020204030204" pitchFamily="34" charset="0"/>
                <a:cs typeface="Calibri" panose="020F0502020204030204" pitchFamily="34" charset="0"/>
              </a:rPr>
            </a:br>
            <a:r>
              <a:rPr lang="en-US" sz="1200" dirty="0">
                <a:solidFill>
                  <a:schemeClr val="bg1"/>
                </a:solidFill>
                <a:latin typeface="Calibri" panose="020F0502020204030204" pitchFamily="34" charset="0"/>
                <a:ea typeface="Calibri" panose="020F0502020204030204" pitchFamily="34" charset="0"/>
                <a:cs typeface="Calibri" panose="020F0502020204030204" pitchFamily="34" charset="0"/>
              </a:rPr>
              <a:t>Routes with consistently higher delays were identified, showing which routes are </a:t>
            </a:r>
          </a:p>
          <a:p>
            <a:r>
              <a:rPr lang="en-US" sz="1200" dirty="0">
                <a:solidFill>
                  <a:schemeClr val="bg1"/>
                </a:solidFill>
                <a:latin typeface="Calibri" panose="020F0502020204030204" pitchFamily="34" charset="0"/>
                <a:ea typeface="Calibri" panose="020F0502020204030204" pitchFamily="34" charset="0"/>
                <a:cs typeface="Calibri" panose="020F0502020204030204" pitchFamily="34" charset="0"/>
              </a:rPr>
              <a:t>operationally weak.</a:t>
            </a:r>
          </a:p>
          <a:p>
            <a:pPr>
              <a:buFont typeface="Arial" panose="020B0604020202020204" pitchFamily="34" charset="0"/>
              <a:buChar char="•"/>
            </a:pPr>
            <a:endParaRPr lang="en-US" sz="1200" dirty="0">
              <a:latin typeface="Calibri" panose="020F0502020204030204" pitchFamily="34" charset="0"/>
              <a:ea typeface="Calibri" panose="020F0502020204030204" pitchFamily="34" charset="0"/>
              <a:cs typeface="Calibri" panose="020F0502020204030204" pitchFamily="34" charset="0"/>
            </a:endParaRPr>
          </a:p>
          <a:p>
            <a:endParaRPr lang="en-US" sz="1200" dirty="0">
              <a:latin typeface="Calibri" panose="020F0502020204030204" pitchFamily="34" charset="0"/>
              <a:ea typeface="Calibri" panose="020F0502020204030204" pitchFamily="34" charset="0"/>
              <a:cs typeface="Calibri" panose="020F0502020204030204" pitchFamily="34" charset="0"/>
            </a:endParaRPr>
          </a:p>
          <a:p>
            <a:endParaRPr lang="en-US" sz="1200" dirty="0">
              <a:latin typeface="Calibri" panose="020F0502020204030204" pitchFamily="34" charset="0"/>
              <a:ea typeface="Calibri" panose="020F0502020204030204" pitchFamily="34" charset="0"/>
              <a:cs typeface="Calibri" panose="020F0502020204030204" pitchFamily="34" charset="0"/>
            </a:endParaRPr>
          </a:p>
          <a:p>
            <a:endParaRPr lang="en-US" sz="1200" dirty="0">
              <a:latin typeface="Calibri" panose="020F0502020204030204" pitchFamily="34" charset="0"/>
              <a:ea typeface="Calibri" panose="020F0502020204030204" pitchFamily="34" charset="0"/>
              <a:cs typeface="Calibri" panose="020F0502020204030204" pitchFamily="34" charset="0"/>
            </a:endParaRPr>
          </a:p>
        </p:txBody>
      </p:sp>
      <p:pic>
        <p:nvPicPr>
          <p:cNvPr id="5" name="Picture 4">
            <a:extLst>
              <a:ext uri="{FF2B5EF4-FFF2-40B4-BE49-F238E27FC236}">
                <a16:creationId xmlns:a16="http://schemas.microsoft.com/office/drawing/2014/main" id="{6DAE7F80-456C-43D9-922B-A5896511E5A4}"/>
              </a:ext>
            </a:extLst>
          </p:cNvPr>
          <p:cNvPicPr>
            <a:picLocks noChangeAspect="1"/>
          </p:cNvPicPr>
          <p:nvPr/>
        </p:nvPicPr>
        <p:blipFill>
          <a:blip r:embed="rId2"/>
          <a:stretch>
            <a:fillRect/>
          </a:stretch>
        </p:blipFill>
        <p:spPr>
          <a:xfrm>
            <a:off x="5619609" y="594300"/>
            <a:ext cx="2019582" cy="3296110"/>
          </a:xfrm>
          <a:prstGeom prst="rect">
            <a:avLst/>
          </a:prstGeom>
        </p:spPr>
      </p:pic>
    </p:spTree>
    <p:extLst>
      <p:ext uri="{BB962C8B-B14F-4D97-AF65-F5344CB8AC3E}">
        <p14:creationId xmlns:p14="http://schemas.microsoft.com/office/powerpoint/2010/main" val="29422027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79C1228-E7A2-4F8A-BC1E-B57696F05568}"/>
              </a:ext>
            </a:extLst>
          </p:cNvPr>
          <p:cNvSpPr txBox="1"/>
          <p:nvPr/>
        </p:nvSpPr>
        <p:spPr>
          <a:xfrm>
            <a:off x="185738" y="79950"/>
            <a:ext cx="8772525" cy="4370427"/>
          </a:xfrm>
          <a:prstGeom prst="rect">
            <a:avLst/>
          </a:prstGeom>
          <a:noFill/>
        </p:spPr>
        <p:txBody>
          <a:bodyPr wrap="square" rtlCol="0">
            <a:spAutoFit/>
          </a:bodyPr>
          <a:lstStyle/>
          <a:p>
            <a:endParaRPr lang="en-US" sz="1200"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dirty="0">
                <a:solidFill>
                  <a:schemeClr val="bg1"/>
                </a:solidFill>
                <a:latin typeface="Calibri" panose="020F0502020204030204" pitchFamily="34" charset="0"/>
                <a:ea typeface="Calibri" panose="020F0502020204030204" pitchFamily="34" charset="0"/>
                <a:cs typeface="Calibri" panose="020F0502020204030204" pitchFamily="34" charset="0"/>
              </a:rPr>
              <a:t>Distance-to-time efficiency ratio = </a:t>
            </a:r>
            <a:r>
              <a:rPr lang="en-US" dirty="0" err="1">
                <a:solidFill>
                  <a:schemeClr val="bg1"/>
                </a:solidFill>
                <a:latin typeface="Calibri" panose="020F0502020204030204" pitchFamily="34" charset="0"/>
                <a:ea typeface="Calibri" panose="020F0502020204030204" pitchFamily="34" charset="0"/>
                <a:cs typeface="Calibri" panose="020F0502020204030204" pitchFamily="34" charset="0"/>
              </a:rPr>
              <a:t>Distance_KM</a:t>
            </a:r>
            <a:r>
              <a:rPr lang="en-US" dirty="0">
                <a:solidFill>
                  <a:schemeClr val="bg1"/>
                </a:solidFill>
                <a:latin typeface="Calibri" panose="020F0502020204030204" pitchFamily="34" charset="0"/>
                <a:ea typeface="Calibri" panose="020F0502020204030204" pitchFamily="34" charset="0"/>
                <a:cs typeface="Calibri" panose="020F0502020204030204" pitchFamily="34" charset="0"/>
              </a:rPr>
              <a:t> / </a:t>
            </a:r>
            <a:r>
              <a:rPr lang="en-US" dirty="0" err="1">
                <a:solidFill>
                  <a:schemeClr val="bg1"/>
                </a:solidFill>
                <a:latin typeface="Calibri" panose="020F0502020204030204" pitchFamily="34" charset="0"/>
                <a:ea typeface="Calibri" panose="020F0502020204030204" pitchFamily="34" charset="0"/>
                <a:cs typeface="Calibri" panose="020F0502020204030204" pitchFamily="34" charset="0"/>
              </a:rPr>
              <a:t>Avg_Transit_Time_Hours</a:t>
            </a:r>
            <a:r>
              <a:rPr lang="en-US" sz="1200" dirty="0">
                <a:latin typeface="Calibri" panose="020F0502020204030204" pitchFamily="34" charset="0"/>
                <a:ea typeface="Calibri" panose="020F0502020204030204" pitchFamily="34" charset="0"/>
                <a:cs typeface="Calibri" panose="020F0502020204030204" pitchFamily="34" charset="0"/>
              </a:rPr>
              <a:t>.</a:t>
            </a:r>
          </a:p>
          <a:p>
            <a:endParaRPr lang="en-US" sz="1200" dirty="0">
              <a:latin typeface="Calibri" panose="020F0502020204030204" pitchFamily="34" charset="0"/>
              <a:ea typeface="Calibri" panose="020F0502020204030204" pitchFamily="34" charset="0"/>
              <a:cs typeface="Calibri" panose="020F0502020204030204" pitchFamily="34" charset="0"/>
            </a:endParaRPr>
          </a:p>
          <a:p>
            <a:r>
              <a:rPr lang="en-US" sz="1200" dirty="0">
                <a:latin typeface="Calibri" panose="020F0502020204030204" pitchFamily="34" charset="0"/>
                <a:ea typeface="Calibri" panose="020F0502020204030204" pitchFamily="34" charset="0"/>
                <a:cs typeface="Calibri" panose="020F0502020204030204" pitchFamily="34" charset="0"/>
              </a:rPr>
              <a:t> </a:t>
            </a:r>
            <a:r>
              <a:rPr lang="en-US" sz="1200" dirty="0">
                <a:solidFill>
                  <a:srgbClr val="FFFF00"/>
                </a:solidFill>
                <a:latin typeface="Calibri" panose="020F0502020204030204" pitchFamily="34" charset="0"/>
                <a:ea typeface="Calibri" panose="020F0502020204030204" pitchFamily="34" charset="0"/>
                <a:cs typeface="Calibri" panose="020F0502020204030204" pitchFamily="34" charset="0"/>
              </a:rPr>
              <a:t>SELECT  </a:t>
            </a:r>
          </a:p>
          <a:p>
            <a:r>
              <a:rPr lang="en-US" sz="1200" dirty="0">
                <a:solidFill>
                  <a:srgbClr val="FFFF00"/>
                </a:solidFill>
                <a:latin typeface="Calibri" panose="020F0502020204030204" pitchFamily="34" charset="0"/>
                <a:ea typeface="Calibri" panose="020F0502020204030204" pitchFamily="34" charset="0"/>
                <a:cs typeface="Calibri" panose="020F0502020204030204" pitchFamily="34" charset="0"/>
              </a:rPr>
              <a:t>	  </a:t>
            </a:r>
            <a:r>
              <a:rPr lang="en-US" sz="1200" dirty="0" err="1">
                <a:solidFill>
                  <a:srgbClr val="FFFF00"/>
                </a:solidFill>
                <a:latin typeface="Calibri" panose="020F0502020204030204" pitchFamily="34" charset="0"/>
                <a:ea typeface="Calibri" panose="020F0502020204030204" pitchFamily="34" charset="0"/>
                <a:cs typeface="Calibri" panose="020F0502020204030204" pitchFamily="34" charset="0"/>
              </a:rPr>
              <a:t>Route_ID</a:t>
            </a:r>
            <a:r>
              <a:rPr lang="en-US" sz="1200" dirty="0">
                <a:solidFill>
                  <a:srgbClr val="FFFF00"/>
                </a:solidFill>
                <a:latin typeface="Calibri" panose="020F0502020204030204" pitchFamily="34" charset="0"/>
                <a:ea typeface="Calibri" panose="020F0502020204030204" pitchFamily="34" charset="0"/>
                <a:cs typeface="Calibri" panose="020F0502020204030204" pitchFamily="34" charset="0"/>
              </a:rPr>
              <a:t>,   </a:t>
            </a:r>
          </a:p>
          <a:p>
            <a:r>
              <a:rPr lang="en-US" sz="1200" dirty="0">
                <a:solidFill>
                  <a:srgbClr val="FFFF00"/>
                </a:solidFill>
                <a:latin typeface="Calibri" panose="020F0502020204030204" pitchFamily="34" charset="0"/>
                <a:ea typeface="Calibri" panose="020F0502020204030204" pitchFamily="34" charset="0"/>
                <a:cs typeface="Calibri" panose="020F0502020204030204" pitchFamily="34" charset="0"/>
              </a:rPr>
              <a:t>	 </a:t>
            </a:r>
            <a:r>
              <a:rPr lang="en-US" sz="1200" dirty="0" err="1">
                <a:solidFill>
                  <a:srgbClr val="FFFF00"/>
                </a:solidFill>
                <a:latin typeface="Calibri" panose="020F0502020204030204" pitchFamily="34" charset="0"/>
                <a:ea typeface="Calibri" panose="020F0502020204030204" pitchFamily="34" charset="0"/>
                <a:cs typeface="Calibri" panose="020F0502020204030204" pitchFamily="34" charset="0"/>
              </a:rPr>
              <a:t>Distance_KM</a:t>
            </a:r>
            <a:r>
              <a:rPr lang="en-US" sz="1200" dirty="0">
                <a:solidFill>
                  <a:srgbClr val="FFFF00"/>
                </a:solidFill>
                <a:latin typeface="Calibri" panose="020F0502020204030204" pitchFamily="34" charset="0"/>
                <a:ea typeface="Calibri" panose="020F0502020204030204" pitchFamily="34" charset="0"/>
                <a:cs typeface="Calibri" panose="020F0502020204030204" pitchFamily="34" charset="0"/>
              </a:rPr>
              <a:t>,  </a:t>
            </a:r>
          </a:p>
          <a:p>
            <a:r>
              <a:rPr lang="en-US" sz="1200" dirty="0">
                <a:solidFill>
                  <a:srgbClr val="FFFF00"/>
                </a:solidFill>
                <a:latin typeface="Calibri" panose="020F0502020204030204" pitchFamily="34" charset="0"/>
                <a:ea typeface="Calibri" panose="020F0502020204030204" pitchFamily="34" charset="0"/>
                <a:cs typeface="Calibri" panose="020F0502020204030204" pitchFamily="34" charset="0"/>
              </a:rPr>
              <a:t>	  </a:t>
            </a:r>
            <a:r>
              <a:rPr lang="en-US" sz="1200" dirty="0" err="1">
                <a:solidFill>
                  <a:srgbClr val="FFFF00"/>
                </a:solidFill>
                <a:latin typeface="Calibri" panose="020F0502020204030204" pitchFamily="34" charset="0"/>
                <a:ea typeface="Calibri" panose="020F0502020204030204" pitchFamily="34" charset="0"/>
                <a:cs typeface="Calibri" panose="020F0502020204030204" pitchFamily="34" charset="0"/>
              </a:rPr>
              <a:t>Avg_Transit_Time_Hours</a:t>
            </a:r>
            <a:r>
              <a:rPr lang="en-US" sz="1200" dirty="0">
                <a:solidFill>
                  <a:srgbClr val="FFFF00"/>
                </a:solidFill>
                <a:latin typeface="Calibri" panose="020F0502020204030204" pitchFamily="34" charset="0"/>
                <a:ea typeface="Calibri" panose="020F0502020204030204" pitchFamily="34" charset="0"/>
                <a:cs typeface="Calibri" panose="020F0502020204030204" pitchFamily="34" charset="0"/>
              </a:rPr>
              <a:t>,   </a:t>
            </a:r>
          </a:p>
          <a:p>
            <a:r>
              <a:rPr lang="en-US" sz="1200" dirty="0">
                <a:solidFill>
                  <a:srgbClr val="FFFF00"/>
                </a:solidFill>
                <a:latin typeface="Calibri" panose="020F0502020204030204" pitchFamily="34" charset="0"/>
                <a:ea typeface="Calibri" panose="020F0502020204030204" pitchFamily="34" charset="0"/>
                <a:cs typeface="Calibri" panose="020F0502020204030204" pitchFamily="34" charset="0"/>
              </a:rPr>
              <a:t>	 </a:t>
            </a:r>
            <a:r>
              <a:rPr lang="en-US" sz="1200" dirty="0" err="1">
                <a:solidFill>
                  <a:srgbClr val="FFFF00"/>
                </a:solidFill>
                <a:latin typeface="Calibri" panose="020F0502020204030204" pitchFamily="34" charset="0"/>
                <a:ea typeface="Calibri" panose="020F0502020204030204" pitchFamily="34" charset="0"/>
                <a:cs typeface="Calibri" panose="020F0502020204030204" pitchFamily="34" charset="0"/>
              </a:rPr>
              <a:t>Distance_KM</a:t>
            </a:r>
            <a:r>
              <a:rPr lang="en-US" sz="1200" dirty="0">
                <a:solidFill>
                  <a:srgbClr val="FFFF00"/>
                </a:solidFill>
                <a:latin typeface="Calibri" panose="020F0502020204030204" pitchFamily="34" charset="0"/>
                <a:ea typeface="Calibri" panose="020F0502020204030204" pitchFamily="34" charset="0"/>
                <a:cs typeface="Calibri" panose="020F0502020204030204" pitchFamily="34" charset="0"/>
              </a:rPr>
              <a:t> / </a:t>
            </a:r>
            <a:r>
              <a:rPr lang="en-US" sz="1200" dirty="0" err="1">
                <a:solidFill>
                  <a:srgbClr val="FFFF00"/>
                </a:solidFill>
                <a:latin typeface="Calibri" panose="020F0502020204030204" pitchFamily="34" charset="0"/>
                <a:ea typeface="Calibri" panose="020F0502020204030204" pitchFamily="34" charset="0"/>
                <a:cs typeface="Calibri" panose="020F0502020204030204" pitchFamily="34" charset="0"/>
              </a:rPr>
              <a:t>Avg_Transit_Time_Hours</a:t>
            </a:r>
            <a:r>
              <a:rPr lang="en-US" sz="1200" dirty="0">
                <a:solidFill>
                  <a:srgbClr val="FFFF00"/>
                </a:solidFill>
                <a:latin typeface="Calibri" panose="020F0502020204030204" pitchFamily="34" charset="0"/>
                <a:ea typeface="Calibri" panose="020F0502020204030204" pitchFamily="34" charset="0"/>
                <a:cs typeface="Calibri" panose="020F0502020204030204" pitchFamily="34" charset="0"/>
              </a:rPr>
              <a:t> AS </a:t>
            </a:r>
            <a:r>
              <a:rPr lang="en-US" sz="1200" dirty="0" err="1">
                <a:solidFill>
                  <a:srgbClr val="FFFF00"/>
                </a:solidFill>
                <a:latin typeface="Calibri" panose="020F0502020204030204" pitchFamily="34" charset="0"/>
                <a:ea typeface="Calibri" panose="020F0502020204030204" pitchFamily="34" charset="0"/>
                <a:cs typeface="Calibri" panose="020F0502020204030204" pitchFamily="34" charset="0"/>
              </a:rPr>
              <a:t>efficiency_ratio</a:t>
            </a:r>
            <a:r>
              <a:rPr lang="en-US" sz="1200" dirty="0">
                <a:solidFill>
                  <a:srgbClr val="FFFF00"/>
                </a:solidFill>
                <a:latin typeface="Calibri" panose="020F0502020204030204" pitchFamily="34" charset="0"/>
                <a:ea typeface="Calibri" panose="020F0502020204030204" pitchFamily="34" charset="0"/>
                <a:cs typeface="Calibri" panose="020F0502020204030204" pitchFamily="34" charset="0"/>
              </a:rPr>
              <a:t> </a:t>
            </a:r>
          </a:p>
          <a:p>
            <a:r>
              <a:rPr lang="en-US" sz="1200" dirty="0">
                <a:solidFill>
                  <a:srgbClr val="FFFF00"/>
                </a:solidFill>
                <a:latin typeface="Calibri" panose="020F0502020204030204" pitchFamily="34" charset="0"/>
                <a:ea typeface="Calibri" panose="020F0502020204030204" pitchFamily="34" charset="0"/>
                <a:cs typeface="Calibri" panose="020F0502020204030204" pitchFamily="34" charset="0"/>
              </a:rPr>
              <a:t>FROM Routes;</a:t>
            </a:r>
            <a:br>
              <a:rPr lang="en-US" sz="1200" dirty="0">
                <a:solidFill>
                  <a:srgbClr val="FFFF00"/>
                </a:solidFill>
                <a:latin typeface="Calibri" panose="020F0502020204030204" pitchFamily="34" charset="0"/>
                <a:ea typeface="Calibri" panose="020F0502020204030204" pitchFamily="34" charset="0"/>
                <a:cs typeface="Calibri" panose="020F0502020204030204" pitchFamily="34" charset="0"/>
              </a:rPr>
            </a:br>
            <a:endParaRPr lang="en-US" sz="1200" dirty="0">
              <a:solidFill>
                <a:srgbClr val="FFFF00"/>
              </a:solidFill>
              <a:latin typeface="Calibri" panose="020F0502020204030204" pitchFamily="34" charset="0"/>
              <a:ea typeface="Calibri" panose="020F0502020204030204" pitchFamily="34" charset="0"/>
              <a:cs typeface="Calibri" panose="020F0502020204030204" pitchFamily="34" charset="0"/>
            </a:endParaRPr>
          </a:p>
          <a:p>
            <a:r>
              <a:rPr lang="en-US" sz="1200" b="1" u="sng" dirty="0">
                <a:solidFill>
                  <a:schemeClr val="bg1"/>
                </a:solidFill>
                <a:latin typeface="Calibri" panose="020F0502020204030204" pitchFamily="34" charset="0"/>
                <a:ea typeface="Calibri" panose="020F0502020204030204" pitchFamily="34" charset="0"/>
                <a:cs typeface="Calibri" panose="020F0502020204030204" pitchFamily="34" charset="0"/>
              </a:rPr>
              <a:t>What was calculated:</a:t>
            </a:r>
            <a:br>
              <a:rPr lang="en-US" sz="1200" dirty="0">
                <a:solidFill>
                  <a:schemeClr val="bg1"/>
                </a:solidFill>
                <a:latin typeface="Calibri" panose="020F0502020204030204" pitchFamily="34" charset="0"/>
                <a:ea typeface="Calibri" panose="020F0502020204030204" pitchFamily="34" charset="0"/>
                <a:cs typeface="Calibri" panose="020F0502020204030204" pitchFamily="34" charset="0"/>
              </a:rPr>
            </a:br>
            <a:r>
              <a:rPr lang="en-US" sz="1200" dirty="0">
                <a:solidFill>
                  <a:schemeClr val="bg1"/>
                </a:solidFill>
                <a:latin typeface="Calibri" panose="020F0502020204030204" pitchFamily="34" charset="0"/>
                <a:ea typeface="Calibri" panose="020F0502020204030204" pitchFamily="34" charset="0"/>
                <a:cs typeface="Calibri" panose="020F0502020204030204" pitchFamily="34" charset="0"/>
              </a:rPr>
              <a:t>An efficiency ratio defined as distance traveled per </a:t>
            </a:r>
          </a:p>
          <a:p>
            <a:r>
              <a:rPr lang="en-US" sz="1200" dirty="0">
                <a:solidFill>
                  <a:schemeClr val="bg1"/>
                </a:solidFill>
                <a:latin typeface="Calibri" panose="020F0502020204030204" pitchFamily="34" charset="0"/>
                <a:ea typeface="Calibri" panose="020F0502020204030204" pitchFamily="34" charset="0"/>
                <a:cs typeface="Calibri" panose="020F0502020204030204" pitchFamily="34" charset="0"/>
              </a:rPr>
              <a:t>hour (</a:t>
            </a:r>
            <a:r>
              <a:rPr lang="en-US" sz="1200" dirty="0" err="1">
                <a:solidFill>
                  <a:schemeClr val="bg1"/>
                </a:solidFill>
                <a:latin typeface="Calibri" panose="020F0502020204030204" pitchFamily="34" charset="0"/>
                <a:ea typeface="Calibri" panose="020F0502020204030204" pitchFamily="34" charset="0"/>
                <a:cs typeface="Calibri" panose="020F0502020204030204" pitchFamily="34" charset="0"/>
              </a:rPr>
              <a:t>Distance_KM</a:t>
            </a:r>
            <a:r>
              <a:rPr lang="en-US" sz="1200" dirty="0">
                <a:solidFill>
                  <a:schemeClr val="bg1"/>
                </a:solidFill>
                <a:latin typeface="Calibri" panose="020F0502020204030204" pitchFamily="34" charset="0"/>
                <a:ea typeface="Calibri" panose="020F0502020204030204" pitchFamily="34" charset="0"/>
                <a:cs typeface="Calibri" panose="020F0502020204030204" pitchFamily="34" charset="0"/>
              </a:rPr>
              <a:t> / </a:t>
            </a:r>
            <a:r>
              <a:rPr lang="en-US" sz="1200" dirty="0" err="1">
                <a:solidFill>
                  <a:schemeClr val="bg1"/>
                </a:solidFill>
                <a:latin typeface="Calibri" panose="020F0502020204030204" pitchFamily="34" charset="0"/>
                <a:ea typeface="Calibri" panose="020F0502020204030204" pitchFamily="34" charset="0"/>
                <a:cs typeface="Calibri" panose="020F0502020204030204" pitchFamily="34" charset="0"/>
              </a:rPr>
              <a:t>Avg_Transit_Time_Hours</a:t>
            </a:r>
            <a:r>
              <a:rPr lang="en-US" sz="1200" dirty="0">
                <a:solidFill>
                  <a:schemeClr val="bg1"/>
                </a:solidFill>
                <a:latin typeface="Calibri" panose="020F0502020204030204" pitchFamily="34" charset="0"/>
                <a:ea typeface="Calibri" panose="020F0502020204030204" pitchFamily="34" charset="0"/>
                <a:cs typeface="Calibri" panose="020F0502020204030204" pitchFamily="34" charset="0"/>
              </a:rPr>
              <a:t>).</a:t>
            </a:r>
          </a:p>
          <a:p>
            <a:endParaRPr lang="en-US" sz="1200"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r>
              <a:rPr lang="en-US" sz="1200" b="1" u="sng" dirty="0">
                <a:solidFill>
                  <a:schemeClr val="bg1"/>
                </a:solidFill>
                <a:latin typeface="Calibri" panose="020F0502020204030204" pitchFamily="34" charset="0"/>
                <a:ea typeface="Calibri" panose="020F0502020204030204" pitchFamily="34" charset="0"/>
                <a:cs typeface="Calibri" panose="020F0502020204030204" pitchFamily="34" charset="0"/>
              </a:rPr>
              <a:t>What we got:</a:t>
            </a:r>
            <a:br>
              <a:rPr lang="en-US" sz="1200" dirty="0">
                <a:solidFill>
                  <a:schemeClr val="bg1"/>
                </a:solidFill>
                <a:latin typeface="Calibri" panose="020F0502020204030204" pitchFamily="34" charset="0"/>
                <a:ea typeface="Calibri" panose="020F0502020204030204" pitchFamily="34" charset="0"/>
                <a:cs typeface="Calibri" panose="020F0502020204030204" pitchFamily="34" charset="0"/>
              </a:rPr>
            </a:br>
            <a:r>
              <a:rPr lang="en-US" sz="1200" dirty="0">
                <a:solidFill>
                  <a:schemeClr val="bg1"/>
                </a:solidFill>
                <a:latin typeface="Calibri" panose="020F0502020204030204" pitchFamily="34" charset="0"/>
                <a:ea typeface="Calibri" panose="020F0502020204030204" pitchFamily="34" charset="0"/>
                <a:cs typeface="Calibri" panose="020F0502020204030204" pitchFamily="34" charset="0"/>
              </a:rPr>
              <a:t>This metric shows how efficiently each route covers </a:t>
            </a:r>
          </a:p>
          <a:p>
            <a:r>
              <a:rPr lang="en-US" sz="1200" dirty="0">
                <a:solidFill>
                  <a:schemeClr val="bg1"/>
                </a:solidFill>
                <a:latin typeface="Calibri" panose="020F0502020204030204" pitchFamily="34" charset="0"/>
                <a:ea typeface="Calibri" panose="020F0502020204030204" pitchFamily="34" charset="0"/>
                <a:cs typeface="Calibri" panose="020F0502020204030204" pitchFamily="34" charset="0"/>
              </a:rPr>
              <a:t>distance over time — higher values mean better route</a:t>
            </a:r>
          </a:p>
          <a:p>
            <a:r>
              <a:rPr lang="en-US" sz="1200" dirty="0">
                <a:solidFill>
                  <a:schemeClr val="bg1"/>
                </a:solidFill>
                <a:latin typeface="Calibri" panose="020F0502020204030204" pitchFamily="34" charset="0"/>
                <a:ea typeface="Calibri" panose="020F0502020204030204" pitchFamily="34" charset="0"/>
                <a:cs typeface="Calibri" panose="020F0502020204030204" pitchFamily="34" charset="0"/>
              </a:rPr>
              <a:t> performance.</a:t>
            </a:r>
          </a:p>
          <a:p>
            <a:r>
              <a:rPr lang="en-US" sz="1200" dirty="0">
                <a:solidFill>
                  <a:schemeClr val="bg1"/>
                </a:solidFill>
                <a:latin typeface="Calibri" panose="020F0502020204030204" pitchFamily="34" charset="0"/>
                <a:ea typeface="Calibri" panose="020F0502020204030204" pitchFamily="34" charset="0"/>
                <a:cs typeface="Calibri" panose="020F0502020204030204" pitchFamily="34" charset="0"/>
              </a:rPr>
              <a:t>.</a:t>
            </a:r>
          </a:p>
          <a:p>
            <a:pPr>
              <a:buFont typeface="Arial" panose="020B0604020202020204" pitchFamily="34" charset="0"/>
              <a:buChar char="•"/>
            </a:pPr>
            <a:endParaRPr lang="en-US" sz="1200" dirty="0">
              <a:latin typeface="Calibri" panose="020F0502020204030204" pitchFamily="34" charset="0"/>
              <a:ea typeface="Calibri" panose="020F0502020204030204" pitchFamily="34" charset="0"/>
              <a:cs typeface="Calibri" panose="020F0502020204030204" pitchFamily="34" charset="0"/>
            </a:endParaRPr>
          </a:p>
          <a:p>
            <a:endParaRPr lang="en-US" sz="1200" dirty="0">
              <a:latin typeface="Calibri" panose="020F0502020204030204" pitchFamily="34" charset="0"/>
              <a:ea typeface="Calibri" panose="020F0502020204030204" pitchFamily="34" charset="0"/>
              <a:cs typeface="Calibri" panose="020F0502020204030204" pitchFamily="34" charset="0"/>
            </a:endParaRPr>
          </a:p>
          <a:p>
            <a:endParaRPr lang="en-US" sz="1200" dirty="0">
              <a:latin typeface="Calibri" panose="020F0502020204030204" pitchFamily="34" charset="0"/>
              <a:ea typeface="Calibri" panose="020F0502020204030204" pitchFamily="34" charset="0"/>
              <a:cs typeface="Calibri" panose="020F0502020204030204" pitchFamily="34" charset="0"/>
            </a:endParaRPr>
          </a:p>
          <a:p>
            <a:endParaRPr lang="en-US" sz="1200" dirty="0">
              <a:latin typeface="Calibri" panose="020F0502020204030204" pitchFamily="34" charset="0"/>
              <a:ea typeface="Calibri" panose="020F0502020204030204" pitchFamily="34" charset="0"/>
              <a:cs typeface="Calibri" panose="020F0502020204030204" pitchFamily="34" charset="0"/>
            </a:endParaRPr>
          </a:p>
        </p:txBody>
      </p:sp>
      <p:pic>
        <p:nvPicPr>
          <p:cNvPr id="8" name="Picture 7">
            <a:extLst>
              <a:ext uri="{FF2B5EF4-FFF2-40B4-BE49-F238E27FC236}">
                <a16:creationId xmlns:a16="http://schemas.microsoft.com/office/drawing/2014/main" id="{4E97D7B1-3959-4D2F-8B09-AE6DDF1F5EF5}"/>
              </a:ext>
            </a:extLst>
          </p:cNvPr>
          <p:cNvPicPr>
            <a:picLocks noChangeAspect="1"/>
          </p:cNvPicPr>
          <p:nvPr/>
        </p:nvPicPr>
        <p:blipFill>
          <a:blip r:embed="rId2"/>
          <a:stretch>
            <a:fillRect/>
          </a:stretch>
        </p:blipFill>
        <p:spPr>
          <a:xfrm>
            <a:off x="5590889" y="1028700"/>
            <a:ext cx="2881598" cy="1997548"/>
          </a:xfrm>
          <a:prstGeom prst="rect">
            <a:avLst/>
          </a:prstGeom>
        </p:spPr>
      </p:pic>
    </p:spTree>
    <p:extLst>
      <p:ext uri="{BB962C8B-B14F-4D97-AF65-F5344CB8AC3E}">
        <p14:creationId xmlns:p14="http://schemas.microsoft.com/office/powerpoint/2010/main" val="28969700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79C1228-E7A2-4F8A-BC1E-B57696F05568}"/>
              </a:ext>
            </a:extLst>
          </p:cNvPr>
          <p:cNvSpPr txBox="1"/>
          <p:nvPr/>
        </p:nvSpPr>
        <p:spPr>
          <a:xfrm>
            <a:off x="185738" y="79950"/>
            <a:ext cx="8772525" cy="3908762"/>
          </a:xfrm>
          <a:prstGeom prst="rect">
            <a:avLst/>
          </a:prstGeom>
          <a:noFill/>
        </p:spPr>
        <p:txBody>
          <a:bodyPr wrap="square" rtlCol="0">
            <a:spAutoFit/>
          </a:bodyPr>
          <a:lstStyle/>
          <a:p>
            <a:endParaRPr lang="en-US" sz="1200"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b="1" dirty="0">
                <a:solidFill>
                  <a:schemeClr val="bg1"/>
                </a:solidFill>
                <a:latin typeface="Calibri" panose="020F0502020204030204" pitchFamily="34" charset="0"/>
                <a:ea typeface="Calibri" panose="020F0502020204030204" pitchFamily="34" charset="0"/>
                <a:cs typeface="Calibri" panose="020F0502020204030204" pitchFamily="34" charset="0"/>
              </a:rPr>
              <a:t>Identify 3 routes with the worst efficiency ratio (lowest distance-to-time). </a:t>
            </a:r>
            <a:endParaRPr lang="en-US"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endParaRPr lang="en-US" sz="1200" dirty="0">
              <a:latin typeface="Calibri" panose="020F0502020204030204" pitchFamily="34" charset="0"/>
              <a:ea typeface="Calibri" panose="020F0502020204030204" pitchFamily="34" charset="0"/>
              <a:cs typeface="Calibri" panose="020F0502020204030204" pitchFamily="34" charset="0"/>
            </a:endParaRPr>
          </a:p>
          <a:p>
            <a:r>
              <a:rPr lang="en-US" sz="1200" dirty="0">
                <a:solidFill>
                  <a:srgbClr val="FFFF00"/>
                </a:solidFill>
                <a:latin typeface="Calibri" panose="020F0502020204030204" pitchFamily="34" charset="0"/>
                <a:ea typeface="Calibri" panose="020F0502020204030204" pitchFamily="34" charset="0"/>
                <a:cs typeface="Calibri" panose="020F0502020204030204" pitchFamily="34" charset="0"/>
              </a:rPr>
              <a:t>SELECT    </a:t>
            </a:r>
          </a:p>
          <a:p>
            <a:r>
              <a:rPr lang="en-US" sz="1200" dirty="0">
                <a:solidFill>
                  <a:srgbClr val="FFFF00"/>
                </a:solidFill>
                <a:latin typeface="Calibri" panose="020F0502020204030204" pitchFamily="34" charset="0"/>
                <a:ea typeface="Calibri" panose="020F0502020204030204" pitchFamily="34" charset="0"/>
                <a:cs typeface="Calibri" panose="020F0502020204030204" pitchFamily="34" charset="0"/>
              </a:rPr>
              <a:t>	</a:t>
            </a:r>
            <a:r>
              <a:rPr lang="en-US" sz="1200" dirty="0" err="1">
                <a:solidFill>
                  <a:srgbClr val="FFFF00"/>
                </a:solidFill>
                <a:latin typeface="Calibri" panose="020F0502020204030204" pitchFamily="34" charset="0"/>
                <a:ea typeface="Calibri" panose="020F0502020204030204" pitchFamily="34" charset="0"/>
                <a:cs typeface="Calibri" panose="020F0502020204030204" pitchFamily="34" charset="0"/>
              </a:rPr>
              <a:t>Route_ID</a:t>
            </a:r>
            <a:r>
              <a:rPr lang="en-US" sz="1200" dirty="0">
                <a:solidFill>
                  <a:srgbClr val="FFFF00"/>
                </a:solidFill>
                <a:latin typeface="Calibri" panose="020F0502020204030204" pitchFamily="34" charset="0"/>
                <a:ea typeface="Calibri" panose="020F0502020204030204" pitchFamily="34" charset="0"/>
                <a:cs typeface="Calibri" panose="020F0502020204030204" pitchFamily="34" charset="0"/>
              </a:rPr>
              <a:t>,  </a:t>
            </a:r>
          </a:p>
          <a:p>
            <a:r>
              <a:rPr lang="en-US" sz="1200" dirty="0">
                <a:solidFill>
                  <a:srgbClr val="FFFF00"/>
                </a:solidFill>
                <a:latin typeface="Calibri" panose="020F0502020204030204" pitchFamily="34" charset="0"/>
                <a:ea typeface="Calibri" panose="020F0502020204030204" pitchFamily="34" charset="0"/>
                <a:cs typeface="Calibri" panose="020F0502020204030204" pitchFamily="34" charset="0"/>
              </a:rPr>
              <a:t>	  </a:t>
            </a:r>
            <a:r>
              <a:rPr lang="en-US" sz="1200" dirty="0" err="1">
                <a:solidFill>
                  <a:srgbClr val="FFFF00"/>
                </a:solidFill>
                <a:latin typeface="Calibri" panose="020F0502020204030204" pitchFamily="34" charset="0"/>
                <a:ea typeface="Calibri" panose="020F0502020204030204" pitchFamily="34" charset="0"/>
                <a:cs typeface="Calibri" panose="020F0502020204030204" pitchFamily="34" charset="0"/>
              </a:rPr>
              <a:t>Distance_KM</a:t>
            </a:r>
            <a:r>
              <a:rPr lang="en-US" sz="1200" dirty="0">
                <a:solidFill>
                  <a:srgbClr val="FFFF00"/>
                </a:solidFill>
                <a:latin typeface="Calibri" panose="020F0502020204030204" pitchFamily="34" charset="0"/>
                <a:ea typeface="Calibri" panose="020F0502020204030204" pitchFamily="34" charset="0"/>
                <a:cs typeface="Calibri" panose="020F0502020204030204" pitchFamily="34" charset="0"/>
              </a:rPr>
              <a:t>,</a:t>
            </a:r>
          </a:p>
          <a:p>
            <a:r>
              <a:rPr lang="en-US" sz="1200" dirty="0">
                <a:solidFill>
                  <a:srgbClr val="FFFF00"/>
                </a:solidFill>
                <a:latin typeface="Calibri" panose="020F0502020204030204" pitchFamily="34" charset="0"/>
                <a:ea typeface="Calibri" panose="020F0502020204030204" pitchFamily="34" charset="0"/>
                <a:cs typeface="Calibri" panose="020F0502020204030204" pitchFamily="34" charset="0"/>
              </a:rPr>
              <a:t>	    </a:t>
            </a:r>
            <a:r>
              <a:rPr lang="en-US" sz="1200" dirty="0" err="1">
                <a:solidFill>
                  <a:srgbClr val="FFFF00"/>
                </a:solidFill>
                <a:latin typeface="Calibri" panose="020F0502020204030204" pitchFamily="34" charset="0"/>
                <a:ea typeface="Calibri" panose="020F0502020204030204" pitchFamily="34" charset="0"/>
                <a:cs typeface="Calibri" panose="020F0502020204030204" pitchFamily="34" charset="0"/>
              </a:rPr>
              <a:t>Avg_Transit_Time_Hours</a:t>
            </a:r>
            <a:r>
              <a:rPr lang="en-US" sz="1200" dirty="0">
                <a:solidFill>
                  <a:srgbClr val="FFFF00"/>
                </a:solidFill>
                <a:latin typeface="Calibri" panose="020F0502020204030204" pitchFamily="34" charset="0"/>
                <a:ea typeface="Calibri" panose="020F0502020204030204" pitchFamily="34" charset="0"/>
                <a:cs typeface="Calibri" panose="020F0502020204030204" pitchFamily="34" charset="0"/>
              </a:rPr>
              <a:t>,    </a:t>
            </a:r>
          </a:p>
          <a:p>
            <a:r>
              <a:rPr lang="en-US" sz="1200" dirty="0">
                <a:solidFill>
                  <a:srgbClr val="FFFF00"/>
                </a:solidFill>
                <a:latin typeface="Calibri" panose="020F0502020204030204" pitchFamily="34" charset="0"/>
                <a:ea typeface="Calibri" panose="020F0502020204030204" pitchFamily="34" charset="0"/>
                <a:cs typeface="Calibri" panose="020F0502020204030204" pitchFamily="34" charset="0"/>
              </a:rPr>
              <a:t>	</a:t>
            </a:r>
            <a:r>
              <a:rPr lang="en-US" sz="1200" dirty="0" err="1">
                <a:solidFill>
                  <a:srgbClr val="FFFF00"/>
                </a:solidFill>
                <a:latin typeface="Calibri" panose="020F0502020204030204" pitchFamily="34" charset="0"/>
                <a:ea typeface="Calibri" panose="020F0502020204030204" pitchFamily="34" charset="0"/>
                <a:cs typeface="Calibri" panose="020F0502020204030204" pitchFamily="34" charset="0"/>
              </a:rPr>
              <a:t>Distance_KM</a:t>
            </a:r>
            <a:r>
              <a:rPr lang="en-US" sz="1200" dirty="0">
                <a:solidFill>
                  <a:srgbClr val="FFFF00"/>
                </a:solidFill>
                <a:latin typeface="Calibri" panose="020F0502020204030204" pitchFamily="34" charset="0"/>
                <a:ea typeface="Calibri" panose="020F0502020204030204" pitchFamily="34" charset="0"/>
                <a:cs typeface="Calibri" panose="020F0502020204030204" pitchFamily="34" charset="0"/>
              </a:rPr>
              <a:t> / </a:t>
            </a:r>
            <a:r>
              <a:rPr lang="en-US" sz="1200" dirty="0" err="1">
                <a:solidFill>
                  <a:srgbClr val="FFFF00"/>
                </a:solidFill>
                <a:latin typeface="Calibri" panose="020F0502020204030204" pitchFamily="34" charset="0"/>
                <a:ea typeface="Calibri" panose="020F0502020204030204" pitchFamily="34" charset="0"/>
                <a:cs typeface="Calibri" panose="020F0502020204030204" pitchFamily="34" charset="0"/>
              </a:rPr>
              <a:t>Avg_Transit_Time_Hours</a:t>
            </a:r>
            <a:r>
              <a:rPr lang="en-US" sz="1200" dirty="0">
                <a:solidFill>
                  <a:srgbClr val="FFFF00"/>
                </a:solidFill>
                <a:latin typeface="Calibri" panose="020F0502020204030204" pitchFamily="34" charset="0"/>
                <a:ea typeface="Calibri" panose="020F0502020204030204" pitchFamily="34" charset="0"/>
                <a:cs typeface="Calibri" panose="020F0502020204030204" pitchFamily="34" charset="0"/>
              </a:rPr>
              <a:t> AS </a:t>
            </a:r>
            <a:r>
              <a:rPr lang="en-US" sz="1200" dirty="0" err="1">
                <a:solidFill>
                  <a:srgbClr val="FFFF00"/>
                </a:solidFill>
                <a:latin typeface="Calibri" panose="020F0502020204030204" pitchFamily="34" charset="0"/>
                <a:ea typeface="Calibri" panose="020F0502020204030204" pitchFamily="34" charset="0"/>
                <a:cs typeface="Calibri" panose="020F0502020204030204" pitchFamily="34" charset="0"/>
              </a:rPr>
              <a:t>Distance_Time_Efficiency</a:t>
            </a:r>
            <a:endParaRPr lang="en-US" sz="1200" dirty="0">
              <a:solidFill>
                <a:srgbClr val="FFFF00"/>
              </a:solidFill>
              <a:latin typeface="Calibri" panose="020F0502020204030204" pitchFamily="34" charset="0"/>
              <a:ea typeface="Calibri" panose="020F0502020204030204" pitchFamily="34" charset="0"/>
              <a:cs typeface="Calibri" panose="020F0502020204030204" pitchFamily="34" charset="0"/>
            </a:endParaRPr>
          </a:p>
          <a:p>
            <a:r>
              <a:rPr lang="en-US" sz="1200" dirty="0">
                <a:solidFill>
                  <a:srgbClr val="FFFF00"/>
                </a:solidFill>
                <a:latin typeface="Calibri" panose="020F0502020204030204" pitchFamily="34" charset="0"/>
                <a:ea typeface="Calibri" panose="020F0502020204030204" pitchFamily="34" charset="0"/>
                <a:cs typeface="Calibri" panose="020F0502020204030204" pitchFamily="34" charset="0"/>
              </a:rPr>
              <a:t>FROM Routes</a:t>
            </a:r>
          </a:p>
          <a:p>
            <a:r>
              <a:rPr lang="en-US" sz="1200" dirty="0">
                <a:solidFill>
                  <a:srgbClr val="FFFF00"/>
                </a:solidFill>
                <a:latin typeface="Calibri" panose="020F0502020204030204" pitchFamily="34" charset="0"/>
                <a:ea typeface="Calibri" panose="020F0502020204030204" pitchFamily="34" charset="0"/>
                <a:cs typeface="Calibri" panose="020F0502020204030204" pitchFamily="34" charset="0"/>
              </a:rPr>
              <a:t>ORDER BY </a:t>
            </a:r>
            <a:r>
              <a:rPr lang="en-US" sz="1200" dirty="0" err="1">
                <a:solidFill>
                  <a:srgbClr val="FFFF00"/>
                </a:solidFill>
                <a:latin typeface="Calibri" panose="020F0502020204030204" pitchFamily="34" charset="0"/>
                <a:ea typeface="Calibri" panose="020F0502020204030204" pitchFamily="34" charset="0"/>
                <a:cs typeface="Calibri" panose="020F0502020204030204" pitchFamily="34" charset="0"/>
              </a:rPr>
              <a:t>Distance_Time_Efficiency</a:t>
            </a:r>
            <a:r>
              <a:rPr lang="en-US" sz="1200" dirty="0">
                <a:solidFill>
                  <a:srgbClr val="FFFF00"/>
                </a:solidFill>
                <a:latin typeface="Calibri" panose="020F0502020204030204" pitchFamily="34" charset="0"/>
                <a:ea typeface="Calibri" panose="020F0502020204030204" pitchFamily="34" charset="0"/>
                <a:cs typeface="Calibri" panose="020F0502020204030204" pitchFamily="34" charset="0"/>
              </a:rPr>
              <a:t> ASC</a:t>
            </a:r>
          </a:p>
          <a:p>
            <a:r>
              <a:rPr lang="en-US" sz="1200" dirty="0">
                <a:solidFill>
                  <a:srgbClr val="FFFF00"/>
                </a:solidFill>
                <a:latin typeface="Calibri" panose="020F0502020204030204" pitchFamily="34" charset="0"/>
                <a:ea typeface="Calibri" panose="020F0502020204030204" pitchFamily="34" charset="0"/>
                <a:cs typeface="Calibri" panose="020F0502020204030204" pitchFamily="34" charset="0"/>
              </a:rPr>
              <a:t>LIMIT 3;</a:t>
            </a:r>
            <a:br>
              <a:rPr lang="en-US" sz="1200" dirty="0">
                <a:latin typeface="Calibri" panose="020F0502020204030204" pitchFamily="34" charset="0"/>
                <a:ea typeface="Calibri" panose="020F0502020204030204" pitchFamily="34" charset="0"/>
                <a:cs typeface="Calibri" panose="020F0502020204030204" pitchFamily="34" charset="0"/>
              </a:rPr>
            </a:br>
            <a:endParaRPr lang="en-US" sz="1200" dirty="0">
              <a:latin typeface="Calibri" panose="020F0502020204030204" pitchFamily="34" charset="0"/>
              <a:ea typeface="Calibri" panose="020F0502020204030204" pitchFamily="34" charset="0"/>
              <a:cs typeface="Calibri" panose="020F0502020204030204" pitchFamily="34" charset="0"/>
            </a:endParaRPr>
          </a:p>
          <a:p>
            <a:r>
              <a:rPr lang="en-US" sz="1200" b="1" u="sng" dirty="0">
                <a:solidFill>
                  <a:schemeClr val="bg1"/>
                </a:solidFill>
                <a:latin typeface="Calibri" panose="020F0502020204030204" pitchFamily="34" charset="0"/>
                <a:ea typeface="Calibri" panose="020F0502020204030204" pitchFamily="34" charset="0"/>
                <a:cs typeface="Calibri" panose="020F0502020204030204" pitchFamily="34" charset="0"/>
              </a:rPr>
              <a:t>What was calculated:</a:t>
            </a:r>
            <a:br>
              <a:rPr lang="en-US" sz="1200" dirty="0">
                <a:solidFill>
                  <a:schemeClr val="bg1"/>
                </a:solidFill>
                <a:latin typeface="Calibri" panose="020F0502020204030204" pitchFamily="34" charset="0"/>
                <a:ea typeface="Calibri" panose="020F0502020204030204" pitchFamily="34" charset="0"/>
                <a:cs typeface="Calibri" panose="020F0502020204030204" pitchFamily="34" charset="0"/>
              </a:rPr>
            </a:br>
            <a:r>
              <a:rPr lang="en-US" sz="1200" dirty="0">
                <a:solidFill>
                  <a:schemeClr val="bg1"/>
                </a:solidFill>
                <a:latin typeface="Calibri" panose="020F0502020204030204" pitchFamily="34" charset="0"/>
                <a:ea typeface="Calibri" panose="020F0502020204030204" pitchFamily="34" charset="0"/>
                <a:cs typeface="Calibri" panose="020F0502020204030204" pitchFamily="34" charset="0"/>
              </a:rPr>
              <a:t>Routes were ranked by efficiency ratio in ascending order.</a:t>
            </a:r>
          </a:p>
          <a:p>
            <a:r>
              <a:rPr lang="en-US" sz="1200" b="1" dirty="0">
                <a:solidFill>
                  <a:schemeClr val="bg1"/>
                </a:solidFill>
                <a:latin typeface="Calibri" panose="020F0502020204030204" pitchFamily="34" charset="0"/>
                <a:ea typeface="Calibri" panose="020F0502020204030204" pitchFamily="34" charset="0"/>
                <a:cs typeface="Calibri" panose="020F0502020204030204" pitchFamily="34" charset="0"/>
              </a:rPr>
              <a:t>What we got:</a:t>
            </a:r>
            <a:br>
              <a:rPr lang="en-US" sz="1200" dirty="0">
                <a:solidFill>
                  <a:schemeClr val="bg1"/>
                </a:solidFill>
                <a:latin typeface="Calibri" panose="020F0502020204030204" pitchFamily="34" charset="0"/>
                <a:ea typeface="Calibri" panose="020F0502020204030204" pitchFamily="34" charset="0"/>
                <a:cs typeface="Calibri" panose="020F0502020204030204" pitchFamily="34" charset="0"/>
              </a:rPr>
            </a:br>
            <a:r>
              <a:rPr lang="en-US" sz="1200" dirty="0">
                <a:solidFill>
                  <a:schemeClr val="bg1"/>
                </a:solidFill>
                <a:latin typeface="Calibri" panose="020F0502020204030204" pitchFamily="34" charset="0"/>
                <a:ea typeface="Calibri" panose="020F0502020204030204" pitchFamily="34" charset="0"/>
                <a:cs typeface="Calibri" panose="020F0502020204030204" pitchFamily="34" charset="0"/>
              </a:rPr>
              <a:t>The bottom 3 routes with the lowest efficiency were identified, indicating poor distance coverage relative to time taken</a:t>
            </a:r>
            <a:r>
              <a:rPr lang="en-US" sz="1600" dirty="0">
                <a:solidFill>
                  <a:schemeClr val="bg1"/>
                </a:solidFill>
                <a:latin typeface="Calibri" panose="020F0502020204030204" pitchFamily="34" charset="0"/>
                <a:ea typeface="Calibri" panose="020F0502020204030204" pitchFamily="34" charset="0"/>
                <a:cs typeface="Calibri" panose="020F0502020204030204" pitchFamily="34" charset="0"/>
              </a:rPr>
              <a:t>.</a:t>
            </a:r>
            <a:endParaRPr lang="en-US" sz="1600" dirty="0"/>
          </a:p>
          <a:p>
            <a:pPr>
              <a:buFont typeface="Arial" panose="020B0604020202020204" pitchFamily="34" charset="0"/>
              <a:buChar char="•"/>
            </a:pPr>
            <a:endParaRPr lang="en-US" sz="1200" dirty="0">
              <a:latin typeface="Calibri" panose="020F0502020204030204" pitchFamily="34" charset="0"/>
              <a:ea typeface="Calibri" panose="020F0502020204030204" pitchFamily="34" charset="0"/>
              <a:cs typeface="Calibri" panose="020F0502020204030204" pitchFamily="34" charset="0"/>
            </a:endParaRPr>
          </a:p>
          <a:p>
            <a:endParaRPr lang="en-US" sz="1200" dirty="0">
              <a:latin typeface="Calibri" panose="020F0502020204030204" pitchFamily="34" charset="0"/>
              <a:ea typeface="Calibri" panose="020F0502020204030204" pitchFamily="34" charset="0"/>
              <a:cs typeface="Calibri" panose="020F0502020204030204" pitchFamily="34" charset="0"/>
            </a:endParaRPr>
          </a:p>
          <a:p>
            <a:endParaRPr lang="en-US" sz="1200" dirty="0">
              <a:latin typeface="Calibri" panose="020F0502020204030204" pitchFamily="34" charset="0"/>
              <a:ea typeface="Calibri" panose="020F0502020204030204" pitchFamily="34" charset="0"/>
              <a:cs typeface="Calibri" panose="020F0502020204030204" pitchFamily="34" charset="0"/>
            </a:endParaRPr>
          </a:p>
          <a:p>
            <a:endParaRPr lang="en-US" sz="1200" dirty="0">
              <a:latin typeface="Calibri" panose="020F0502020204030204" pitchFamily="34" charset="0"/>
              <a:ea typeface="Calibri" panose="020F0502020204030204" pitchFamily="34" charset="0"/>
              <a:cs typeface="Calibri" panose="020F0502020204030204" pitchFamily="34" charset="0"/>
            </a:endParaRPr>
          </a:p>
        </p:txBody>
      </p:sp>
      <p:pic>
        <p:nvPicPr>
          <p:cNvPr id="3" name="Picture 2">
            <a:extLst>
              <a:ext uri="{FF2B5EF4-FFF2-40B4-BE49-F238E27FC236}">
                <a16:creationId xmlns:a16="http://schemas.microsoft.com/office/drawing/2014/main" id="{DDED83DD-8B28-4420-A230-461C8D3FB199}"/>
              </a:ext>
            </a:extLst>
          </p:cNvPr>
          <p:cNvPicPr>
            <a:picLocks noChangeAspect="1"/>
          </p:cNvPicPr>
          <p:nvPr/>
        </p:nvPicPr>
        <p:blipFill>
          <a:blip r:embed="rId2"/>
          <a:stretch>
            <a:fillRect/>
          </a:stretch>
        </p:blipFill>
        <p:spPr>
          <a:xfrm>
            <a:off x="4572000" y="1929910"/>
            <a:ext cx="4248743" cy="885949"/>
          </a:xfrm>
          <a:prstGeom prst="rect">
            <a:avLst/>
          </a:prstGeom>
        </p:spPr>
      </p:pic>
    </p:spTree>
    <p:extLst>
      <p:ext uri="{BB962C8B-B14F-4D97-AF65-F5344CB8AC3E}">
        <p14:creationId xmlns:p14="http://schemas.microsoft.com/office/powerpoint/2010/main" val="39792437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79C1228-E7A2-4F8A-BC1E-B57696F05568}"/>
              </a:ext>
            </a:extLst>
          </p:cNvPr>
          <p:cNvSpPr txBox="1"/>
          <p:nvPr/>
        </p:nvSpPr>
        <p:spPr>
          <a:xfrm>
            <a:off x="176476" y="112917"/>
            <a:ext cx="8772525" cy="5909310"/>
          </a:xfrm>
          <a:prstGeom prst="rect">
            <a:avLst/>
          </a:prstGeom>
          <a:noFill/>
        </p:spPr>
        <p:txBody>
          <a:bodyPr wrap="square" rtlCol="0">
            <a:spAutoFit/>
          </a:bodyPr>
          <a:lstStyle/>
          <a:p>
            <a:pPr marL="285750" indent="-285750">
              <a:buFont typeface="Arial" panose="020B0604020202020204" pitchFamily="34" charset="0"/>
              <a:buChar char="•"/>
            </a:pPr>
            <a:r>
              <a:rPr lang="en-US" b="1" dirty="0">
                <a:solidFill>
                  <a:schemeClr val="bg1"/>
                </a:solidFill>
                <a:latin typeface="Calibri" panose="020F0502020204030204" pitchFamily="34" charset="0"/>
                <a:ea typeface="Calibri" panose="020F0502020204030204" pitchFamily="34" charset="0"/>
                <a:cs typeface="Calibri" panose="020F0502020204030204" pitchFamily="34" charset="0"/>
              </a:rPr>
              <a:t>Find routes with &gt;20% of shipments delayed beyond expected transit time.</a:t>
            </a:r>
          </a:p>
          <a:p>
            <a:r>
              <a:rPr lang="en-US" sz="1600" dirty="0"/>
              <a:t> </a:t>
            </a:r>
            <a:endParaRPr lang="en-US" sz="1200" dirty="0">
              <a:latin typeface="Calibri" panose="020F0502020204030204" pitchFamily="34" charset="0"/>
              <a:ea typeface="Calibri" panose="020F0502020204030204" pitchFamily="34" charset="0"/>
              <a:cs typeface="Calibri" panose="020F0502020204030204" pitchFamily="34" charset="0"/>
            </a:endParaRPr>
          </a:p>
          <a:p>
            <a:r>
              <a:rPr lang="en-US" sz="1200" dirty="0">
                <a:solidFill>
                  <a:srgbClr val="FFFF00"/>
                </a:solidFill>
                <a:latin typeface="Calibri" panose="020F0502020204030204" pitchFamily="34" charset="0"/>
                <a:ea typeface="Calibri" panose="020F0502020204030204" pitchFamily="34" charset="0"/>
                <a:cs typeface="Calibri" panose="020F0502020204030204" pitchFamily="34" charset="0"/>
              </a:rPr>
              <a:t>WITH </a:t>
            </a:r>
            <a:r>
              <a:rPr lang="en-US" sz="1200" dirty="0" err="1">
                <a:solidFill>
                  <a:srgbClr val="FFFF00"/>
                </a:solidFill>
                <a:latin typeface="Calibri" panose="020F0502020204030204" pitchFamily="34" charset="0"/>
                <a:ea typeface="Calibri" panose="020F0502020204030204" pitchFamily="34" charset="0"/>
                <a:cs typeface="Calibri" panose="020F0502020204030204" pitchFamily="34" charset="0"/>
              </a:rPr>
              <a:t>Route_Delay</a:t>
            </a:r>
            <a:r>
              <a:rPr lang="en-US" sz="1200" dirty="0">
                <a:solidFill>
                  <a:srgbClr val="FFFF00"/>
                </a:solidFill>
                <a:latin typeface="Calibri" panose="020F0502020204030204" pitchFamily="34" charset="0"/>
                <a:ea typeface="Calibri" panose="020F0502020204030204" pitchFamily="34" charset="0"/>
                <a:cs typeface="Calibri" panose="020F0502020204030204" pitchFamily="34" charset="0"/>
              </a:rPr>
              <a:t> AS (</a:t>
            </a:r>
          </a:p>
          <a:p>
            <a:r>
              <a:rPr lang="en-US" sz="1200" dirty="0">
                <a:solidFill>
                  <a:srgbClr val="FFFF00"/>
                </a:solidFill>
                <a:latin typeface="Calibri" panose="020F0502020204030204" pitchFamily="34" charset="0"/>
                <a:ea typeface="Calibri" panose="020F0502020204030204" pitchFamily="34" charset="0"/>
                <a:cs typeface="Calibri" panose="020F0502020204030204" pitchFamily="34" charset="0"/>
              </a:rPr>
              <a:t>    SELECT</a:t>
            </a:r>
          </a:p>
          <a:p>
            <a:r>
              <a:rPr lang="en-US" sz="1200" dirty="0">
                <a:solidFill>
                  <a:srgbClr val="FFFF00"/>
                </a:solidFill>
                <a:latin typeface="Calibri" panose="020F0502020204030204" pitchFamily="34" charset="0"/>
                <a:ea typeface="Calibri" panose="020F0502020204030204" pitchFamily="34" charset="0"/>
                <a:cs typeface="Calibri" panose="020F0502020204030204" pitchFamily="34" charset="0"/>
              </a:rPr>
              <a:t>        </a:t>
            </a:r>
            <a:r>
              <a:rPr lang="en-US" sz="1200" dirty="0" err="1">
                <a:solidFill>
                  <a:srgbClr val="FFFF00"/>
                </a:solidFill>
                <a:latin typeface="Calibri" panose="020F0502020204030204" pitchFamily="34" charset="0"/>
                <a:ea typeface="Calibri" panose="020F0502020204030204" pitchFamily="34" charset="0"/>
                <a:cs typeface="Calibri" panose="020F0502020204030204" pitchFamily="34" charset="0"/>
              </a:rPr>
              <a:t>s.Route_ID</a:t>
            </a:r>
            <a:r>
              <a:rPr lang="en-US" sz="1200" dirty="0">
                <a:solidFill>
                  <a:srgbClr val="FFFF00"/>
                </a:solidFill>
                <a:latin typeface="Calibri" panose="020F0502020204030204" pitchFamily="34" charset="0"/>
                <a:ea typeface="Calibri" panose="020F0502020204030204" pitchFamily="34" charset="0"/>
                <a:cs typeface="Calibri" panose="020F0502020204030204" pitchFamily="34" charset="0"/>
              </a:rPr>
              <a:t>,</a:t>
            </a:r>
          </a:p>
          <a:p>
            <a:r>
              <a:rPr lang="en-US" sz="1200" dirty="0">
                <a:solidFill>
                  <a:srgbClr val="FFFF00"/>
                </a:solidFill>
                <a:latin typeface="Calibri" panose="020F0502020204030204" pitchFamily="34" charset="0"/>
                <a:ea typeface="Calibri" panose="020F0502020204030204" pitchFamily="34" charset="0"/>
                <a:cs typeface="Calibri" panose="020F0502020204030204" pitchFamily="34" charset="0"/>
              </a:rPr>
              <a:t>        COUNT(*) AS </a:t>
            </a:r>
            <a:r>
              <a:rPr lang="en-US" sz="1200" dirty="0" err="1">
                <a:solidFill>
                  <a:srgbClr val="FFFF00"/>
                </a:solidFill>
                <a:latin typeface="Calibri" panose="020F0502020204030204" pitchFamily="34" charset="0"/>
                <a:ea typeface="Calibri" panose="020F0502020204030204" pitchFamily="34" charset="0"/>
                <a:cs typeface="Calibri" panose="020F0502020204030204" pitchFamily="34" charset="0"/>
              </a:rPr>
              <a:t>Total_Shipments</a:t>
            </a:r>
            <a:r>
              <a:rPr lang="en-US" sz="1200" dirty="0">
                <a:solidFill>
                  <a:srgbClr val="FFFF00"/>
                </a:solidFill>
                <a:latin typeface="Calibri" panose="020F0502020204030204" pitchFamily="34" charset="0"/>
                <a:ea typeface="Calibri" panose="020F0502020204030204" pitchFamily="34" charset="0"/>
                <a:cs typeface="Calibri" panose="020F0502020204030204" pitchFamily="34" charset="0"/>
              </a:rPr>
              <a:t>,</a:t>
            </a:r>
          </a:p>
          <a:p>
            <a:r>
              <a:rPr lang="en-US" sz="1200" dirty="0">
                <a:solidFill>
                  <a:srgbClr val="FFFF00"/>
                </a:solidFill>
                <a:latin typeface="Calibri" panose="020F0502020204030204" pitchFamily="34" charset="0"/>
                <a:ea typeface="Calibri" panose="020F0502020204030204" pitchFamily="34" charset="0"/>
                <a:cs typeface="Calibri" panose="020F0502020204030204" pitchFamily="34" charset="0"/>
              </a:rPr>
              <a:t>        SUM(</a:t>
            </a:r>
          </a:p>
          <a:p>
            <a:r>
              <a:rPr lang="en-US" sz="1200" dirty="0">
                <a:solidFill>
                  <a:srgbClr val="FFFF00"/>
                </a:solidFill>
                <a:latin typeface="Calibri" panose="020F0502020204030204" pitchFamily="34" charset="0"/>
                <a:ea typeface="Calibri" panose="020F0502020204030204" pitchFamily="34" charset="0"/>
                <a:cs typeface="Calibri" panose="020F0502020204030204" pitchFamily="34" charset="0"/>
              </a:rPr>
              <a:t>            CASE</a:t>
            </a:r>
          </a:p>
          <a:p>
            <a:r>
              <a:rPr lang="en-US" sz="1200" dirty="0">
                <a:solidFill>
                  <a:srgbClr val="FFFF00"/>
                </a:solidFill>
                <a:latin typeface="Calibri" panose="020F0502020204030204" pitchFamily="34" charset="0"/>
                <a:ea typeface="Calibri" panose="020F0502020204030204" pitchFamily="34" charset="0"/>
                <a:cs typeface="Calibri" panose="020F0502020204030204" pitchFamily="34" charset="0"/>
              </a:rPr>
              <a:t>                WHEN TIMESTAMPDIFF(HOUR, </a:t>
            </a:r>
            <a:r>
              <a:rPr lang="en-US" sz="1200" dirty="0" err="1">
                <a:solidFill>
                  <a:srgbClr val="FFFF00"/>
                </a:solidFill>
                <a:latin typeface="Calibri" panose="020F0502020204030204" pitchFamily="34" charset="0"/>
                <a:ea typeface="Calibri" panose="020F0502020204030204" pitchFamily="34" charset="0"/>
                <a:cs typeface="Calibri" panose="020F0502020204030204" pitchFamily="34" charset="0"/>
              </a:rPr>
              <a:t>s.Pickup_Date</a:t>
            </a:r>
            <a:r>
              <a:rPr lang="en-US" sz="1200" dirty="0">
                <a:solidFill>
                  <a:srgbClr val="FFFF00"/>
                </a:solidFill>
                <a:latin typeface="Calibri" panose="020F0502020204030204" pitchFamily="34" charset="0"/>
                <a:ea typeface="Calibri" panose="020F0502020204030204" pitchFamily="34" charset="0"/>
                <a:cs typeface="Calibri" panose="020F0502020204030204" pitchFamily="34" charset="0"/>
              </a:rPr>
              <a:t>, </a:t>
            </a:r>
            <a:r>
              <a:rPr lang="en-US" sz="1200" dirty="0" err="1">
                <a:solidFill>
                  <a:srgbClr val="FFFF00"/>
                </a:solidFill>
                <a:latin typeface="Calibri" panose="020F0502020204030204" pitchFamily="34" charset="0"/>
                <a:ea typeface="Calibri" panose="020F0502020204030204" pitchFamily="34" charset="0"/>
                <a:cs typeface="Calibri" panose="020F0502020204030204" pitchFamily="34" charset="0"/>
              </a:rPr>
              <a:t>s.Delivery_Date</a:t>
            </a:r>
            <a:r>
              <a:rPr lang="en-US" sz="1200" dirty="0">
                <a:solidFill>
                  <a:srgbClr val="FFFF00"/>
                </a:solidFill>
                <a:latin typeface="Calibri" panose="020F0502020204030204" pitchFamily="34" charset="0"/>
                <a:ea typeface="Calibri" panose="020F0502020204030204" pitchFamily="34" charset="0"/>
                <a:cs typeface="Calibri" panose="020F0502020204030204" pitchFamily="34" charset="0"/>
              </a:rPr>
              <a:t>)</a:t>
            </a:r>
          </a:p>
          <a:p>
            <a:r>
              <a:rPr lang="en-US" sz="1200" dirty="0">
                <a:solidFill>
                  <a:srgbClr val="FFFF00"/>
                </a:solidFill>
                <a:latin typeface="Calibri" panose="020F0502020204030204" pitchFamily="34" charset="0"/>
                <a:ea typeface="Calibri" panose="020F0502020204030204" pitchFamily="34" charset="0"/>
                <a:cs typeface="Calibri" panose="020F0502020204030204" pitchFamily="34" charset="0"/>
              </a:rPr>
              <a:t>                     &gt; </a:t>
            </a:r>
            <a:r>
              <a:rPr lang="en-US" sz="1200" dirty="0" err="1">
                <a:solidFill>
                  <a:srgbClr val="FFFF00"/>
                </a:solidFill>
                <a:latin typeface="Calibri" panose="020F0502020204030204" pitchFamily="34" charset="0"/>
                <a:ea typeface="Calibri" panose="020F0502020204030204" pitchFamily="34" charset="0"/>
                <a:cs typeface="Calibri" panose="020F0502020204030204" pitchFamily="34" charset="0"/>
              </a:rPr>
              <a:t>r.Avg_Transit_Time_Hours</a:t>
            </a:r>
            <a:endParaRPr lang="en-US" sz="1200" dirty="0">
              <a:solidFill>
                <a:srgbClr val="FFFF00"/>
              </a:solidFill>
              <a:latin typeface="Calibri" panose="020F0502020204030204" pitchFamily="34" charset="0"/>
              <a:ea typeface="Calibri" panose="020F0502020204030204" pitchFamily="34" charset="0"/>
              <a:cs typeface="Calibri" panose="020F0502020204030204" pitchFamily="34" charset="0"/>
            </a:endParaRPr>
          </a:p>
          <a:p>
            <a:r>
              <a:rPr lang="en-US" sz="1200" dirty="0">
                <a:solidFill>
                  <a:srgbClr val="FFFF00"/>
                </a:solidFill>
                <a:latin typeface="Calibri" panose="020F0502020204030204" pitchFamily="34" charset="0"/>
                <a:ea typeface="Calibri" panose="020F0502020204030204" pitchFamily="34" charset="0"/>
                <a:cs typeface="Calibri" panose="020F0502020204030204" pitchFamily="34" charset="0"/>
              </a:rPr>
              <a:t>                THEN 1 ELSE 0</a:t>
            </a:r>
          </a:p>
          <a:p>
            <a:r>
              <a:rPr lang="en-US" sz="1200" dirty="0">
                <a:solidFill>
                  <a:srgbClr val="FFFF00"/>
                </a:solidFill>
                <a:latin typeface="Calibri" panose="020F0502020204030204" pitchFamily="34" charset="0"/>
                <a:ea typeface="Calibri" panose="020F0502020204030204" pitchFamily="34" charset="0"/>
                <a:cs typeface="Calibri" panose="020F0502020204030204" pitchFamily="34" charset="0"/>
              </a:rPr>
              <a:t>            END</a:t>
            </a:r>
          </a:p>
          <a:p>
            <a:r>
              <a:rPr lang="en-US" sz="1200" dirty="0">
                <a:solidFill>
                  <a:srgbClr val="FFFF00"/>
                </a:solidFill>
                <a:latin typeface="Calibri" panose="020F0502020204030204" pitchFamily="34" charset="0"/>
                <a:ea typeface="Calibri" panose="020F0502020204030204" pitchFamily="34" charset="0"/>
                <a:cs typeface="Calibri" panose="020F0502020204030204" pitchFamily="34" charset="0"/>
              </a:rPr>
              <a:t>        ) AS </a:t>
            </a:r>
            <a:r>
              <a:rPr lang="en-US" sz="1200" dirty="0" err="1">
                <a:solidFill>
                  <a:srgbClr val="FFFF00"/>
                </a:solidFill>
                <a:latin typeface="Calibri" panose="020F0502020204030204" pitchFamily="34" charset="0"/>
                <a:ea typeface="Calibri" panose="020F0502020204030204" pitchFamily="34" charset="0"/>
                <a:cs typeface="Calibri" panose="020F0502020204030204" pitchFamily="34" charset="0"/>
              </a:rPr>
              <a:t>Delayed_Shipments</a:t>
            </a:r>
            <a:r>
              <a:rPr lang="en-US" sz="1200" dirty="0">
                <a:solidFill>
                  <a:srgbClr val="FFFF00"/>
                </a:solidFill>
                <a:latin typeface="Calibri" panose="020F0502020204030204" pitchFamily="34" charset="0"/>
                <a:ea typeface="Calibri" panose="020F0502020204030204" pitchFamily="34" charset="0"/>
                <a:cs typeface="Calibri" panose="020F0502020204030204" pitchFamily="34" charset="0"/>
              </a:rPr>
              <a:t>,</a:t>
            </a:r>
          </a:p>
          <a:p>
            <a:r>
              <a:rPr lang="en-US" sz="1200" dirty="0">
                <a:solidFill>
                  <a:srgbClr val="FFFF00"/>
                </a:solidFill>
                <a:latin typeface="Calibri" panose="020F0502020204030204" pitchFamily="34" charset="0"/>
                <a:ea typeface="Calibri" panose="020F0502020204030204" pitchFamily="34" charset="0"/>
                <a:cs typeface="Calibri" panose="020F0502020204030204" pitchFamily="34" charset="0"/>
              </a:rPr>
              <a:t>        (SUM(</a:t>
            </a:r>
          </a:p>
          <a:p>
            <a:r>
              <a:rPr lang="en-US" sz="1200" dirty="0">
                <a:solidFill>
                  <a:srgbClr val="FFFF00"/>
                </a:solidFill>
                <a:latin typeface="Calibri" panose="020F0502020204030204" pitchFamily="34" charset="0"/>
                <a:ea typeface="Calibri" panose="020F0502020204030204" pitchFamily="34" charset="0"/>
                <a:cs typeface="Calibri" panose="020F0502020204030204" pitchFamily="34" charset="0"/>
              </a:rPr>
              <a:t>            CASE</a:t>
            </a:r>
          </a:p>
          <a:p>
            <a:r>
              <a:rPr lang="en-US" sz="1200" dirty="0">
                <a:solidFill>
                  <a:srgbClr val="FFFF00"/>
                </a:solidFill>
                <a:latin typeface="Calibri" panose="020F0502020204030204" pitchFamily="34" charset="0"/>
                <a:ea typeface="Calibri" panose="020F0502020204030204" pitchFamily="34" charset="0"/>
                <a:cs typeface="Calibri" panose="020F0502020204030204" pitchFamily="34" charset="0"/>
              </a:rPr>
              <a:t>                WHEN TIMESTAMPDIFF(HOUR, </a:t>
            </a:r>
            <a:r>
              <a:rPr lang="en-US" sz="1200" dirty="0" err="1">
                <a:solidFill>
                  <a:srgbClr val="FFFF00"/>
                </a:solidFill>
                <a:latin typeface="Calibri" panose="020F0502020204030204" pitchFamily="34" charset="0"/>
                <a:ea typeface="Calibri" panose="020F0502020204030204" pitchFamily="34" charset="0"/>
                <a:cs typeface="Calibri" panose="020F0502020204030204" pitchFamily="34" charset="0"/>
              </a:rPr>
              <a:t>s.Pickup_Date</a:t>
            </a:r>
            <a:r>
              <a:rPr lang="en-US" sz="1200" dirty="0">
                <a:solidFill>
                  <a:srgbClr val="FFFF00"/>
                </a:solidFill>
                <a:latin typeface="Calibri" panose="020F0502020204030204" pitchFamily="34" charset="0"/>
                <a:ea typeface="Calibri" panose="020F0502020204030204" pitchFamily="34" charset="0"/>
                <a:cs typeface="Calibri" panose="020F0502020204030204" pitchFamily="34" charset="0"/>
              </a:rPr>
              <a:t>, </a:t>
            </a:r>
            <a:r>
              <a:rPr lang="en-US" sz="1200" dirty="0" err="1">
                <a:solidFill>
                  <a:srgbClr val="FFFF00"/>
                </a:solidFill>
                <a:latin typeface="Calibri" panose="020F0502020204030204" pitchFamily="34" charset="0"/>
                <a:ea typeface="Calibri" panose="020F0502020204030204" pitchFamily="34" charset="0"/>
                <a:cs typeface="Calibri" panose="020F0502020204030204" pitchFamily="34" charset="0"/>
              </a:rPr>
              <a:t>s.Delivery_Date</a:t>
            </a:r>
            <a:r>
              <a:rPr lang="en-US" sz="1200" dirty="0">
                <a:solidFill>
                  <a:srgbClr val="FFFF00"/>
                </a:solidFill>
                <a:latin typeface="Calibri" panose="020F0502020204030204" pitchFamily="34" charset="0"/>
                <a:ea typeface="Calibri" panose="020F0502020204030204" pitchFamily="34" charset="0"/>
                <a:cs typeface="Calibri" panose="020F0502020204030204" pitchFamily="34" charset="0"/>
              </a:rPr>
              <a:t>)</a:t>
            </a:r>
          </a:p>
          <a:p>
            <a:r>
              <a:rPr lang="en-US" sz="1200" dirty="0">
                <a:solidFill>
                  <a:srgbClr val="FFFF00"/>
                </a:solidFill>
                <a:latin typeface="Calibri" panose="020F0502020204030204" pitchFamily="34" charset="0"/>
                <a:ea typeface="Calibri" panose="020F0502020204030204" pitchFamily="34" charset="0"/>
                <a:cs typeface="Calibri" panose="020F0502020204030204" pitchFamily="34" charset="0"/>
              </a:rPr>
              <a:t>                     &gt; </a:t>
            </a:r>
            <a:r>
              <a:rPr lang="en-US" sz="1200" dirty="0" err="1">
                <a:solidFill>
                  <a:srgbClr val="FFFF00"/>
                </a:solidFill>
                <a:latin typeface="Calibri" panose="020F0502020204030204" pitchFamily="34" charset="0"/>
                <a:ea typeface="Calibri" panose="020F0502020204030204" pitchFamily="34" charset="0"/>
                <a:cs typeface="Calibri" panose="020F0502020204030204" pitchFamily="34" charset="0"/>
              </a:rPr>
              <a:t>r.Avg_Transit_Time_Hours</a:t>
            </a:r>
            <a:endParaRPr lang="en-US" sz="1200" dirty="0">
              <a:solidFill>
                <a:srgbClr val="FFFF00"/>
              </a:solidFill>
              <a:latin typeface="Calibri" panose="020F0502020204030204" pitchFamily="34" charset="0"/>
              <a:ea typeface="Calibri" panose="020F0502020204030204" pitchFamily="34" charset="0"/>
              <a:cs typeface="Calibri" panose="020F0502020204030204" pitchFamily="34" charset="0"/>
            </a:endParaRPr>
          </a:p>
          <a:p>
            <a:r>
              <a:rPr lang="en-US" sz="1200" dirty="0">
                <a:solidFill>
                  <a:srgbClr val="FFFF00"/>
                </a:solidFill>
                <a:latin typeface="Calibri" panose="020F0502020204030204" pitchFamily="34" charset="0"/>
                <a:ea typeface="Calibri" panose="020F0502020204030204" pitchFamily="34" charset="0"/>
                <a:cs typeface="Calibri" panose="020F0502020204030204" pitchFamily="34" charset="0"/>
              </a:rPr>
              <a:t>                THEN 1 ELSE 0</a:t>
            </a:r>
          </a:p>
          <a:p>
            <a:r>
              <a:rPr lang="en-US" sz="1200" dirty="0">
                <a:solidFill>
                  <a:srgbClr val="FFFF00"/>
                </a:solidFill>
                <a:latin typeface="Calibri" panose="020F0502020204030204" pitchFamily="34" charset="0"/>
                <a:ea typeface="Calibri" panose="020F0502020204030204" pitchFamily="34" charset="0"/>
                <a:cs typeface="Calibri" panose="020F0502020204030204" pitchFamily="34" charset="0"/>
              </a:rPr>
              <a:t>            END</a:t>
            </a:r>
          </a:p>
          <a:p>
            <a:r>
              <a:rPr lang="en-US" sz="1200" dirty="0">
                <a:solidFill>
                  <a:srgbClr val="FFFF00"/>
                </a:solidFill>
                <a:latin typeface="Calibri" panose="020F0502020204030204" pitchFamily="34" charset="0"/>
                <a:ea typeface="Calibri" panose="020F0502020204030204" pitchFamily="34" charset="0"/>
                <a:cs typeface="Calibri" panose="020F0502020204030204" pitchFamily="34" charset="0"/>
              </a:rPr>
              <a:t>        ) * 100.0 / COUNT(*)) AS </a:t>
            </a:r>
            <a:r>
              <a:rPr lang="en-US" sz="1200" dirty="0" err="1">
                <a:solidFill>
                  <a:srgbClr val="FFFF00"/>
                </a:solidFill>
                <a:latin typeface="Calibri" panose="020F0502020204030204" pitchFamily="34" charset="0"/>
                <a:ea typeface="Calibri" panose="020F0502020204030204" pitchFamily="34" charset="0"/>
                <a:cs typeface="Calibri" panose="020F0502020204030204" pitchFamily="34" charset="0"/>
              </a:rPr>
              <a:t>Delay_Percentage</a:t>
            </a:r>
            <a:endParaRPr lang="en-US" sz="1200" dirty="0">
              <a:solidFill>
                <a:srgbClr val="FFFF00"/>
              </a:solidFill>
              <a:latin typeface="Calibri" panose="020F0502020204030204" pitchFamily="34" charset="0"/>
              <a:ea typeface="Calibri" panose="020F0502020204030204" pitchFamily="34" charset="0"/>
              <a:cs typeface="Calibri" panose="020F0502020204030204" pitchFamily="34" charset="0"/>
            </a:endParaRPr>
          </a:p>
          <a:p>
            <a:r>
              <a:rPr lang="en-US" sz="1200" dirty="0">
                <a:solidFill>
                  <a:srgbClr val="FFFF00"/>
                </a:solidFill>
                <a:latin typeface="Calibri" panose="020F0502020204030204" pitchFamily="34" charset="0"/>
                <a:ea typeface="Calibri" panose="020F0502020204030204" pitchFamily="34" charset="0"/>
                <a:cs typeface="Calibri" panose="020F0502020204030204" pitchFamily="34" charset="0"/>
              </a:rPr>
              <a:t>    FROM Shipments s</a:t>
            </a:r>
          </a:p>
          <a:p>
            <a:r>
              <a:rPr lang="en-US" sz="1200" dirty="0">
                <a:solidFill>
                  <a:srgbClr val="FFFF00"/>
                </a:solidFill>
                <a:latin typeface="Calibri" panose="020F0502020204030204" pitchFamily="34" charset="0"/>
                <a:ea typeface="Calibri" panose="020F0502020204030204" pitchFamily="34" charset="0"/>
                <a:cs typeface="Calibri" panose="020F0502020204030204" pitchFamily="34" charset="0"/>
              </a:rPr>
              <a:t>    JOIN Routes r ON </a:t>
            </a:r>
            <a:r>
              <a:rPr lang="en-US" sz="1200" dirty="0" err="1">
                <a:solidFill>
                  <a:srgbClr val="FFFF00"/>
                </a:solidFill>
                <a:latin typeface="Calibri" panose="020F0502020204030204" pitchFamily="34" charset="0"/>
                <a:ea typeface="Calibri" panose="020F0502020204030204" pitchFamily="34" charset="0"/>
                <a:cs typeface="Calibri" panose="020F0502020204030204" pitchFamily="34" charset="0"/>
              </a:rPr>
              <a:t>s.Route_ID</a:t>
            </a:r>
            <a:r>
              <a:rPr lang="en-US" sz="1200" dirty="0">
                <a:solidFill>
                  <a:srgbClr val="FFFF00"/>
                </a:solidFill>
                <a:latin typeface="Calibri" panose="020F0502020204030204" pitchFamily="34" charset="0"/>
                <a:ea typeface="Calibri" panose="020F0502020204030204" pitchFamily="34" charset="0"/>
                <a:cs typeface="Calibri" panose="020F0502020204030204" pitchFamily="34" charset="0"/>
              </a:rPr>
              <a:t> = </a:t>
            </a:r>
            <a:r>
              <a:rPr lang="en-US" sz="1200" dirty="0" err="1">
                <a:solidFill>
                  <a:srgbClr val="FFFF00"/>
                </a:solidFill>
                <a:latin typeface="Calibri" panose="020F0502020204030204" pitchFamily="34" charset="0"/>
                <a:ea typeface="Calibri" panose="020F0502020204030204" pitchFamily="34" charset="0"/>
                <a:cs typeface="Calibri" panose="020F0502020204030204" pitchFamily="34" charset="0"/>
              </a:rPr>
              <a:t>r.Route_ID</a:t>
            </a:r>
            <a:endParaRPr lang="en-US" sz="1200" dirty="0">
              <a:solidFill>
                <a:srgbClr val="FFFF00"/>
              </a:solidFill>
              <a:latin typeface="Calibri" panose="020F0502020204030204" pitchFamily="34" charset="0"/>
              <a:ea typeface="Calibri" panose="020F0502020204030204" pitchFamily="34" charset="0"/>
              <a:cs typeface="Calibri" panose="020F0502020204030204" pitchFamily="34" charset="0"/>
            </a:endParaRPr>
          </a:p>
          <a:p>
            <a:r>
              <a:rPr lang="en-US" sz="1200" dirty="0">
                <a:solidFill>
                  <a:srgbClr val="FFFF00"/>
                </a:solidFill>
                <a:latin typeface="Calibri" panose="020F0502020204030204" pitchFamily="34" charset="0"/>
                <a:ea typeface="Calibri" panose="020F0502020204030204" pitchFamily="34" charset="0"/>
                <a:cs typeface="Calibri" panose="020F0502020204030204" pitchFamily="34" charset="0"/>
              </a:rPr>
              <a:t>    GROUP BY </a:t>
            </a:r>
            <a:r>
              <a:rPr lang="en-US" sz="1200" dirty="0" err="1">
                <a:solidFill>
                  <a:srgbClr val="FFFF00"/>
                </a:solidFill>
                <a:latin typeface="Calibri" panose="020F0502020204030204" pitchFamily="34" charset="0"/>
                <a:ea typeface="Calibri" panose="020F0502020204030204" pitchFamily="34" charset="0"/>
                <a:cs typeface="Calibri" panose="020F0502020204030204" pitchFamily="34" charset="0"/>
              </a:rPr>
              <a:t>s.Route_ID</a:t>
            </a:r>
            <a:r>
              <a:rPr lang="en-US" sz="1200" dirty="0">
                <a:solidFill>
                  <a:srgbClr val="FFFF00"/>
                </a:solidFill>
                <a:latin typeface="Calibri" panose="020F0502020204030204" pitchFamily="34" charset="0"/>
                <a:ea typeface="Calibri" panose="020F0502020204030204" pitchFamily="34" charset="0"/>
                <a:cs typeface="Calibri" panose="020F0502020204030204" pitchFamily="34" charset="0"/>
              </a:rPr>
              <a:t>)</a:t>
            </a:r>
          </a:p>
          <a:p>
            <a:r>
              <a:rPr lang="en-US" sz="1200" dirty="0">
                <a:solidFill>
                  <a:srgbClr val="FFFF00"/>
                </a:solidFill>
                <a:latin typeface="Calibri" panose="020F0502020204030204" pitchFamily="34" charset="0"/>
                <a:ea typeface="Calibri" panose="020F0502020204030204" pitchFamily="34" charset="0"/>
                <a:cs typeface="Calibri" panose="020F0502020204030204" pitchFamily="34" charset="0"/>
              </a:rPr>
              <a:t>SELECT *</a:t>
            </a:r>
          </a:p>
          <a:p>
            <a:r>
              <a:rPr lang="en-US" sz="1200" dirty="0">
                <a:solidFill>
                  <a:srgbClr val="FFFF00"/>
                </a:solidFill>
                <a:latin typeface="Calibri" panose="020F0502020204030204" pitchFamily="34" charset="0"/>
                <a:ea typeface="Calibri" panose="020F0502020204030204" pitchFamily="34" charset="0"/>
                <a:cs typeface="Calibri" panose="020F0502020204030204" pitchFamily="34" charset="0"/>
              </a:rPr>
              <a:t>FROM </a:t>
            </a:r>
            <a:r>
              <a:rPr lang="en-US" sz="1200" dirty="0" err="1">
                <a:solidFill>
                  <a:srgbClr val="FFFF00"/>
                </a:solidFill>
                <a:latin typeface="Calibri" panose="020F0502020204030204" pitchFamily="34" charset="0"/>
                <a:ea typeface="Calibri" panose="020F0502020204030204" pitchFamily="34" charset="0"/>
                <a:cs typeface="Calibri" panose="020F0502020204030204" pitchFamily="34" charset="0"/>
              </a:rPr>
              <a:t>Route_Delay</a:t>
            </a:r>
            <a:endParaRPr lang="en-US" sz="1200" dirty="0">
              <a:solidFill>
                <a:srgbClr val="FFFF00"/>
              </a:solidFill>
              <a:latin typeface="Calibri" panose="020F0502020204030204" pitchFamily="34" charset="0"/>
              <a:ea typeface="Calibri" panose="020F0502020204030204" pitchFamily="34" charset="0"/>
              <a:cs typeface="Calibri" panose="020F0502020204030204" pitchFamily="34" charset="0"/>
            </a:endParaRPr>
          </a:p>
          <a:p>
            <a:r>
              <a:rPr lang="en-US" sz="1200" dirty="0">
                <a:solidFill>
                  <a:srgbClr val="FFFF00"/>
                </a:solidFill>
                <a:latin typeface="Calibri" panose="020F0502020204030204" pitchFamily="34" charset="0"/>
                <a:ea typeface="Calibri" panose="020F0502020204030204" pitchFamily="34" charset="0"/>
                <a:cs typeface="Calibri" panose="020F0502020204030204" pitchFamily="34" charset="0"/>
              </a:rPr>
              <a:t>WHERE </a:t>
            </a:r>
            <a:r>
              <a:rPr lang="en-US" sz="1200" dirty="0" err="1">
                <a:solidFill>
                  <a:srgbClr val="FFFF00"/>
                </a:solidFill>
                <a:latin typeface="Calibri" panose="020F0502020204030204" pitchFamily="34" charset="0"/>
                <a:ea typeface="Calibri" panose="020F0502020204030204" pitchFamily="34" charset="0"/>
                <a:cs typeface="Calibri" panose="020F0502020204030204" pitchFamily="34" charset="0"/>
              </a:rPr>
              <a:t>Delay_Percentage</a:t>
            </a:r>
            <a:r>
              <a:rPr lang="en-US" sz="1200" dirty="0">
                <a:solidFill>
                  <a:srgbClr val="FFFF00"/>
                </a:solidFill>
                <a:latin typeface="Calibri" panose="020F0502020204030204" pitchFamily="34" charset="0"/>
                <a:ea typeface="Calibri" panose="020F0502020204030204" pitchFamily="34" charset="0"/>
                <a:cs typeface="Calibri" panose="020F0502020204030204" pitchFamily="34" charset="0"/>
              </a:rPr>
              <a:t> &gt; 20</a:t>
            </a:r>
          </a:p>
          <a:p>
            <a:r>
              <a:rPr lang="en-US" sz="1200" dirty="0">
                <a:solidFill>
                  <a:srgbClr val="FFFF00"/>
                </a:solidFill>
                <a:latin typeface="Calibri" panose="020F0502020204030204" pitchFamily="34" charset="0"/>
                <a:ea typeface="Calibri" panose="020F0502020204030204" pitchFamily="34" charset="0"/>
                <a:cs typeface="Calibri" panose="020F0502020204030204" pitchFamily="34" charset="0"/>
              </a:rPr>
              <a:t>ORDER BY </a:t>
            </a:r>
            <a:r>
              <a:rPr lang="en-US" sz="1200" dirty="0" err="1">
                <a:solidFill>
                  <a:srgbClr val="FFFF00"/>
                </a:solidFill>
                <a:latin typeface="Calibri" panose="020F0502020204030204" pitchFamily="34" charset="0"/>
                <a:ea typeface="Calibri" panose="020F0502020204030204" pitchFamily="34" charset="0"/>
                <a:cs typeface="Calibri" panose="020F0502020204030204" pitchFamily="34" charset="0"/>
              </a:rPr>
              <a:t>Route_ID</a:t>
            </a:r>
            <a:r>
              <a:rPr lang="en-US" sz="1200" dirty="0">
                <a:solidFill>
                  <a:srgbClr val="FFFF00"/>
                </a:solidFill>
                <a:latin typeface="Calibri" panose="020F0502020204030204" pitchFamily="34" charset="0"/>
                <a:ea typeface="Calibri" panose="020F0502020204030204" pitchFamily="34" charset="0"/>
                <a:cs typeface="Calibri" panose="020F0502020204030204" pitchFamily="34" charset="0"/>
              </a:rPr>
              <a:t> DESC;</a:t>
            </a:r>
          </a:p>
          <a:p>
            <a:endParaRPr lang="en-US" sz="1200" dirty="0">
              <a:latin typeface="Calibri" panose="020F0502020204030204" pitchFamily="34" charset="0"/>
              <a:ea typeface="Calibri" panose="020F0502020204030204" pitchFamily="34" charset="0"/>
              <a:cs typeface="Calibri" panose="020F0502020204030204" pitchFamily="34" charset="0"/>
            </a:endParaRPr>
          </a:p>
          <a:p>
            <a:endParaRPr lang="en-US" sz="1200" dirty="0">
              <a:latin typeface="Calibri" panose="020F0502020204030204" pitchFamily="34" charset="0"/>
              <a:ea typeface="Calibri" panose="020F0502020204030204" pitchFamily="34" charset="0"/>
              <a:cs typeface="Calibri" panose="020F0502020204030204" pitchFamily="34" charset="0"/>
            </a:endParaRPr>
          </a:p>
          <a:p>
            <a:endParaRPr lang="en-US" sz="1200" dirty="0">
              <a:latin typeface="Calibri" panose="020F0502020204030204" pitchFamily="34" charset="0"/>
              <a:ea typeface="Calibri" panose="020F0502020204030204" pitchFamily="34" charset="0"/>
              <a:cs typeface="Calibri" panose="020F0502020204030204" pitchFamily="34" charset="0"/>
            </a:endParaRPr>
          </a:p>
          <a:p>
            <a:endParaRPr lang="en-US" sz="1200" dirty="0">
              <a:latin typeface="Calibri" panose="020F0502020204030204" pitchFamily="34" charset="0"/>
              <a:ea typeface="Calibri" panose="020F0502020204030204" pitchFamily="34" charset="0"/>
              <a:cs typeface="Calibri" panose="020F0502020204030204" pitchFamily="34" charset="0"/>
            </a:endParaRPr>
          </a:p>
        </p:txBody>
      </p:sp>
      <p:pic>
        <p:nvPicPr>
          <p:cNvPr id="5" name="Picture 4">
            <a:extLst>
              <a:ext uri="{FF2B5EF4-FFF2-40B4-BE49-F238E27FC236}">
                <a16:creationId xmlns:a16="http://schemas.microsoft.com/office/drawing/2014/main" id="{6827841D-027E-4E65-9E58-694948AE7077}"/>
              </a:ext>
            </a:extLst>
          </p:cNvPr>
          <p:cNvPicPr>
            <a:picLocks noChangeAspect="1"/>
          </p:cNvPicPr>
          <p:nvPr/>
        </p:nvPicPr>
        <p:blipFill>
          <a:blip r:embed="rId2"/>
          <a:stretch>
            <a:fillRect/>
          </a:stretch>
        </p:blipFill>
        <p:spPr>
          <a:xfrm>
            <a:off x="5009887" y="728470"/>
            <a:ext cx="3772426" cy="2753109"/>
          </a:xfrm>
          <a:prstGeom prst="rect">
            <a:avLst/>
          </a:prstGeom>
        </p:spPr>
      </p:pic>
      <p:sp>
        <p:nvSpPr>
          <p:cNvPr id="6" name="TextBox 5">
            <a:extLst>
              <a:ext uri="{FF2B5EF4-FFF2-40B4-BE49-F238E27FC236}">
                <a16:creationId xmlns:a16="http://schemas.microsoft.com/office/drawing/2014/main" id="{B89A89D6-6F53-4E53-A291-4A06C53FAD2B}"/>
              </a:ext>
            </a:extLst>
          </p:cNvPr>
          <p:cNvSpPr txBox="1"/>
          <p:nvPr/>
        </p:nvSpPr>
        <p:spPr>
          <a:xfrm>
            <a:off x="4338374" y="3614811"/>
            <a:ext cx="4629150" cy="1415772"/>
          </a:xfrm>
          <a:prstGeom prst="rect">
            <a:avLst/>
          </a:prstGeom>
          <a:noFill/>
        </p:spPr>
        <p:txBody>
          <a:bodyPr wrap="square" rtlCol="0">
            <a:spAutoFit/>
          </a:bodyPr>
          <a:lstStyle/>
          <a:p>
            <a:r>
              <a:rPr lang="en-US" sz="1200" b="1" u="sng" dirty="0">
                <a:solidFill>
                  <a:schemeClr val="bg1"/>
                </a:solidFill>
                <a:latin typeface="Calibri" panose="020F0502020204030204" pitchFamily="34" charset="0"/>
                <a:ea typeface="Calibri" panose="020F0502020204030204" pitchFamily="34" charset="0"/>
                <a:cs typeface="Calibri" panose="020F0502020204030204" pitchFamily="34" charset="0"/>
              </a:rPr>
              <a:t>What was calculated:</a:t>
            </a:r>
            <a:br>
              <a:rPr lang="en-US" sz="1200" dirty="0">
                <a:solidFill>
                  <a:schemeClr val="bg1"/>
                </a:solidFill>
                <a:latin typeface="Calibri" panose="020F0502020204030204" pitchFamily="34" charset="0"/>
                <a:ea typeface="Calibri" panose="020F0502020204030204" pitchFamily="34" charset="0"/>
                <a:cs typeface="Calibri" panose="020F0502020204030204" pitchFamily="34" charset="0"/>
              </a:rPr>
            </a:br>
            <a:r>
              <a:rPr lang="en-US" sz="1200" dirty="0">
                <a:solidFill>
                  <a:schemeClr val="bg1"/>
                </a:solidFill>
                <a:latin typeface="Calibri" panose="020F0502020204030204" pitchFamily="34" charset="0"/>
                <a:ea typeface="Calibri" panose="020F0502020204030204" pitchFamily="34" charset="0"/>
                <a:cs typeface="Calibri" panose="020F0502020204030204" pitchFamily="34" charset="0"/>
              </a:rPr>
              <a:t>The percentage of delayed shipments for each route.</a:t>
            </a:r>
          </a:p>
          <a:p>
            <a:endParaRPr lang="en-US" sz="1200"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r>
              <a:rPr lang="en-US" sz="1200" b="1" u="sng" dirty="0">
                <a:solidFill>
                  <a:schemeClr val="bg1"/>
                </a:solidFill>
                <a:latin typeface="Calibri" panose="020F0502020204030204" pitchFamily="34" charset="0"/>
                <a:ea typeface="Calibri" panose="020F0502020204030204" pitchFamily="34" charset="0"/>
                <a:cs typeface="Calibri" panose="020F0502020204030204" pitchFamily="34" charset="0"/>
              </a:rPr>
              <a:t>What we got:</a:t>
            </a:r>
            <a:br>
              <a:rPr lang="en-US" sz="1200" dirty="0">
                <a:solidFill>
                  <a:schemeClr val="bg1"/>
                </a:solidFill>
                <a:latin typeface="Calibri" panose="020F0502020204030204" pitchFamily="34" charset="0"/>
                <a:ea typeface="Calibri" panose="020F0502020204030204" pitchFamily="34" charset="0"/>
                <a:cs typeface="Calibri" panose="020F0502020204030204" pitchFamily="34" charset="0"/>
              </a:rPr>
            </a:br>
            <a:r>
              <a:rPr lang="en-US" sz="1200" dirty="0">
                <a:solidFill>
                  <a:schemeClr val="bg1"/>
                </a:solidFill>
                <a:latin typeface="Calibri" panose="020F0502020204030204" pitchFamily="34" charset="0"/>
                <a:ea typeface="Calibri" panose="020F0502020204030204" pitchFamily="34" charset="0"/>
                <a:cs typeface="Calibri" panose="020F0502020204030204" pitchFamily="34" charset="0"/>
              </a:rPr>
              <a:t>Routes where more than 20% of shipments were delayed were flagged, highlighting routes that require immediate operational review.</a:t>
            </a:r>
          </a:p>
          <a:p>
            <a:endParaRPr lang="en-US" dirty="0"/>
          </a:p>
        </p:txBody>
      </p:sp>
    </p:spTree>
    <p:extLst>
      <p:ext uri="{BB962C8B-B14F-4D97-AF65-F5344CB8AC3E}">
        <p14:creationId xmlns:p14="http://schemas.microsoft.com/office/powerpoint/2010/main" val="11859248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79C1228-E7A2-4F8A-BC1E-B57696F05568}"/>
              </a:ext>
            </a:extLst>
          </p:cNvPr>
          <p:cNvSpPr txBox="1"/>
          <p:nvPr/>
        </p:nvSpPr>
        <p:spPr>
          <a:xfrm>
            <a:off x="61912" y="5709"/>
            <a:ext cx="8772525" cy="1415772"/>
          </a:xfrm>
          <a:prstGeom prst="rect">
            <a:avLst/>
          </a:prstGeom>
          <a:noFill/>
        </p:spPr>
        <p:txBody>
          <a:bodyPr wrap="square" rtlCol="0">
            <a:spAutoFit/>
          </a:bodyPr>
          <a:lstStyle/>
          <a:p>
            <a:endParaRPr lang="en-US" sz="1200"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b="1" dirty="0">
                <a:solidFill>
                  <a:schemeClr val="bg1"/>
                </a:solidFill>
                <a:latin typeface="Calibri" panose="020F0502020204030204" pitchFamily="34" charset="0"/>
                <a:ea typeface="Calibri" panose="020F0502020204030204" pitchFamily="34" charset="0"/>
                <a:cs typeface="Calibri" panose="020F0502020204030204" pitchFamily="34" charset="0"/>
              </a:rPr>
              <a:t>Recommend potential routes or hub pairs for optimization.  </a:t>
            </a:r>
          </a:p>
          <a:p>
            <a:endParaRPr lang="en-US" sz="1200" dirty="0">
              <a:latin typeface="Calibri" panose="020F0502020204030204" pitchFamily="34" charset="0"/>
              <a:ea typeface="Calibri" panose="020F0502020204030204" pitchFamily="34" charset="0"/>
              <a:cs typeface="Calibri" panose="020F0502020204030204" pitchFamily="34" charset="0"/>
            </a:endParaRPr>
          </a:p>
          <a:p>
            <a:endParaRPr lang="en-US" sz="1200" dirty="0">
              <a:latin typeface="Calibri" panose="020F0502020204030204" pitchFamily="34" charset="0"/>
              <a:ea typeface="Calibri" panose="020F0502020204030204" pitchFamily="34" charset="0"/>
              <a:cs typeface="Calibri" panose="020F0502020204030204" pitchFamily="34" charset="0"/>
            </a:endParaRPr>
          </a:p>
          <a:p>
            <a:endParaRPr lang="en-US" sz="1200" dirty="0">
              <a:latin typeface="Calibri" panose="020F0502020204030204" pitchFamily="34" charset="0"/>
              <a:ea typeface="Calibri" panose="020F0502020204030204" pitchFamily="34" charset="0"/>
              <a:cs typeface="Calibri" panose="020F0502020204030204" pitchFamily="34" charset="0"/>
            </a:endParaRPr>
          </a:p>
          <a:p>
            <a:endParaRPr lang="en-US" sz="1200" dirty="0">
              <a:latin typeface="Calibri" panose="020F0502020204030204" pitchFamily="34" charset="0"/>
              <a:ea typeface="Calibri" panose="020F0502020204030204" pitchFamily="34" charset="0"/>
              <a:cs typeface="Calibri" panose="020F0502020204030204" pitchFamily="34" charset="0"/>
            </a:endParaRPr>
          </a:p>
          <a:p>
            <a:endParaRPr lang="en-US" sz="1200" dirty="0">
              <a:latin typeface="Calibri" panose="020F0502020204030204" pitchFamily="34" charset="0"/>
              <a:ea typeface="Calibri" panose="020F0502020204030204" pitchFamily="34" charset="0"/>
              <a:cs typeface="Calibri" panose="020F0502020204030204" pitchFamily="34" charset="0"/>
            </a:endParaRPr>
          </a:p>
        </p:txBody>
      </p:sp>
      <p:sp>
        <p:nvSpPr>
          <p:cNvPr id="13" name="Rectangle 9">
            <a:extLst>
              <a:ext uri="{FF2B5EF4-FFF2-40B4-BE49-F238E27FC236}">
                <a16:creationId xmlns:a16="http://schemas.microsoft.com/office/drawing/2014/main" id="{3EAD0084-1EE8-4CEA-940B-21412FF43090}"/>
              </a:ext>
            </a:extLst>
          </p:cNvPr>
          <p:cNvSpPr>
            <a:spLocks noChangeArrowheads="1"/>
          </p:cNvSpPr>
          <p:nvPr/>
        </p:nvSpPr>
        <p:spPr bwMode="auto">
          <a:xfrm>
            <a:off x="223838" y="520106"/>
            <a:ext cx="8772525"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sng" strike="noStrike" cap="none" normalizeH="0" baseline="0" dirty="0">
                <a:ln>
                  <a:noFill/>
                </a:ln>
                <a:solidFill>
                  <a:schemeClr val="tx2"/>
                </a:solidFill>
                <a:effectLst/>
                <a:latin typeface="Calibri" panose="020F0502020204030204" pitchFamily="34" charset="0"/>
                <a:ea typeface="Calibri" panose="020F0502020204030204" pitchFamily="34" charset="0"/>
                <a:cs typeface="Calibri" panose="020F0502020204030204" pitchFamily="34" charset="0"/>
              </a:rPr>
              <a:t>Recommendation 1:  </a:t>
            </a:r>
            <a:r>
              <a:rPr kumimoji="0" lang="en-US" altLang="en-US" sz="1200" b="1" i="0" u="none" strike="noStrike" cap="none" normalizeH="0" baseline="0" dirty="0">
                <a:ln>
                  <a:noFill/>
                </a:ln>
                <a:solidFill>
                  <a:srgbClr val="FFFF00"/>
                </a:solidFill>
                <a:effectLst/>
                <a:latin typeface="Calibri" panose="020F0502020204030204" pitchFamily="34" charset="0"/>
                <a:ea typeface="Calibri" panose="020F0502020204030204" pitchFamily="34" charset="0"/>
                <a:cs typeface="Calibri" panose="020F0502020204030204" pitchFamily="34" charset="0"/>
              </a:rPr>
              <a:t>Adjust Distances Between Destinations with High Rates of Delay</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rgbClr val="FFFF00"/>
                </a:solidFill>
                <a:effectLst/>
                <a:latin typeface="Calibri" panose="020F0502020204030204" pitchFamily="34" charset="0"/>
                <a:ea typeface="Calibri" panose="020F0502020204030204" pitchFamily="34" charset="0"/>
                <a:cs typeface="Calibri" panose="020F0502020204030204" pitchFamily="34" charset="0"/>
              </a:rPr>
              <a:t>If more than 20% of your shipments are arriving later than expected due to high delays, this suggests that the warehouses serving both destinations may have reached maximum capacity or are using inefficiently connected hub/warehouses. To reduce the delays associated with these types of routes, you can transfer shipment volumes from congested or lack of warehouse spaces to other nearby warehouses (that currently have unutilized warehouse capacity).</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1" i="0" u="none" strike="noStrike" cap="none" normalizeH="0" baseline="0" dirty="0">
              <a:ln>
                <a:noFill/>
              </a:ln>
              <a:solidFill>
                <a:srgbClr val="FFFF00"/>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sng" strike="noStrike" cap="none" normalizeH="0" baseline="0" dirty="0">
                <a:ln>
                  <a:noFill/>
                </a:ln>
                <a:solidFill>
                  <a:schemeClr val="tx2"/>
                </a:solidFill>
                <a:effectLst/>
                <a:latin typeface="Calibri" panose="020F0502020204030204" pitchFamily="34" charset="0"/>
                <a:ea typeface="Calibri" panose="020F0502020204030204" pitchFamily="34" charset="0"/>
                <a:cs typeface="Calibri" panose="020F0502020204030204" pitchFamily="34" charset="0"/>
              </a:rPr>
              <a:t>Recommendation 2:</a:t>
            </a:r>
            <a:r>
              <a:rPr kumimoji="0" lang="en-US" altLang="en-US" b="1" i="0" u="sng" strike="noStrike" cap="none" normalizeH="0" baseline="0" dirty="0">
                <a:ln>
                  <a:noFill/>
                </a:ln>
                <a:solidFill>
                  <a:srgbClr val="FFFF00"/>
                </a:solidFill>
                <a:effectLst/>
                <a:latin typeface="Calibri" panose="020F0502020204030204" pitchFamily="34" charset="0"/>
                <a:ea typeface="Calibri" panose="020F0502020204030204" pitchFamily="34" charset="0"/>
                <a:cs typeface="Calibri" panose="020F0502020204030204" pitchFamily="34" charset="0"/>
              </a:rPr>
              <a:t> </a:t>
            </a:r>
            <a:r>
              <a:rPr kumimoji="0" lang="en-US" altLang="en-US" sz="1200" b="1" i="0" u="none" strike="noStrike" cap="none" normalizeH="0" baseline="0" dirty="0">
                <a:ln>
                  <a:noFill/>
                </a:ln>
                <a:solidFill>
                  <a:srgbClr val="FFFF00"/>
                </a:solidFill>
                <a:effectLst/>
                <a:latin typeface="Calibri" panose="020F0502020204030204" pitchFamily="34" charset="0"/>
                <a:ea typeface="Calibri" panose="020F0502020204030204" pitchFamily="34" charset="0"/>
                <a:cs typeface="Calibri" panose="020F0502020204030204" pitchFamily="34" charset="0"/>
              </a:rPr>
              <a:t>Improve Delivery Performance of High Volume/High Delay Route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rgbClr val="FFFF00"/>
                </a:solidFill>
                <a:effectLst/>
                <a:latin typeface="Calibri" panose="020F0502020204030204" pitchFamily="34" charset="0"/>
                <a:ea typeface="Calibri" panose="020F0502020204030204" pitchFamily="34" charset="0"/>
                <a:cs typeface="Calibri" panose="020F0502020204030204" pitchFamily="34" charset="0"/>
              </a:rPr>
              <a:t>If two routes both have a high volume of shipments as well as a high rate of delays, analysis should be conducted to determine if you can expand the operation by either adding more delivery agents, increasing the processing abilities of the warehouse, or adding additional intermediate hubs to eliminate congestion (i.e., bottlenecks).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800" b="1" i="0" u="none" strike="noStrike" cap="none" normalizeH="0" baseline="0" dirty="0">
              <a:ln>
                <a:noFill/>
              </a:ln>
              <a:solidFill>
                <a:srgbClr val="FFFF00"/>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en-US" b="1" u="sng" dirty="0">
                <a:solidFill>
                  <a:schemeClr val="tx2"/>
                </a:solidFill>
                <a:latin typeface="Calibri" panose="020F0502020204030204" pitchFamily="34" charset="0"/>
                <a:ea typeface="Calibri" panose="020F0502020204030204" pitchFamily="34" charset="0"/>
                <a:cs typeface="Calibri" panose="020F0502020204030204" pitchFamily="34" charset="0"/>
              </a:rPr>
              <a:t>R</a:t>
            </a:r>
            <a:r>
              <a:rPr kumimoji="0" lang="en-US" altLang="en-US" b="1" i="0" u="sng" strike="noStrike" cap="none" normalizeH="0" baseline="0" dirty="0">
                <a:ln>
                  <a:noFill/>
                </a:ln>
                <a:solidFill>
                  <a:schemeClr val="tx2"/>
                </a:solidFill>
                <a:effectLst/>
                <a:latin typeface="Calibri" panose="020F0502020204030204" pitchFamily="34" charset="0"/>
                <a:ea typeface="Calibri" panose="020F0502020204030204" pitchFamily="34" charset="0"/>
                <a:cs typeface="Calibri" panose="020F0502020204030204" pitchFamily="34" charset="0"/>
              </a:rPr>
              <a:t>ecommendation 3:</a:t>
            </a:r>
            <a:r>
              <a:rPr kumimoji="0" lang="en-US" altLang="en-US" b="1" i="0" u="sng" strike="noStrike" cap="none" normalizeH="0" baseline="0" dirty="0">
                <a:ln>
                  <a:noFill/>
                </a:ln>
                <a:solidFill>
                  <a:srgbClr val="FFFF00"/>
                </a:solidFill>
                <a:effectLst/>
                <a:latin typeface="Calibri" panose="020F0502020204030204" pitchFamily="34" charset="0"/>
                <a:ea typeface="Calibri" panose="020F0502020204030204" pitchFamily="34" charset="0"/>
                <a:cs typeface="Calibri" panose="020F0502020204030204" pitchFamily="34" charset="0"/>
              </a:rPr>
              <a:t> </a:t>
            </a:r>
            <a:r>
              <a:rPr kumimoji="0" lang="en-US" altLang="en-US" sz="1200" b="1" i="0" u="none" strike="noStrike" cap="none" normalizeH="0" baseline="0" dirty="0">
                <a:ln>
                  <a:noFill/>
                </a:ln>
                <a:solidFill>
                  <a:srgbClr val="FFFF00"/>
                </a:solidFill>
                <a:effectLst/>
                <a:latin typeface="Calibri" panose="020F0502020204030204" pitchFamily="34" charset="0"/>
                <a:ea typeface="Calibri" panose="020F0502020204030204" pitchFamily="34" charset="0"/>
                <a:cs typeface="Calibri" panose="020F0502020204030204" pitchFamily="34" charset="0"/>
              </a:rPr>
              <a:t>Align Expected Transit Times with Actual Transit Time. When routes consistently take longer than expected, historical shipment data needs to be used to recalculate Average Planned Transit Times so that customers have a realistic SLA and experience higher levels of satisfaction.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1" i="0" u="none" strike="noStrike" cap="none" normalizeH="0" baseline="0" dirty="0">
              <a:ln>
                <a:noFill/>
              </a:ln>
              <a:solidFill>
                <a:srgbClr val="FFFF00"/>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en-US" b="1" u="sng" dirty="0">
                <a:solidFill>
                  <a:schemeClr val="tx2"/>
                </a:solidFill>
                <a:latin typeface="Calibri" panose="020F0502020204030204" pitchFamily="34" charset="0"/>
                <a:ea typeface="Calibri" panose="020F0502020204030204" pitchFamily="34" charset="0"/>
                <a:cs typeface="Calibri" panose="020F0502020204030204" pitchFamily="34" charset="0"/>
              </a:rPr>
              <a:t>R</a:t>
            </a:r>
            <a:r>
              <a:rPr kumimoji="0" lang="en-US" altLang="en-US" b="1" i="0" u="sng" strike="noStrike" cap="none" normalizeH="0" baseline="0" dirty="0">
                <a:ln>
                  <a:noFill/>
                </a:ln>
                <a:solidFill>
                  <a:schemeClr val="tx2"/>
                </a:solidFill>
                <a:effectLst/>
                <a:latin typeface="Calibri" panose="020F0502020204030204" pitchFamily="34" charset="0"/>
                <a:ea typeface="Calibri" panose="020F0502020204030204" pitchFamily="34" charset="0"/>
                <a:cs typeface="Calibri" panose="020F0502020204030204" pitchFamily="34" charset="0"/>
              </a:rPr>
              <a:t>ecommendation </a:t>
            </a:r>
            <a:r>
              <a:rPr lang="en-US" altLang="en-US" b="1" u="sng" dirty="0">
                <a:solidFill>
                  <a:schemeClr val="tx2"/>
                </a:solidFill>
                <a:latin typeface="Calibri" panose="020F0502020204030204" pitchFamily="34" charset="0"/>
                <a:ea typeface="Calibri" panose="020F0502020204030204" pitchFamily="34" charset="0"/>
                <a:cs typeface="Calibri" panose="020F0502020204030204" pitchFamily="34" charset="0"/>
              </a:rPr>
              <a:t>4:</a:t>
            </a:r>
            <a:r>
              <a:rPr kumimoji="0" lang="en-US" altLang="en-US" b="1" i="0" u="sng" strike="noStrike" cap="none" normalizeH="0" baseline="0" dirty="0">
                <a:ln>
                  <a:noFill/>
                </a:ln>
                <a:solidFill>
                  <a:schemeClr val="tx2"/>
                </a:solidFill>
                <a:effectLst/>
                <a:latin typeface="Calibri" panose="020F0502020204030204" pitchFamily="34" charset="0"/>
                <a:ea typeface="Calibri" panose="020F0502020204030204" pitchFamily="34" charset="0"/>
                <a:cs typeface="Calibri" panose="020F0502020204030204" pitchFamily="34" charset="0"/>
              </a:rPr>
              <a:t> </a:t>
            </a:r>
            <a:r>
              <a:rPr kumimoji="0" lang="en-US" altLang="en-US" sz="1200" b="1" i="0" u="none" strike="noStrike" cap="none" normalizeH="0" baseline="0" dirty="0">
                <a:ln>
                  <a:noFill/>
                </a:ln>
                <a:solidFill>
                  <a:srgbClr val="FFFF00"/>
                </a:solidFill>
                <a:effectLst/>
                <a:latin typeface="Calibri" panose="020F0502020204030204" pitchFamily="34" charset="0"/>
                <a:ea typeface="Calibri" panose="020F0502020204030204" pitchFamily="34" charset="0"/>
                <a:cs typeface="Calibri" panose="020F0502020204030204" pitchFamily="34" charset="0"/>
              </a:rPr>
              <a:t>Optimize Low Efficiency Routes. These routes take the longest amount of time for the shortest distance traveled and should be optimized first. A low efficiency route is an indication that the speed at which a shipment is moving through the network is slower than it could be relative to the distance it has traveled. If congestion, poor scheduling, or poor hub selection is the cause of the low efficiency route, rerouting shipments through a different hub and changing dispatch scheduling can lead to a significant improvement in speed when running transit</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200" b="1" dirty="0">
              <a:solidFill>
                <a:srgbClr val="FFFF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sng" strike="noStrike" cap="none" normalizeH="0" baseline="0" dirty="0">
                <a:ln>
                  <a:noFill/>
                </a:ln>
                <a:solidFill>
                  <a:schemeClr val="tx2"/>
                </a:solidFill>
                <a:effectLst/>
                <a:latin typeface="Calibri" panose="020F0502020204030204" pitchFamily="34" charset="0"/>
                <a:ea typeface="Calibri" panose="020F0502020204030204" pitchFamily="34" charset="0"/>
                <a:cs typeface="Calibri" panose="020F0502020204030204" pitchFamily="34" charset="0"/>
              </a:rPr>
              <a:t>CONCLUSION :</a:t>
            </a:r>
            <a:r>
              <a:rPr kumimoji="0" lang="en-US" altLang="en-US" b="1" i="0" u="sng" strike="noStrike" cap="none" normalizeH="0" baseline="0" dirty="0">
                <a:ln>
                  <a:noFill/>
                </a:ln>
                <a:solidFill>
                  <a:srgbClr val="FFFF00"/>
                </a:solidFill>
                <a:effectLst/>
                <a:latin typeface="Calibri" panose="020F0502020204030204" pitchFamily="34" charset="0"/>
                <a:ea typeface="Calibri" panose="020F0502020204030204" pitchFamily="34" charset="0"/>
                <a:cs typeface="Calibri" panose="020F0502020204030204" pitchFamily="34" charset="0"/>
              </a:rPr>
              <a:t> </a:t>
            </a:r>
            <a:r>
              <a:rPr kumimoji="0" lang="en-US" altLang="en-US" sz="1200" b="1" i="0" u="none" strike="noStrike" cap="none" normalizeH="0" baseline="0" dirty="0">
                <a:ln>
                  <a:noFill/>
                </a:ln>
                <a:solidFill>
                  <a:srgbClr val="FFFF00"/>
                </a:solidFill>
                <a:effectLst/>
                <a:latin typeface="Calibri" panose="020F0502020204030204" pitchFamily="34" charset="0"/>
                <a:ea typeface="Calibri" panose="020F0502020204030204" pitchFamily="34" charset="0"/>
                <a:cs typeface="Calibri" panose="020F0502020204030204" pitchFamily="34" charset="0"/>
              </a:rPr>
              <a:t>By optimizing routes with low efficiency ratios and a high percentage of delays, FedEx can maximize its Hub </a:t>
            </a:r>
            <a:r>
              <a:rPr kumimoji="0" lang="en-US" altLang="en-US" sz="1200" b="1" i="0" u="none" strike="noStrike" cap="none" normalizeH="0" baseline="0" dirty="0" err="1">
                <a:ln>
                  <a:noFill/>
                </a:ln>
                <a:solidFill>
                  <a:srgbClr val="FFFF00"/>
                </a:solidFill>
                <a:effectLst/>
                <a:latin typeface="Calibri" panose="020F0502020204030204" pitchFamily="34" charset="0"/>
                <a:ea typeface="Calibri" panose="020F0502020204030204" pitchFamily="34" charset="0"/>
                <a:cs typeface="Calibri" panose="020F0502020204030204" pitchFamily="34" charset="0"/>
              </a:rPr>
              <a:t>Utilisation</a:t>
            </a:r>
            <a:r>
              <a:rPr kumimoji="0" lang="en-US" altLang="en-US" sz="1200" b="1" i="0" u="none" strike="noStrike" cap="none" normalizeH="0" baseline="0" dirty="0">
                <a:ln>
                  <a:noFill/>
                </a:ln>
                <a:solidFill>
                  <a:srgbClr val="FFFF00"/>
                </a:solidFill>
                <a:effectLst/>
                <a:latin typeface="Calibri" panose="020F0502020204030204" pitchFamily="34" charset="0"/>
                <a:ea typeface="Calibri" panose="020F0502020204030204" pitchFamily="34" charset="0"/>
                <a:cs typeface="Calibri" panose="020F0502020204030204" pitchFamily="34" charset="0"/>
              </a:rPr>
              <a:t>, minimize transit delays, and improve overall service level performance.</a:t>
            </a:r>
          </a:p>
        </p:txBody>
      </p:sp>
    </p:spTree>
    <p:extLst>
      <p:ext uri="{BB962C8B-B14F-4D97-AF65-F5344CB8AC3E}">
        <p14:creationId xmlns:p14="http://schemas.microsoft.com/office/powerpoint/2010/main" val="25794955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3C804E"/>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DBDCAD-DBB4-400B-AADE-A51D2D9B8E25}"/>
              </a:ext>
            </a:extLst>
          </p:cNvPr>
          <p:cNvSpPr>
            <a:spLocks noGrp="1"/>
          </p:cNvSpPr>
          <p:nvPr>
            <p:ph type="title"/>
          </p:nvPr>
        </p:nvSpPr>
        <p:spPr>
          <a:xfrm>
            <a:off x="311700" y="140225"/>
            <a:ext cx="8520600" cy="572700"/>
          </a:xfrm>
        </p:spPr>
        <p:txBody>
          <a:bodyPr/>
          <a:lstStyle/>
          <a:p>
            <a:r>
              <a:rPr lang="en-US" sz="3200" dirty="0">
                <a:latin typeface="Calibri" panose="020F0502020204030204" pitchFamily="34" charset="0"/>
                <a:ea typeface="Calibri" panose="020F0502020204030204" pitchFamily="34" charset="0"/>
                <a:cs typeface="Calibri" panose="020F0502020204030204" pitchFamily="34" charset="0"/>
              </a:rPr>
              <a:t>TASK 4: WAREHOUSE PERFORMANCE </a:t>
            </a:r>
          </a:p>
        </p:txBody>
      </p:sp>
      <p:sp>
        <p:nvSpPr>
          <p:cNvPr id="3" name="Text Placeholder 2">
            <a:extLst>
              <a:ext uri="{FF2B5EF4-FFF2-40B4-BE49-F238E27FC236}">
                <a16:creationId xmlns:a16="http://schemas.microsoft.com/office/drawing/2014/main" id="{2D66282A-CD72-48DC-BA72-18781FA29EBA}"/>
              </a:ext>
            </a:extLst>
          </p:cNvPr>
          <p:cNvSpPr>
            <a:spLocks noGrp="1"/>
          </p:cNvSpPr>
          <p:nvPr>
            <p:ph type="body" idx="1"/>
          </p:nvPr>
        </p:nvSpPr>
        <p:spPr>
          <a:xfrm>
            <a:off x="104775" y="656650"/>
            <a:ext cx="8594175" cy="4486850"/>
          </a:xfrm>
        </p:spPr>
        <p:txBody>
          <a:bodyPr/>
          <a:lstStyle/>
          <a:p>
            <a:r>
              <a:rPr lang="en-US" sz="1200" b="1" dirty="0">
                <a:solidFill>
                  <a:schemeClr val="tx1"/>
                </a:solidFill>
                <a:latin typeface="Calibri" panose="020F0502020204030204" pitchFamily="34" charset="0"/>
                <a:ea typeface="Calibri" panose="020F0502020204030204" pitchFamily="34" charset="0"/>
                <a:cs typeface="Calibri" panose="020F0502020204030204" pitchFamily="34" charset="0"/>
              </a:rPr>
              <a:t>Objective</a:t>
            </a:r>
          </a:p>
          <a:p>
            <a:pPr>
              <a:buFont typeface="Arial" panose="020B0604020202020204" pitchFamily="34" charset="0"/>
              <a:buChar char="•"/>
            </a:pPr>
            <a:r>
              <a:rPr lang="en-US" sz="1200" dirty="0">
                <a:latin typeface="Calibri" panose="020F0502020204030204" pitchFamily="34" charset="0"/>
                <a:ea typeface="Calibri" panose="020F0502020204030204" pitchFamily="34" charset="0"/>
                <a:cs typeface="Calibri" panose="020F0502020204030204" pitchFamily="34" charset="0"/>
              </a:rPr>
              <a:t>Evaluate warehouse-level delivery performance</a:t>
            </a:r>
          </a:p>
          <a:p>
            <a:pPr>
              <a:buFont typeface="Arial" panose="020B0604020202020204" pitchFamily="34" charset="0"/>
              <a:buChar char="•"/>
            </a:pPr>
            <a:r>
              <a:rPr lang="en-US" sz="1200" dirty="0">
                <a:latin typeface="Calibri" panose="020F0502020204030204" pitchFamily="34" charset="0"/>
                <a:ea typeface="Calibri" panose="020F0502020204030204" pitchFamily="34" charset="0"/>
                <a:cs typeface="Calibri" panose="020F0502020204030204" pitchFamily="34" charset="0"/>
              </a:rPr>
              <a:t>Identify warehouses contributing the most to shipment delays</a:t>
            </a:r>
          </a:p>
          <a:p>
            <a:pPr>
              <a:buFont typeface="Arial" panose="020B0604020202020204" pitchFamily="34" charset="0"/>
              <a:buChar char="•"/>
            </a:pPr>
            <a:r>
              <a:rPr lang="en-US" sz="1200" dirty="0">
                <a:latin typeface="Calibri" panose="020F0502020204030204" pitchFamily="34" charset="0"/>
                <a:ea typeface="Calibri" panose="020F0502020204030204" pitchFamily="34" charset="0"/>
                <a:cs typeface="Calibri" panose="020F0502020204030204" pitchFamily="34" charset="0"/>
              </a:rPr>
              <a:t>Compare warehouse performance against global delay benchmarks</a:t>
            </a:r>
          </a:p>
          <a:p>
            <a:pPr marL="127000" indent="0">
              <a:buNone/>
            </a:pPr>
            <a:endParaRPr lang="en-US" sz="1200" dirty="0">
              <a:latin typeface="Calibri" panose="020F0502020204030204" pitchFamily="34" charset="0"/>
              <a:ea typeface="Calibri" panose="020F0502020204030204" pitchFamily="34" charset="0"/>
              <a:cs typeface="Calibri" panose="020F0502020204030204" pitchFamily="34" charset="0"/>
            </a:endParaRPr>
          </a:p>
          <a:p>
            <a:pPr marL="127000" indent="0">
              <a:buNone/>
            </a:pPr>
            <a:r>
              <a:rPr lang="en-US" sz="1400" b="1" u="sng" dirty="0">
                <a:latin typeface="Calibri" panose="020F0502020204030204" pitchFamily="34" charset="0"/>
                <a:ea typeface="Calibri" panose="020F0502020204030204" pitchFamily="34" charset="0"/>
                <a:cs typeface="Calibri" panose="020F0502020204030204" pitchFamily="34" charset="0"/>
              </a:rPr>
              <a:t>TASKS:</a:t>
            </a:r>
          </a:p>
          <a:p>
            <a:r>
              <a:rPr lang="en-US" sz="1400" b="1" dirty="0">
                <a:latin typeface="Calibri" panose="020F0502020204030204" pitchFamily="34" charset="0"/>
                <a:ea typeface="Calibri" panose="020F0502020204030204" pitchFamily="34" charset="0"/>
                <a:cs typeface="Calibri" panose="020F0502020204030204" pitchFamily="34" charset="0"/>
              </a:rPr>
              <a:t>Find the top 3 warehouses with the highest average delay in shipments dispatched.</a:t>
            </a:r>
            <a:br>
              <a:rPr lang="en-US" sz="1400" b="1" dirty="0">
                <a:latin typeface="Calibri" panose="020F0502020204030204" pitchFamily="34" charset="0"/>
                <a:ea typeface="Calibri" panose="020F0502020204030204" pitchFamily="34" charset="0"/>
                <a:cs typeface="Calibri" panose="020F0502020204030204" pitchFamily="34" charset="0"/>
              </a:rPr>
            </a:br>
            <a:r>
              <a:rPr lang="en-US" sz="1200" dirty="0">
                <a:solidFill>
                  <a:schemeClr val="tx2"/>
                </a:solidFill>
                <a:latin typeface="Calibri" panose="020F0502020204030204" pitchFamily="34" charset="0"/>
                <a:ea typeface="Calibri" panose="020F0502020204030204" pitchFamily="34" charset="0"/>
                <a:cs typeface="Calibri" panose="020F0502020204030204" pitchFamily="34" charset="0"/>
              </a:rPr>
              <a:t>SELECT </a:t>
            </a:r>
          </a:p>
          <a:p>
            <a:pPr marL="127000" indent="0">
              <a:buNone/>
            </a:pPr>
            <a:r>
              <a:rPr lang="en-US" sz="1200" dirty="0">
                <a:solidFill>
                  <a:schemeClr val="tx2"/>
                </a:solidFill>
                <a:latin typeface="Calibri" panose="020F0502020204030204" pitchFamily="34" charset="0"/>
                <a:ea typeface="Calibri" panose="020F0502020204030204" pitchFamily="34" charset="0"/>
                <a:cs typeface="Calibri" panose="020F0502020204030204" pitchFamily="34" charset="0"/>
              </a:rPr>
              <a:t>	 </a:t>
            </a:r>
            <a:r>
              <a:rPr lang="en-US" sz="1200" dirty="0" err="1">
                <a:solidFill>
                  <a:schemeClr val="tx2"/>
                </a:solidFill>
                <a:latin typeface="Calibri" panose="020F0502020204030204" pitchFamily="34" charset="0"/>
                <a:ea typeface="Calibri" panose="020F0502020204030204" pitchFamily="34" charset="0"/>
                <a:cs typeface="Calibri" panose="020F0502020204030204" pitchFamily="34" charset="0"/>
              </a:rPr>
              <a:t>w.Warehouse_ID</a:t>
            </a:r>
            <a:r>
              <a:rPr lang="en-US" sz="1200" dirty="0">
                <a:solidFill>
                  <a:schemeClr val="tx2"/>
                </a:solidFill>
                <a:latin typeface="Calibri" panose="020F0502020204030204" pitchFamily="34" charset="0"/>
                <a:ea typeface="Calibri" panose="020F0502020204030204" pitchFamily="34" charset="0"/>
                <a:cs typeface="Calibri" panose="020F0502020204030204" pitchFamily="34" charset="0"/>
              </a:rPr>
              <a:t>,  </a:t>
            </a:r>
          </a:p>
          <a:p>
            <a:pPr marL="590550" lvl="1" indent="0">
              <a:buNone/>
            </a:pPr>
            <a:r>
              <a:rPr lang="en-US" sz="1200" dirty="0">
                <a:solidFill>
                  <a:schemeClr val="tx2"/>
                </a:solidFill>
                <a:latin typeface="Calibri" panose="020F0502020204030204" pitchFamily="34" charset="0"/>
                <a:ea typeface="Calibri" panose="020F0502020204030204" pitchFamily="34" charset="0"/>
                <a:cs typeface="Calibri" panose="020F0502020204030204" pitchFamily="34" charset="0"/>
              </a:rPr>
              <a:t>  	</a:t>
            </a:r>
            <a:r>
              <a:rPr lang="en-US" sz="1200" dirty="0" err="1">
                <a:solidFill>
                  <a:schemeClr val="tx2"/>
                </a:solidFill>
                <a:latin typeface="Calibri" panose="020F0502020204030204" pitchFamily="34" charset="0"/>
                <a:ea typeface="Calibri" panose="020F0502020204030204" pitchFamily="34" charset="0"/>
                <a:cs typeface="Calibri" panose="020F0502020204030204" pitchFamily="34" charset="0"/>
              </a:rPr>
              <a:t>w.City</a:t>
            </a:r>
            <a:r>
              <a:rPr lang="en-US" sz="1200" dirty="0">
                <a:solidFill>
                  <a:schemeClr val="tx2"/>
                </a:solidFill>
                <a:latin typeface="Calibri" panose="020F0502020204030204" pitchFamily="34" charset="0"/>
                <a:ea typeface="Calibri" panose="020F0502020204030204" pitchFamily="34" charset="0"/>
                <a:cs typeface="Calibri" panose="020F0502020204030204" pitchFamily="34" charset="0"/>
              </a:rPr>
              <a:t>,    </a:t>
            </a:r>
          </a:p>
          <a:p>
            <a:pPr marL="590550" lvl="1" indent="0">
              <a:buNone/>
            </a:pPr>
            <a:r>
              <a:rPr lang="en-US" sz="1200" dirty="0">
                <a:solidFill>
                  <a:schemeClr val="tx2"/>
                </a:solidFill>
                <a:latin typeface="Calibri" panose="020F0502020204030204" pitchFamily="34" charset="0"/>
                <a:ea typeface="Calibri" panose="020F0502020204030204" pitchFamily="34" charset="0"/>
                <a:cs typeface="Calibri" panose="020F0502020204030204" pitchFamily="34" charset="0"/>
              </a:rPr>
              <a:t>	</a:t>
            </a:r>
            <a:r>
              <a:rPr lang="en-US" sz="1200" dirty="0" err="1">
                <a:solidFill>
                  <a:schemeClr val="tx2"/>
                </a:solidFill>
                <a:latin typeface="Calibri" panose="020F0502020204030204" pitchFamily="34" charset="0"/>
                <a:ea typeface="Calibri" panose="020F0502020204030204" pitchFamily="34" charset="0"/>
                <a:cs typeface="Calibri" panose="020F0502020204030204" pitchFamily="34" charset="0"/>
              </a:rPr>
              <a:t>w.Country</a:t>
            </a:r>
            <a:r>
              <a:rPr lang="en-US" sz="1200" dirty="0">
                <a:solidFill>
                  <a:schemeClr val="tx2"/>
                </a:solidFill>
                <a:latin typeface="Calibri" panose="020F0502020204030204" pitchFamily="34" charset="0"/>
                <a:ea typeface="Calibri" panose="020F0502020204030204" pitchFamily="34" charset="0"/>
                <a:cs typeface="Calibri" panose="020F0502020204030204" pitchFamily="34" charset="0"/>
              </a:rPr>
              <a:t>,    </a:t>
            </a:r>
          </a:p>
          <a:p>
            <a:pPr marL="590550" lvl="1" indent="0">
              <a:buNone/>
            </a:pPr>
            <a:r>
              <a:rPr lang="en-US" sz="1200" dirty="0">
                <a:solidFill>
                  <a:schemeClr val="tx2"/>
                </a:solidFill>
                <a:latin typeface="Calibri" panose="020F0502020204030204" pitchFamily="34" charset="0"/>
                <a:ea typeface="Calibri" panose="020F0502020204030204" pitchFamily="34" charset="0"/>
                <a:cs typeface="Calibri" panose="020F0502020204030204" pitchFamily="34" charset="0"/>
              </a:rPr>
              <a:t>	AVG(</a:t>
            </a:r>
            <a:r>
              <a:rPr lang="en-US" sz="1200" dirty="0" err="1">
                <a:solidFill>
                  <a:schemeClr val="tx2"/>
                </a:solidFill>
                <a:latin typeface="Calibri" panose="020F0502020204030204" pitchFamily="34" charset="0"/>
                <a:ea typeface="Calibri" panose="020F0502020204030204" pitchFamily="34" charset="0"/>
                <a:cs typeface="Calibri" panose="020F0502020204030204" pitchFamily="34" charset="0"/>
              </a:rPr>
              <a:t>s.Delay_Hours</a:t>
            </a:r>
            <a:r>
              <a:rPr lang="en-US" sz="1200" dirty="0">
                <a:solidFill>
                  <a:schemeClr val="tx2"/>
                </a:solidFill>
                <a:latin typeface="Calibri" panose="020F0502020204030204" pitchFamily="34" charset="0"/>
                <a:ea typeface="Calibri" panose="020F0502020204030204" pitchFamily="34" charset="0"/>
                <a:cs typeface="Calibri" panose="020F0502020204030204" pitchFamily="34" charset="0"/>
              </a:rPr>
              <a:t>) AS </a:t>
            </a:r>
            <a:r>
              <a:rPr lang="en-US" sz="1200" dirty="0" err="1">
                <a:solidFill>
                  <a:schemeClr val="tx2"/>
                </a:solidFill>
                <a:latin typeface="Calibri" panose="020F0502020204030204" pitchFamily="34" charset="0"/>
                <a:ea typeface="Calibri" panose="020F0502020204030204" pitchFamily="34" charset="0"/>
                <a:cs typeface="Calibri" panose="020F0502020204030204" pitchFamily="34" charset="0"/>
              </a:rPr>
              <a:t>Avg_Delay</a:t>
            </a:r>
            <a:endParaRPr lang="en-US" sz="1200" dirty="0">
              <a:solidFill>
                <a:schemeClr val="tx2"/>
              </a:solidFill>
              <a:latin typeface="Calibri" panose="020F0502020204030204" pitchFamily="34" charset="0"/>
              <a:ea typeface="Calibri" panose="020F0502020204030204" pitchFamily="34" charset="0"/>
              <a:cs typeface="Calibri" panose="020F0502020204030204" pitchFamily="34" charset="0"/>
            </a:endParaRPr>
          </a:p>
          <a:p>
            <a:pPr marL="590550" lvl="1" indent="0">
              <a:buNone/>
            </a:pPr>
            <a:r>
              <a:rPr lang="en-US" sz="1200" dirty="0">
                <a:solidFill>
                  <a:schemeClr val="tx2"/>
                </a:solidFill>
                <a:latin typeface="Calibri" panose="020F0502020204030204" pitchFamily="34" charset="0"/>
                <a:ea typeface="Calibri" panose="020F0502020204030204" pitchFamily="34" charset="0"/>
                <a:cs typeface="Calibri" panose="020F0502020204030204" pitchFamily="34" charset="0"/>
              </a:rPr>
              <a:t>FROM Shipments s</a:t>
            </a:r>
          </a:p>
          <a:p>
            <a:pPr marL="590550" lvl="1" indent="0">
              <a:buNone/>
            </a:pPr>
            <a:r>
              <a:rPr lang="en-US" sz="1200" dirty="0">
                <a:solidFill>
                  <a:schemeClr val="tx2"/>
                </a:solidFill>
                <a:latin typeface="Calibri" panose="020F0502020204030204" pitchFamily="34" charset="0"/>
                <a:ea typeface="Calibri" panose="020F0502020204030204" pitchFamily="34" charset="0"/>
                <a:cs typeface="Calibri" panose="020F0502020204030204" pitchFamily="34" charset="0"/>
              </a:rPr>
              <a:t>JOIN Warehouses w   </a:t>
            </a:r>
          </a:p>
          <a:p>
            <a:pPr marL="590550" lvl="1" indent="0">
              <a:buNone/>
            </a:pPr>
            <a:r>
              <a:rPr lang="en-US" sz="1200" dirty="0">
                <a:solidFill>
                  <a:schemeClr val="tx2"/>
                </a:solidFill>
                <a:latin typeface="Calibri" panose="020F0502020204030204" pitchFamily="34" charset="0"/>
                <a:ea typeface="Calibri" panose="020F0502020204030204" pitchFamily="34" charset="0"/>
                <a:cs typeface="Calibri" panose="020F0502020204030204" pitchFamily="34" charset="0"/>
              </a:rPr>
              <a:t>	 ON </a:t>
            </a:r>
            <a:r>
              <a:rPr lang="en-US" sz="1200" dirty="0" err="1">
                <a:solidFill>
                  <a:schemeClr val="tx2"/>
                </a:solidFill>
                <a:latin typeface="Calibri" panose="020F0502020204030204" pitchFamily="34" charset="0"/>
                <a:ea typeface="Calibri" panose="020F0502020204030204" pitchFamily="34" charset="0"/>
                <a:cs typeface="Calibri" panose="020F0502020204030204" pitchFamily="34" charset="0"/>
              </a:rPr>
              <a:t>s.Warehouse_ID</a:t>
            </a:r>
            <a:r>
              <a:rPr lang="en-US" sz="1200" dirty="0">
                <a:solidFill>
                  <a:schemeClr val="tx2"/>
                </a:solidFill>
                <a:latin typeface="Calibri" panose="020F0502020204030204" pitchFamily="34" charset="0"/>
                <a:ea typeface="Calibri" panose="020F0502020204030204" pitchFamily="34" charset="0"/>
                <a:cs typeface="Calibri" panose="020F0502020204030204" pitchFamily="34" charset="0"/>
              </a:rPr>
              <a:t> = </a:t>
            </a:r>
            <a:r>
              <a:rPr lang="en-US" sz="1200" dirty="0" err="1">
                <a:solidFill>
                  <a:schemeClr val="tx2"/>
                </a:solidFill>
                <a:latin typeface="Calibri" panose="020F0502020204030204" pitchFamily="34" charset="0"/>
                <a:ea typeface="Calibri" panose="020F0502020204030204" pitchFamily="34" charset="0"/>
                <a:cs typeface="Calibri" panose="020F0502020204030204" pitchFamily="34" charset="0"/>
              </a:rPr>
              <a:t>w.Warehouse_ID</a:t>
            </a:r>
            <a:endParaRPr lang="en-US" sz="1200" dirty="0">
              <a:solidFill>
                <a:schemeClr val="tx2"/>
              </a:solidFill>
              <a:latin typeface="Calibri" panose="020F0502020204030204" pitchFamily="34" charset="0"/>
              <a:ea typeface="Calibri" panose="020F0502020204030204" pitchFamily="34" charset="0"/>
              <a:cs typeface="Calibri" panose="020F0502020204030204" pitchFamily="34" charset="0"/>
            </a:endParaRPr>
          </a:p>
          <a:p>
            <a:pPr marL="590550" lvl="1" indent="0">
              <a:buNone/>
            </a:pPr>
            <a:r>
              <a:rPr lang="en-US" sz="1200" dirty="0">
                <a:solidFill>
                  <a:schemeClr val="tx2"/>
                </a:solidFill>
                <a:latin typeface="Calibri" panose="020F0502020204030204" pitchFamily="34" charset="0"/>
                <a:ea typeface="Calibri" panose="020F0502020204030204" pitchFamily="34" charset="0"/>
                <a:cs typeface="Calibri" panose="020F0502020204030204" pitchFamily="34" charset="0"/>
              </a:rPr>
              <a:t>GROUP BY </a:t>
            </a:r>
            <a:r>
              <a:rPr lang="en-US" sz="1200" dirty="0" err="1">
                <a:solidFill>
                  <a:schemeClr val="tx2"/>
                </a:solidFill>
                <a:latin typeface="Calibri" panose="020F0502020204030204" pitchFamily="34" charset="0"/>
                <a:ea typeface="Calibri" panose="020F0502020204030204" pitchFamily="34" charset="0"/>
                <a:cs typeface="Calibri" panose="020F0502020204030204" pitchFamily="34" charset="0"/>
              </a:rPr>
              <a:t>w.Warehouse_ID</a:t>
            </a:r>
            <a:r>
              <a:rPr lang="en-US" sz="1200" dirty="0">
                <a:solidFill>
                  <a:schemeClr val="tx2"/>
                </a:solidFill>
                <a:latin typeface="Calibri" panose="020F0502020204030204" pitchFamily="34" charset="0"/>
                <a:ea typeface="Calibri" panose="020F0502020204030204" pitchFamily="34" charset="0"/>
                <a:cs typeface="Calibri" panose="020F0502020204030204" pitchFamily="34" charset="0"/>
              </a:rPr>
              <a:t>, </a:t>
            </a:r>
            <a:r>
              <a:rPr lang="en-US" sz="1200" dirty="0" err="1">
                <a:solidFill>
                  <a:schemeClr val="tx2"/>
                </a:solidFill>
                <a:latin typeface="Calibri" panose="020F0502020204030204" pitchFamily="34" charset="0"/>
                <a:ea typeface="Calibri" panose="020F0502020204030204" pitchFamily="34" charset="0"/>
                <a:cs typeface="Calibri" panose="020F0502020204030204" pitchFamily="34" charset="0"/>
              </a:rPr>
              <a:t>w.City</a:t>
            </a:r>
            <a:r>
              <a:rPr lang="en-US" sz="1200" dirty="0">
                <a:solidFill>
                  <a:schemeClr val="tx2"/>
                </a:solidFill>
                <a:latin typeface="Calibri" panose="020F0502020204030204" pitchFamily="34" charset="0"/>
                <a:ea typeface="Calibri" panose="020F0502020204030204" pitchFamily="34" charset="0"/>
                <a:cs typeface="Calibri" panose="020F0502020204030204" pitchFamily="34" charset="0"/>
              </a:rPr>
              <a:t>, </a:t>
            </a:r>
            <a:r>
              <a:rPr lang="en-US" sz="1200" dirty="0" err="1">
                <a:solidFill>
                  <a:schemeClr val="tx2"/>
                </a:solidFill>
                <a:latin typeface="Calibri" panose="020F0502020204030204" pitchFamily="34" charset="0"/>
                <a:ea typeface="Calibri" panose="020F0502020204030204" pitchFamily="34" charset="0"/>
                <a:cs typeface="Calibri" panose="020F0502020204030204" pitchFamily="34" charset="0"/>
              </a:rPr>
              <a:t>w.Country</a:t>
            </a:r>
            <a:endParaRPr lang="en-US" sz="1200" dirty="0">
              <a:solidFill>
                <a:schemeClr val="tx2"/>
              </a:solidFill>
              <a:latin typeface="Calibri" panose="020F0502020204030204" pitchFamily="34" charset="0"/>
              <a:ea typeface="Calibri" panose="020F0502020204030204" pitchFamily="34" charset="0"/>
              <a:cs typeface="Calibri" panose="020F0502020204030204" pitchFamily="34" charset="0"/>
            </a:endParaRPr>
          </a:p>
          <a:p>
            <a:pPr marL="590550" lvl="1" indent="0">
              <a:buNone/>
            </a:pPr>
            <a:r>
              <a:rPr lang="en-US" sz="1200" dirty="0">
                <a:solidFill>
                  <a:schemeClr val="tx2"/>
                </a:solidFill>
                <a:latin typeface="Calibri" panose="020F0502020204030204" pitchFamily="34" charset="0"/>
                <a:ea typeface="Calibri" panose="020F0502020204030204" pitchFamily="34" charset="0"/>
                <a:cs typeface="Calibri" panose="020F0502020204030204" pitchFamily="34" charset="0"/>
              </a:rPr>
              <a:t>ORDER BY </a:t>
            </a:r>
            <a:r>
              <a:rPr lang="en-US" sz="1200" dirty="0" err="1">
                <a:solidFill>
                  <a:schemeClr val="tx2"/>
                </a:solidFill>
                <a:latin typeface="Calibri" panose="020F0502020204030204" pitchFamily="34" charset="0"/>
                <a:ea typeface="Calibri" panose="020F0502020204030204" pitchFamily="34" charset="0"/>
                <a:cs typeface="Calibri" panose="020F0502020204030204" pitchFamily="34" charset="0"/>
              </a:rPr>
              <a:t>Avg_Delay</a:t>
            </a:r>
            <a:r>
              <a:rPr lang="en-US" sz="1200" dirty="0">
                <a:solidFill>
                  <a:schemeClr val="tx2"/>
                </a:solidFill>
                <a:latin typeface="Calibri" panose="020F0502020204030204" pitchFamily="34" charset="0"/>
                <a:ea typeface="Calibri" panose="020F0502020204030204" pitchFamily="34" charset="0"/>
                <a:cs typeface="Calibri" panose="020F0502020204030204" pitchFamily="34" charset="0"/>
              </a:rPr>
              <a:t> DESC</a:t>
            </a:r>
          </a:p>
          <a:p>
            <a:pPr marL="590550" lvl="1" indent="0">
              <a:buNone/>
            </a:pPr>
            <a:r>
              <a:rPr lang="en-US" sz="1200" dirty="0">
                <a:solidFill>
                  <a:schemeClr val="tx2"/>
                </a:solidFill>
                <a:latin typeface="Calibri" panose="020F0502020204030204" pitchFamily="34" charset="0"/>
                <a:ea typeface="Calibri" panose="020F0502020204030204" pitchFamily="34" charset="0"/>
                <a:cs typeface="Calibri" panose="020F0502020204030204" pitchFamily="34" charset="0"/>
              </a:rPr>
              <a:t>LIMIT 3;</a:t>
            </a:r>
          </a:p>
          <a:p>
            <a:pPr marL="590550" lvl="1" indent="0">
              <a:buNone/>
            </a:pPr>
            <a:endParaRPr lang="en-US" sz="1200" dirty="0">
              <a:latin typeface="Calibri" panose="020F0502020204030204" pitchFamily="34" charset="0"/>
              <a:ea typeface="Calibri" panose="020F0502020204030204" pitchFamily="34" charset="0"/>
              <a:cs typeface="Calibri" panose="020F0502020204030204" pitchFamily="34" charset="0"/>
            </a:endParaRPr>
          </a:p>
          <a:p>
            <a:pPr marL="127000" indent="0">
              <a:buNone/>
            </a:pPr>
            <a:r>
              <a:rPr lang="en-US" sz="1100" b="1" u="sng" dirty="0">
                <a:latin typeface="Calibri" panose="020F0502020204030204" pitchFamily="34" charset="0"/>
                <a:ea typeface="Calibri" panose="020F0502020204030204" pitchFamily="34" charset="0"/>
                <a:cs typeface="Calibri" panose="020F0502020204030204" pitchFamily="34" charset="0"/>
              </a:rPr>
              <a:t>What was calculated:</a:t>
            </a:r>
            <a:br>
              <a:rPr lang="en-US" sz="1100" b="1" u="sng" dirty="0">
                <a:latin typeface="Calibri" panose="020F0502020204030204" pitchFamily="34" charset="0"/>
                <a:ea typeface="Calibri" panose="020F0502020204030204" pitchFamily="34" charset="0"/>
                <a:cs typeface="Calibri" panose="020F0502020204030204" pitchFamily="34" charset="0"/>
              </a:rPr>
            </a:br>
            <a:r>
              <a:rPr lang="en-US" sz="1100" dirty="0">
                <a:latin typeface="Calibri" panose="020F0502020204030204" pitchFamily="34" charset="0"/>
                <a:ea typeface="Calibri" panose="020F0502020204030204" pitchFamily="34" charset="0"/>
                <a:cs typeface="Calibri" panose="020F0502020204030204" pitchFamily="34" charset="0"/>
              </a:rPr>
              <a:t>The average delay in shipments dispatched from each warehouse.</a:t>
            </a:r>
          </a:p>
          <a:p>
            <a:pPr marL="127000" indent="0">
              <a:buNone/>
            </a:pPr>
            <a:endParaRPr lang="en-US" sz="1100" dirty="0">
              <a:latin typeface="Calibri" panose="020F0502020204030204" pitchFamily="34" charset="0"/>
              <a:ea typeface="Calibri" panose="020F0502020204030204" pitchFamily="34" charset="0"/>
              <a:cs typeface="Calibri" panose="020F0502020204030204" pitchFamily="34" charset="0"/>
            </a:endParaRPr>
          </a:p>
          <a:p>
            <a:pPr marL="127000" indent="0">
              <a:buNone/>
            </a:pPr>
            <a:r>
              <a:rPr lang="en-US" sz="1100" b="1" u="sng" dirty="0">
                <a:latin typeface="Calibri" panose="020F0502020204030204" pitchFamily="34" charset="0"/>
                <a:ea typeface="Calibri" panose="020F0502020204030204" pitchFamily="34" charset="0"/>
                <a:cs typeface="Calibri" panose="020F0502020204030204" pitchFamily="34" charset="0"/>
              </a:rPr>
              <a:t>What we got:</a:t>
            </a:r>
            <a:br>
              <a:rPr lang="en-US" sz="1100" dirty="0">
                <a:latin typeface="Calibri" panose="020F0502020204030204" pitchFamily="34" charset="0"/>
                <a:ea typeface="Calibri" panose="020F0502020204030204" pitchFamily="34" charset="0"/>
                <a:cs typeface="Calibri" panose="020F0502020204030204" pitchFamily="34" charset="0"/>
              </a:rPr>
            </a:br>
            <a:r>
              <a:rPr lang="en-US" sz="1100" dirty="0">
                <a:latin typeface="Calibri" panose="020F0502020204030204" pitchFamily="34" charset="0"/>
                <a:ea typeface="Calibri" panose="020F0502020204030204" pitchFamily="34" charset="0"/>
                <a:cs typeface="Calibri" panose="020F0502020204030204" pitchFamily="34" charset="0"/>
              </a:rPr>
              <a:t>The top 3 warehouses with the highest average delays were identified, indicating locations where processing or dispatch efficiency is poor.</a:t>
            </a:r>
          </a:p>
          <a:p>
            <a:pPr marL="590550" lvl="1" indent="0">
              <a:buNone/>
            </a:pPr>
            <a:endParaRPr lang="en-US" sz="1100" dirty="0">
              <a:latin typeface="Calibri" panose="020F0502020204030204" pitchFamily="34" charset="0"/>
              <a:ea typeface="Calibri" panose="020F0502020204030204" pitchFamily="34" charset="0"/>
              <a:cs typeface="Calibri" panose="020F0502020204030204" pitchFamily="34" charset="0"/>
            </a:endParaRPr>
          </a:p>
          <a:p>
            <a:pPr marL="590550" lvl="1" indent="0">
              <a:buNone/>
            </a:pPr>
            <a:endParaRPr lang="en-US" sz="1200" dirty="0">
              <a:latin typeface="Calibri" panose="020F0502020204030204" pitchFamily="34" charset="0"/>
              <a:ea typeface="Calibri" panose="020F0502020204030204" pitchFamily="34" charset="0"/>
              <a:cs typeface="Calibri" panose="020F0502020204030204" pitchFamily="34" charset="0"/>
            </a:endParaRPr>
          </a:p>
        </p:txBody>
      </p:sp>
      <p:pic>
        <p:nvPicPr>
          <p:cNvPr id="5" name="Picture 4">
            <a:extLst>
              <a:ext uri="{FF2B5EF4-FFF2-40B4-BE49-F238E27FC236}">
                <a16:creationId xmlns:a16="http://schemas.microsoft.com/office/drawing/2014/main" id="{72B1992B-32E7-4492-8174-4DA490A55EAA}"/>
              </a:ext>
            </a:extLst>
          </p:cNvPr>
          <p:cNvPicPr>
            <a:picLocks noChangeAspect="1"/>
          </p:cNvPicPr>
          <p:nvPr/>
        </p:nvPicPr>
        <p:blipFill>
          <a:blip r:embed="rId2"/>
          <a:stretch>
            <a:fillRect/>
          </a:stretch>
        </p:blipFill>
        <p:spPr>
          <a:xfrm>
            <a:off x="4473126" y="2574843"/>
            <a:ext cx="3829584" cy="790685"/>
          </a:xfrm>
          <a:prstGeom prst="rect">
            <a:avLst/>
          </a:prstGeom>
        </p:spPr>
      </p:pic>
    </p:spTree>
    <p:extLst>
      <p:ext uri="{BB962C8B-B14F-4D97-AF65-F5344CB8AC3E}">
        <p14:creationId xmlns:p14="http://schemas.microsoft.com/office/powerpoint/2010/main" val="25128031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3C804E"/>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2D66282A-CD72-48DC-BA72-18781FA29EBA}"/>
              </a:ext>
            </a:extLst>
          </p:cNvPr>
          <p:cNvSpPr>
            <a:spLocks noGrp="1"/>
          </p:cNvSpPr>
          <p:nvPr>
            <p:ph type="body" idx="1"/>
          </p:nvPr>
        </p:nvSpPr>
        <p:spPr>
          <a:xfrm>
            <a:off x="104775" y="398437"/>
            <a:ext cx="8594175" cy="4346625"/>
          </a:xfrm>
        </p:spPr>
        <p:txBody>
          <a:bodyPr/>
          <a:lstStyle/>
          <a:p>
            <a:r>
              <a:rPr lang="en-US" sz="1400" dirty="0">
                <a:latin typeface="Calibri" panose="020F0502020204030204" pitchFamily="34" charset="0"/>
                <a:ea typeface="Calibri" panose="020F0502020204030204" pitchFamily="34" charset="0"/>
                <a:cs typeface="Calibri" panose="020F0502020204030204" pitchFamily="34" charset="0"/>
              </a:rPr>
              <a:t>Calculate total shipments vs delayed shipments for each warehouse.</a:t>
            </a:r>
          </a:p>
          <a:p>
            <a:pPr marL="590550" lvl="1" indent="0">
              <a:buNone/>
            </a:pPr>
            <a:r>
              <a:rPr lang="en-US" sz="1200" dirty="0">
                <a:solidFill>
                  <a:schemeClr val="tx2"/>
                </a:solidFill>
                <a:latin typeface="Calibri" panose="020F0502020204030204" pitchFamily="34" charset="0"/>
                <a:ea typeface="Calibri" panose="020F0502020204030204" pitchFamily="34" charset="0"/>
                <a:cs typeface="Calibri" panose="020F0502020204030204" pitchFamily="34" charset="0"/>
              </a:rPr>
              <a:t>SELECT </a:t>
            </a:r>
          </a:p>
          <a:p>
            <a:pPr marL="590550" lvl="1" indent="0">
              <a:buNone/>
            </a:pPr>
            <a:r>
              <a:rPr lang="en-US" sz="1200" dirty="0">
                <a:solidFill>
                  <a:schemeClr val="tx2"/>
                </a:solidFill>
                <a:latin typeface="Calibri" panose="020F0502020204030204" pitchFamily="34" charset="0"/>
                <a:ea typeface="Calibri" panose="020F0502020204030204" pitchFamily="34" charset="0"/>
                <a:cs typeface="Calibri" panose="020F0502020204030204" pitchFamily="34" charset="0"/>
              </a:rPr>
              <a:t>	   </a:t>
            </a:r>
            <a:r>
              <a:rPr lang="en-US" sz="1200" dirty="0" err="1">
                <a:solidFill>
                  <a:schemeClr val="tx2"/>
                </a:solidFill>
                <a:latin typeface="Calibri" panose="020F0502020204030204" pitchFamily="34" charset="0"/>
                <a:ea typeface="Calibri" panose="020F0502020204030204" pitchFamily="34" charset="0"/>
                <a:cs typeface="Calibri" panose="020F0502020204030204" pitchFamily="34" charset="0"/>
              </a:rPr>
              <a:t>Warehouse_ID</a:t>
            </a:r>
            <a:r>
              <a:rPr lang="en-US" sz="1200" dirty="0">
                <a:solidFill>
                  <a:schemeClr val="tx2"/>
                </a:solidFill>
                <a:latin typeface="Calibri" panose="020F0502020204030204" pitchFamily="34" charset="0"/>
                <a:ea typeface="Calibri" panose="020F0502020204030204" pitchFamily="34" charset="0"/>
                <a:cs typeface="Calibri" panose="020F0502020204030204" pitchFamily="34" charset="0"/>
              </a:rPr>
              <a:t>,    </a:t>
            </a:r>
          </a:p>
          <a:p>
            <a:pPr marL="590550" lvl="1" indent="0">
              <a:buNone/>
            </a:pPr>
            <a:r>
              <a:rPr lang="en-US" sz="1200" dirty="0">
                <a:solidFill>
                  <a:schemeClr val="tx2"/>
                </a:solidFill>
                <a:latin typeface="Calibri" panose="020F0502020204030204" pitchFamily="34" charset="0"/>
                <a:ea typeface="Calibri" panose="020F0502020204030204" pitchFamily="34" charset="0"/>
                <a:cs typeface="Calibri" panose="020F0502020204030204" pitchFamily="34" charset="0"/>
              </a:rPr>
              <a:t>	COUNT(*) AS </a:t>
            </a:r>
            <a:r>
              <a:rPr lang="en-US" sz="1200" dirty="0" err="1">
                <a:solidFill>
                  <a:schemeClr val="tx2"/>
                </a:solidFill>
                <a:latin typeface="Calibri" panose="020F0502020204030204" pitchFamily="34" charset="0"/>
                <a:ea typeface="Calibri" panose="020F0502020204030204" pitchFamily="34" charset="0"/>
                <a:cs typeface="Calibri" panose="020F0502020204030204" pitchFamily="34" charset="0"/>
              </a:rPr>
              <a:t>Total_Shipments</a:t>
            </a:r>
            <a:r>
              <a:rPr lang="en-US" sz="1200" dirty="0">
                <a:solidFill>
                  <a:schemeClr val="tx2"/>
                </a:solidFill>
                <a:latin typeface="Calibri" panose="020F0502020204030204" pitchFamily="34" charset="0"/>
                <a:ea typeface="Calibri" panose="020F0502020204030204" pitchFamily="34" charset="0"/>
                <a:cs typeface="Calibri" panose="020F0502020204030204" pitchFamily="34" charset="0"/>
              </a:rPr>
              <a:t>, </a:t>
            </a:r>
          </a:p>
          <a:p>
            <a:pPr marL="590550" lvl="1" indent="0">
              <a:buNone/>
            </a:pPr>
            <a:r>
              <a:rPr lang="en-US" sz="1200" dirty="0">
                <a:solidFill>
                  <a:schemeClr val="tx2"/>
                </a:solidFill>
                <a:latin typeface="Calibri" panose="020F0502020204030204" pitchFamily="34" charset="0"/>
                <a:ea typeface="Calibri" panose="020F0502020204030204" pitchFamily="34" charset="0"/>
                <a:cs typeface="Calibri" panose="020F0502020204030204" pitchFamily="34" charset="0"/>
              </a:rPr>
              <a:t>	   SUM(</a:t>
            </a:r>
            <a:r>
              <a:rPr lang="en-US" sz="1200" dirty="0" err="1">
                <a:solidFill>
                  <a:schemeClr val="tx2"/>
                </a:solidFill>
                <a:latin typeface="Calibri" panose="020F0502020204030204" pitchFamily="34" charset="0"/>
                <a:ea typeface="Calibri" panose="020F0502020204030204" pitchFamily="34" charset="0"/>
                <a:cs typeface="Calibri" panose="020F0502020204030204" pitchFamily="34" charset="0"/>
              </a:rPr>
              <a:t>Delay_Hours</a:t>
            </a:r>
            <a:r>
              <a:rPr lang="en-US" sz="1200" dirty="0">
                <a:solidFill>
                  <a:schemeClr val="tx2"/>
                </a:solidFill>
                <a:latin typeface="Calibri" panose="020F0502020204030204" pitchFamily="34" charset="0"/>
                <a:ea typeface="Calibri" panose="020F0502020204030204" pitchFamily="34" charset="0"/>
                <a:cs typeface="Calibri" panose="020F0502020204030204" pitchFamily="34" charset="0"/>
              </a:rPr>
              <a:t> &gt; 0) AS </a:t>
            </a:r>
            <a:r>
              <a:rPr lang="en-US" sz="1200" dirty="0" err="1">
                <a:solidFill>
                  <a:schemeClr val="tx2"/>
                </a:solidFill>
                <a:latin typeface="Calibri" panose="020F0502020204030204" pitchFamily="34" charset="0"/>
                <a:ea typeface="Calibri" panose="020F0502020204030204" pitchFamily="34" charset="0"/>
                <a:cs typeface="Calibri" panose="020F0502020204030204" pitchFamily="34" charset="0"/>
              </a:rPr>
              <a:t>Delayed_Shipments</a:t>
            </a:r>
            <a:endParaRPr lang="en-US" sz="1200" dirty="0">
              <a:solidFill>
                <a:schemeClr val="tx2"/>
              </a:solidFill>
              <a:latin typeface="Calibri" panose="020F0502020204030204" pitchFamily="34" charset="0"/>
              <a:ea typeface="Calibri" panose="020F0502020204030204" pitchFamily="34" charset="0"/>
              <a:cs typeface="Calibri" panose="020F0502020204030204" pitchFamily="34" charset="0"/>
            </a:endParaRPr>
          </a:p>
          <a:p>
            <a:pPr marL="590550" lvl="1" indent="0">
              <a:buNone/>
            </a:pPr>
            <a:r>
              <a:rPr lang="en-US" sz="1200" dirty="0">
                <a:solidFill>
                  <a:schemeClr val="tx2"/>
                </a:solidFill>
                <a:latin typeface="Calibri" panose="020F0502020204030204" pitchFamily="34" charset="0"/>
                <a:ea typeface="Calibri" panose="020F0502020204030204" pitchFamily="34" charset="0"/>
                <a:cs typeface="Calibri" panose="020F0502020204030204" pitchFamily="34" charset="0"/>
              </a:rPr>
              <a:t>FROM Shipments</a:t>
            </a:r>
          </a:p>
          <a:p>
            <a:pPr marL="590550" lvl="1" indent="0">
              <a:buNone/>
            </a:pPr>
            <a:r>
              <a:rPr lang="en-US" sz="1200" dirty="0">
                <a:solidFill>
                  <a:schemeClr val="tx2"/>
                </a:solidFill>
                <a:latin typeface="Calibri" panose="020F0502020204030204" pitchFamily="34" charset="0"/>
                <a:ea typeface="Calibri" panose="020F0502020204030204" pitchFamily="34" charset="0"/>
                <a:cs typeface="Calibri" panose="020F0502020204030204" pitchFamily="34" charset="0"/>
              </a:rPr>
              <a:t>GROUP BY </a:t>
            </a:r>
            <a:r>
              <a:rPr lang="en-US" sz="1200" dirty="0" err="1">
                <a:solidFill>
                  <a:schemeClr val="tx2"/>
                </a:solidFill>
                <a:latin typeface="Calibri" panose="020F0502020204030204" pitchFamily="34" charset="0"/>
                <a:ea typeface="Calibri" panose="020F0502020204030204" pitchFamily="34" charset="0"/>
                <a:cs typeface="Calibri" panose="020F0502020204030204" pitchFamily="34" charset="0"/>
              </a:rPr>
              <a:t>Warehouse_ID</a:t>
            </a:r>
            <a:endParaRPr lang="en-US" sz="1200" dirty="0">
              <a:solidFill>
                <a:schemeClr val="tx2"/>
              </a:solidFill>
              <a:latin typeface="Calibri" panose="020F0502020204030204" pitchFamily="34" charset="0"/>
              <a:ea typeface="Calibri" panose="020F0502020204030204" pitchFamily="34" charset="0"/>
              <a:cs typeface="Calibri" panose="020F0502020204030204" pitchFamily="34" charset="0"/>
            </a:endParaRPr>
          </a:p>
          <a:p>
            <a:pPr marL="590550" lvl="1" indent="0">
              <a:buNone/>
            </a:pPr>
            <a:r>
              <a:rPr lang="en-US" sz="1200" dirty="0">
                <a:solidFill>
                  <a:schemeClr val="tx2"/>
                </a:solidFill>
                <a:latin typeface="Calibri" panose="020F0502020204030204" pitchFamily="34" charset="0"/>
                <a:ea typeface="Calibri" panose="020F0502020204030204" pitchFamily="34" charset="0"/>
                <a:cs typeface="Calibri" panose="020F0502020204030204" pitchFamily="34" charset="0"/>
              </a:rPr>
              <a:t>ORDER BY </a:t>
            </a:r>
            <a:r>
              <a:rPr lang="en-US" sz="1200" dirty="0" err="1">
                <a:solidFill>
                  <a:schemeClr val="tx2"/>
                </a:solidFill>
                <a:latin typeface="Calibri" panose="020F0502020204030204" pitchFamily="34" charset="0"/>
                <a:ea typeface="Calibri" panose="020F0502020204030204" pitchFamily="34" charset="0"/>
                <a:cs typeface="Calibri" panose="020F0502020204030204" pitchFamily="34" charset="0"/>
              </a:rPr>
              <a:t>warehouse_id</a:t>
            </a:r>
            <a:r>
              <a:rPr lang="en-US" sz="1200" dirty="0">
                <a:solidFill>
                  <a:schemeClr val="tx2"/>
                </a:solidFill>
                <a:latin typeface="Calibri" panose="020F0502020204030204" pitchFamily="34" charset="0"/>
                <a:ea typeface="Calibri" panose="020F0502020204030204" pitchFamily="34" charset="0"/>
                <a:cs typeface="Calibri" panose="020F0502020204030204" pitchFamily="34" charset="0"/>
              </a:rPr>
              <a:t> ASC;</a:t>
            </a:r>
          </a:p>
          <a:p>
            <a:pPr marL="590550" lvl="1" indent="0">
              <a:buNone/>
            </a:pPr>
            <a:endParaRPr lang="en-US" sz="1100" dirty="0">
              <a:latin typeface="Calibri" panose="020F0502020204030204" pitchFamily="34" charset="0"/>
              <a:ea typeface="Calibri" panose="020F0502020204030204" pitchFamily="34" charset="0"/>
              <a:cs typeface="Calibri" panose="020F0502020204030204" pitchFamily="34" charset="0"/>
            </a:endParaRPr>
          </a:p>
          <a:p>
            <a:pPr marL="590550" lvl="1" indent="0">
              <a:buNone/>
            </a:pPr>
            <a:endParaRPr lang="en-US" sz="1100" dirty="0">
              <a:latin typeface="Calibri" panose="020F0502020204030204" pitchFamily="34" charset="0"/>
              <a:ea typeface="Calibri" panose="020F0502020204030204" pitchFamily="34" charset="0"/>
              <a:cs typeface="Calibri" panose="020F0502020204030204" pitchFamily="34" charset="0"/>
            </a:endParaRPr>
          </a:p>
          <a:p>
            <a:pPr marL="590550" lvl="1" indent="0">
              <a:buNone/>
            </a:pPr>
            <a:endParaRPr lang="en-US" sz="1100" dirty="0">
              <a:latin typeface="Calibri" panose="020F0502020204030204" pitchFamily="34" charset="0"/>
              <a:ea typeface="Calibri" panose="020F0502020204030204" pitchFamily="34" charset="0"/>
              <a:cs typeface="Calibri" panose="020F0502020204030204" pitchFamily="34" charset="0"/>
            </a:endParaRPr>
          </a:p>
          <a:p>
            <a:pPr marL="127000" indent="0">
              <a:buNone/>
            </a:pPr>
            <a:r>
              <a:rPr lang="en-US" sz="1100" b="1" u="sng" dirty="0">
                <a:latin typeface="Calibri" panose="020F0502020204030204" pitchFamily="34" charset="0"/>
                <a:ea typeface="Calibri" panose="020F0502020204030204" pitchFamily="34" charset="0"/>
                <a:cs typeface="Calibri" panose="020F0502020204030204" pitchFamily="34" charset="0"/>
              </a:rPr>
              <a:t>What was calculated:</a:t>
            </a:r>
            <a:br>
              <a:rPr lang="en-US" sz="1100" dirty="0">
                <a:latin typeface="Calibri" panose="020F0502020204030204" pitchFamily="34" charset="0"/>
                <a:ea typeface="Calibri" panose="020F0502020204030204" pitchFamily="34" charset="0"/>
                <a:cs typeface="Calibri" panose="020F0502020204030204" pitchFamily="34" charset="0"/>
              </a:rPr>
            </a:br>
            <a:r>
              <a:rPr lang="en-US" sz="1100" dirty="0">
                <a:latin typeface="Calibri" panose="020F0502020204030204" pitchFamily="34" charset="0"/>
                <a:ea typeface="Calibri" panose="020F0502020204030204" pitchFamily="34" charset="0"/>
                <a:cs typeface="Calibri" panose="020F0502020204030204" pitchFamily="34" charset="0"/>
              </a:rPr>
              <a:t>Total number of shipments and the number of delayed shipments for each warehouse.</a:t>
            </a:r>
          </a:p>
          <a:p>
            <a:pPr marL="127000" indent="0">
              <a:buNone/>
            </a:pPr>
            <a:endParaRPr lang="en-US" sz="1100" dirty="0">
              <a:latin typeface="Calibri" panose="020F0502020204030204" pitchFamily="34" charset="0"/>
              <a:ea typeface="Calibri" panose="020F0502020204030204" pitchFamily="34" charset="0"/>
              <a:cs typeface="Calibri" panose="020F0502020204030204" pitchFamily="34" charset="0"/>
            </a:endParaRPr>
          </a:p>
          <a:p>
            <a:pPr marL="127000" indent="0">
              <a:buNone/>
            </a:pPr>
            <a:r>
              <a:rPr lang="en-US" sz="1100" b="1" u="sng" dirty="0">
                <a:latin typeface="Calibri" panose="020F0502020204030204" pitchFamily="34" charset="0"/>
                <a:ea typeface="Calibri" panose="020F0502020204030204" pitchFamily="34" charset="0"/>
                <a:cs typeface="Calibri" panose="020F0502020204030204" pitchFamily="34" charset="0"/>
              </a:rPr>
              <a:t>What we got:</a:t>
            </a:r>
            <a:br>
              <a:rPr lang="en-US" sz="1100" dirty="0">
                <a:latin typeface="Calibri" panose="020F0502020204030204" pitchFamily="34" charset="0"/>
                <a:ea typeface="Calibri" panose="020F0502020204030204" pitchFamily="34" charset="0"/>
                <a:cs typeface="Calibri" panose="020F0502020204030204" pitchFamily="34" charset="0"/>
              </a:rPr>
            </a:br>
            <a:r>
              <a:rPr lang="en-US" sz="1100" dirty="0">
                <a:latin typeface="Calibri" panose="020F0502020204030204" pitchFamily="34" charset="0"/>
                <a:ea typeface="Calibri" panose="020F0502020204030204" pitchFamily="34" charset="0"/>
                <a:cs typeface="Calibri" panose="020F0502020204030204" pitchFamily="34" charset="0"/>
              </a:rPr>
              <a:t>This shows how much delay each warehouse contributes, helping distinguish between high-volume issues and true inefficiency.</a:t>
            </a:r>
          </a:p>
          <a:p>
            <a:pPr marL="590550" lvl="1" indent="0">
              <a:buNone/>
            </a:pPr>
            <a:endParaRPr lang="en-US" sz="1200" dirty="0">
              <a:latin typeface="Calibri" panose="020F0502020204030204" pitchFamily="34" charset="0"/>
              <a:ea typeface="Calibri" panose="020F0502020204030204" pitchFamily="34" charset="0"/>
              <a:cs typeface="Calibri" panose="020F0502020204030204" pitchFamily="34" charset="0"/>
            </a:endParaRPr>
          </a:p>
        </p:txBody>
      </p:sp>
      <p:pic>
        <p:nvPicPr>
          <p:cNvPr id="8" name="Picture 7">
            <a:extLst>
              <a:ext uri="{FF2B5EF4-FFF2-40B4-BE49-F238E27FC236}">
                <a16:creationId xmlns:a16="http://schemas.microsoft.com/office/drawing/2014/main" id="{4F76F912-822D-4D7A-B9B8-67D3312EDE1C}"/>
              </a:ext>
            </a:extLst>
          </p:cNvPr>
          <p:cNvPicPr>
            <a:picLocks noChangeAspect="1"/>
          </p:cNvPicPr>
          <p:nvPr/>
        </p:nvPicPr>
        <p:blipFill>
          <a:blip r:embed="rId2"/>
          <a:stretch>
            <a:fillRect/>
          </a:stretch>
        </p:blipFill>
        <p:spPr>
          <a:xfrm>
            <a:off x="5496849" y="968667"/>
            <a:ext cx="3086531" cy="1895740"/>
          </a:xfrm>
          <a:prstGeom prst="rect">
            <a:avLst/>
          </a:prstGeom>
        </p:spPr>
      </p:pic>
    </p:spTree>
    <p:extLst>
      <p:ext uri="{BB962C8B-B14F-4D97-AF65-F5344CB8AC3E}">
        <p14:creationId xmlns:p14="http://schemas.microsoft.com/office/powerpoint/2010/main" val="17374987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3C804E"/>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2D66282A-CD72-48DC-BA72-18781FA29EBA}"/>
              </a:ext>
            </a:extLst>
          </p:cNvPr>
          <p:cNvSpPr>
            <a:spLocks noGrp="1"/>
          </p:cNvSpPr>
          <p:nvPr>
            <p:ph type="body" idx="1"/>
          </p:nvPr>
        </p:nvSpPr>
        <p:spPr>
          <a:xfrm>
            <a:off x="1" y="398437"/>
            <a:ext cx="8698950" cy="4745063"/>
          </a:xfrm>
        </p:spPr>
        <p:txBody>
          <a:bodyPr/>
          <a:lstStyle/>
          <a:p>
            <a:r>
              <a:rPr lang="en-US" sz="1400" dirty="0">
                <a:latin typeface="Calibri" panose="020F0502020204030204" pitchFamily="34" charset="0"/>
                <a:ea typeface="Calibri" panose="020F0502020204030204" pitchFamily="34" charset="0"/>
                <a:cs typeface="Calibri" panose="020F0502020204030204" pitchFamily="34" charset="0"/>
              </a:rPr>
              <a:t>Use CTEs to identify warehouses where average delay exceeds the global average delay</a:t>
            </a:r>
            <a:r>
              <a:rPr lang="en-US" sz="1200" dirty="0"/>
              <a:t>.</a:t>
            </a:r>
          </a:p>
          <a:p>
            <a:pPr marL="127000" indent="0">
              <a:buNone/>
            </a:pPr>
            <a:r>
              <a:rPr lang="en-US" sz="1200" dirty="0"/>
              <a:t> </a:t>
            </a:r>
            <a:endParaRPr lang="en-US" sz="1100" dirty="0">
              <a:latin typeface="Calibri" panose="020F0502020204030204" pitchFamily="34" charset="0"/>
              <a:ea typeface="Calibri" panose="020F0502020204030204" pitchFamily="34" charset="0"/>
              <a:cs typeface="Calibri" panose="020F0502020204030204" pitchFamily="34" charset="0"/>
            </a:endParaRPr>
          </a:p>
          <a:p>
            <a:pPr marL="590550" lvl="1" indent="0">
              <a:buNone/>
            </a:pPr>
            <a:r>
              <a:rPr lang="en-US" sz="1200" dirty="0">
                <a:solidFill>
                  <a:schemeClr val="tx2"/>
                </a:solidFill>
                <a:latin typeface="Calibri" panose="020F0502020204030204" pitchFamily="34" charset="0"/>
                <a:ea typeface="Calibri" panose="020F0502020204030204" pitchFamily="34" charset="0"/>
                <a:cs typeface="Calibri" panose="020F0502020204030204" pitchFamily="34" charset="0"/>
              </a:rPr>
              <a:t>WITH </a:t>
            </a:r>
            <a:r>
              <a:rPr lang="en-US" sz="1200" dirty="0" err="1">
                <a:solidFill>
                  <a:schemeClr val="tx2"/>
                </a:solidFill>
                <a:latin typeface="Calibri" panose="020F0502020204030204" pitchFamily="34" charset="0"/>
                <a:ea typeface="Calibri" panose="020F0502020204030204" pitchFamily="34" charset="0"/>
                <a:cs typeface="Calibri" panose="020F0502020204030204" pitchFamily="34" charset="0"/>
              </a:rPr>
              <a:t>Global_Avg_Delay</a:t>
            </a:r>
            <a:r>
              <a:rPr lang="en-US" sz="1200" dirty="0">
                <a:solidFill>
                  <a:schemeClr val="tx2"/>
                </a:solidFill>
                <a:latin typeface="Calibri" panose="020F0502020204030204" pitchFamily="34" charset="0"/>
                <a:ea typeface="Calibri" panose="020F0502020204030204" pitchFamily="34" charset="0"/>
                <a:cs typeface="Calibri" panose="020F0502020204030204" pitchFamily="34" charset="0"/>
              </a:rPr>
              <a:t> AS (</a:t>
            </a:r>
          </a:p>
          <a:p>
            <a:pPr marL="590550" lvl="1" indent="0">
              <a:buNone/>
            </a:pPr>
            <a:r>
              <a:rPr lang="en-US" sz="1200" dirty="0">
                <a:solidFill>
                  <a:schemeClr val="tx2"/>
                </a:solidFill>
                <a:latin typeface="Calibri" panose="020F0502020204030204" pitchFamily="34" charset="0"/>
                <a:ea typeface="Calibri" panose="020F0502020204030204" pitchFamily="34" charset="0"/>
                <a:cs typeface="Calibri" panose="020F0502020204030204" pitchFamily="34" charset="0"/>
              </a:rPr>
              <a:t>    SELECT </a:t>
            </a:r>
          </a:p>
          <a:p>
            <a:pPr marL="590550" lvl="1" indent="0">
              <a:buNone/>
            </a:pPr>
            <a:r>
              <a:rPr lang="en-US" sz="1200" dirty="0">
                <a:solidFill>
                  <a:schemeClr val="tx2"/>
                </a:solidFill>
                <a:latin typeface="Calibri" panose="020F0502020204030204" pitchFamily="34" charset="0"/>
                <a:ea typeface="Calibri" panose="020F0502020204030204" pitchFamily="34" charset="0"/>
                <a:cs typeface="Calibri" panose="020F0502020204030204" pitchFamily="34" charset="0"/>
              </a:rPr>
              <a:t>        AVG(</a:t>
            </a:r>
            <a:r>
              <a:rPr lang="en-US" sz="1200" dirty="0" err="1">
                <a:solidFill>
                  <a:schemeClr val="tx2"/>
                </a:solidFill>
                <a:latin typeface="Calibri" panose="020F0502020204030204" pitchFamily="34" charset="0"/>
                <a:ea typeface="Calibri" panose="020F0502020204030204" pitchFamily="34" charset="0"/>
                <a:cs typeface="Calibri" panose="020F0502020204030204" pitchFamily="34" charset="0"/>
              </a:rPr>
              <a:t>Delay_Hours</a:t>
            </a:r>
            <a:r>
              <a:rPr lang="en-US" sz="1200" dirty="0">
                <a:solidFill>
                  <a:schemeClr val="tx2"/>
                </a:solidFill>
                <a:latin typeface="Calibri" panose="020F0502020204030204" pitchFamily="34" charset="0"/>
                <a:ea typeface="Calibri" panose="020F0502020204030204" pitchFamily="34" charset="0"/>
                <a:cs typeface="Calibri" panose="020F0502020204030204" pitchFamily="34" charset="0"/>
              </a:rPr>
              <a:t>) AS </a:t>
            </a:r>
            <a:r>
              <a:rPr lang="en-US" sz="1200" dirty="0" err="1">
                <a:solidFill>
                  <a:schemeClr val="tx2"/>
                </a:solidFill>
                <a:latin typeface="Calibri" panose="020F0502020204030204" pitchFamily="34" charset="0"/>
                <a:ea typeface="Calibri" panose="020F0502020204030204" pitchFamily="34" charset="0"/>
                <a:cs typeface="Calibri" panose="020F0502020204030204" pitchFamily="34" charset="0"/>
              </a:rPr>
              <a:t>Global_Avg</a:t>
            </a:r>
            <a:endParaRPr lang="en-US" sz="1200" dirty="0">
              <a:solidFill>
                <a:schemeClr val="tx2"/>
              </a:solidFill>
              <a:latin typeface="Calibri" panose="020F0502020204030204" pitchFamily="34" charset="0"/>
              <a:ea typeface="Calibri" panose="020F0502020204030204" pitchFamily="34" charset="0"/>
              <a:cs typeface="Calibri" panose="020F0502020204030204" pitchFamily="34" charset="0"/>
            </a:endParaRPr>
          </a:p>
          <a:p>
            <a:pPr marL="590550" lvl="1" indent="0">
              <a:buNone/>
            </a:pPr>
            <a:r>
              <a:rPr lang="en-US" sz="1200" dirty="0">
                <a:solidFill>
                  <a:schemeClr val="tx2"/>
                </a:solidFill>
                <a:latin typeface="Calibri" panose="020F0502020204030204" pitchFamily="34" charset="0"/>
                <a:ea typeface="Calibri" panose="020F0502020204030204" pitchFamily="34" charset="0"/>
                <a:cs typeface="Calibri" panose="020F0502020204030204" pitchFamily="34" charset="0"/>
              </a:rPr>
              <a:t>    FROM Shipments</a:t>
            </a:r>
          </a:p>
          <a:p>
            <a:pPr marL="590550" lvl="1" indent="0">
              <a:buNone/>
            </a:pPr>
            <a:r>
              <a:rPr lang="en-US" sz="1200" dirty="0">
                <a:solidFill>
                  <a:schemeClr val="tx2"/>
                </a:solidFill>
                <a:latin typeface="Calibri" panose="020F0502020204030204" pitchFamily="34" charset="0"/>
                <a:ea typeface="Calibri" panose="020F0502020204030204" pitchFamily="34" charset="0"/>
                <a:cs typeface="Calibri" panose="020F0502020204030204" pitchFamily="34" charset="0"/>
              </a:rPr>
              <a:t>),</a:t>
            </a:r>
          </a:p>
          <a:p>
            <a:pPr marL="590550" lvl="1" indent="0">
              <a:buNone/>
            </a:pPr>
            <a:r>
              <a:rPr lang="en-US" sz="1200" dirty="0" err="1">
                <a:solidFill>
                  <a:schemeClr val="tx2"/>
                </a:solidFill>
                <a:latin typeface="Calibri" panose="020F0502020204030204" pitchFamily="34" charset="0"/>
                <a:ea typeface="Calibri" panose="020F0502020204030204" pitchFamily="34" charset="0"/>
                <a:cs typeface="Calibri" panose="020F0502020204030204" pitchFamily="34" charset="0"/>
              </a:rPr>
              <a:t>Warehouse_Avg_Delay</a:t>
            </a:r>
            <a:r>
              <a:rPr lang="en-US" sz="1200" dirty="0">
                <a:solidFill>
                  <a:schemeClr val="tx2"/>
                </a:solidFill>
                <a:latin typeface="Calibri" panose="020F0502020204030204" pitchFamily="34" charset="0"/>
                <a:ea typeface="Calibri" panose="020F0502020204030204" pitchFamily="34" charset="0"/>
                <a:cs typeface="Calibri" panose="020F0502020204030204" pitchFamily="34" charset="0"/>
              </a:rPr>
              <a:t> AS (</a:t>
            </a:r>
          </a:p>
          <a:p>
            <a:pPr marL="590550" lvl="1" indent="0">
              <a:buNone/>
            </a:pPr>
            <a:r>
              <a:rPr lang="en-US" sz="1200" dirty="0">
                <a:solidFill>
                  <a:schemeClr val="tx2"/>
                </a:solidFill>
                <a:latin typeface="Calibri" panose="020F0502020204030204" pitchFamily="34" charset="0"/>
                <a:ea typeface="Calibri" panose="020F0502020204030204" pitchFamily="34" charset="0"/>
                <a:cs typeface="Calibri" panose="020F0502020204030204" pitchFamily="34" charset="0"/>
              </a:rPr>
              <a:t>    SELECT</a:t>
            </a:r>
          </a:p>
          <a:p>
            <a:pPr marL="590550" lvl="1" indent="0">
              <a:buNone/>
            </a:pPr>
            <a:r>
              <a:rPr lang="en-US" sz="1200" dirty="0">
                <a:solidFill>
                  <a:schemeClr val="tx2"/>
                </a:solidFill>
                <a:latin typeface="Calibri" panose="020F0502020204030204" pitchFamily="34" charset="0"/>
                <a:ea typeface="Calibri" panose="020F0502020204030204" pitchFamily="34" charset="0"/>
                <a:cs typeface="Calibri" panose="020F0502020204030204" pitchFamily="34" charset="0"/>
              </a:rPr>
              <a:t>        </a:t>
            </a:r>
            <a:r>
              <a:rPr lang="en-US" sz="1200" dirty="0" err="1">
                <a:solidFill>
                  <a:schemeClr val="tx2"/>
                </a:solidFill>
                <a:latin typeface="Calibri" panose="020F0502020204030204" pitchFamily="34" charset="0"/>
                <a:ea typeface="Calibri" panose="020F0502020204030204" pitchFamily="34" charset="0"/>
                <a:cs typeface="Calibri" panose="020F0502020204030204" pitchFamily="34" charset="0"/>
              </a:rPr>
              <a:t>Warehouse_ID</a:t>
            </a:r>
            <a:r>
              <a:rPr lang="en-US" sz="1200" dirty="0">
                <a:solidFill>
                  <a:schemeClr val="tx2"/>
                </a:solidFill>
                <a:latin typeface="Calibri" panose="020F0502020204030204" pitchFamily="34" charset="0"/>
                <a:ea typeface="Calibri" panose="020F0502020204030204" pitchFamily="34" charset="0"/>
                <a:cs typeface="Calibri" panose="020F0502020204030204" pitchFamily="34" charset="0"/>
              </a:rPr>
              <a:t>,</a:t>
            </a:r>
          </a:p>
          <a:p>
            <a:pPr marL="590550" lvl="1" indent="0">
              <a:buNone/>
            </a:pPr>
            <a:r>
              <a:rPr lang="en-US" sz="1200" dirty="0">
                <a:solidFill>
                  <a:schemeClr val="tx2"/>
                </a:solidFill>
                <a:latin typeface="Calibri" panose="020F0502020204030204" pitchFamily="34" charset="0"/>
                <a:ea typeface="Calibri" panose="020F0502020204030204" pitchFamily="34" charset="0"/>
                <a:cs typeface="Calibri" panose="020F0502020204030204" pitchFamily="34" charset="0"/>
              </a:rPr>
              <a:t>        AVG(</a:t>
            </a:r>
            <a:r>
              <a:rPr lang="en-US" sz="1200" dirty="0" err="1">
                <a:solidFill>
                  <a:schemeClr val="tx2"/>
                </a:solidFill>
                <a:latin typeface="Calibri" panose="020F0502020204030204" pitchFamily="34" charset="0"/>
                <a:ea typeface="Calibri" panose="020F0502020204030204" pitchFamily="34" charset="0"/>
                <a:cs typeface="Calibri" panose="020F0502020204030204" pitchFamily="34" charset="0"/>
              </a:rPr>
              <a:t>Delay_Hours</a:t>
            </a:r>
            <a:r>
              <a:rPr lang="en-US" sz="1200" dirty="0">
                <a:solidFill>
                  <a:schemeClr val="tx2"/>
                </a:solidFill>
                <a:latin typeface="Calibri" panose="020F0502020204030204" pitchFamily="34" charset="0"/>
                <a:ea typeface="Calibri" panose="020F0502020204030204" pitchFamily="34" charset="0"/>
                <a:cs typeface="Calibri" panose="020F0502020204030204" pitchFamily="34" charset="0"/>
              </a:rPr>
              <a:t>) AS </a:t>
            </a:r>
            <a:r>
              <a:rPr lang="en-US" sz="1200" dirty="0" err="1">
                <a:solidFill>
                  <a:schemeClr val="tx2"/>
                </a:solidFill>
                <a:latin typeface="Calibri" panose="020F0502020204030204" pitchFamily="34" charset="0"/>
                <a:ea typeface="Calibri" panose="020F0502020204030204" pitchFamily="34" charset="0"/>
                <a:cs typeface="Calibri" panose="020F0502020204030204" pitchFamily="34" charset="0"/>
              </a:rPr>
              <a:t>Warehouse_Avg</a:t>
            </a:r>
            <a:endParaRPr lang="en-US" sz="1200" dirty="0">
              <a:solidFill>
                <a:schemeClr val="tx2"/>
              </a:solidFill>
              <a:latin typeface="Calibri" panose="020F0502020204030204" pitchFamily="34" charset="0"/>
              <a:ea typeface="Calibri" panose="020F0502020204030204" pitchFamily="34" charset="0"/>
              <a:cs typeface="Calibri" panose="020F0502020204030204" pitchFamily="34" charset="0"/>
            </a:endParaRPr>
          </a:p>
          <a:p>
            <a:pPr marL="590550" lvl="1" indent="0">
              <a:buNone/>
            </a:pPr>
            <a:r>
              <a:rPr lang="en-US" sz="1200" dirty="0">
                <a:solidFill>
                  <a:schemeClr val="tx2"/>
                </a:solidFill>
                <a:latin typeface="Calibri" panose="020F0502020204030204" pitchFamily="34" charset="0"/>
                <a:ea typeface="Calibri" panose="020F0502020204030204" pitchFamily="34" charset="0"/>
                <a:cs typeface="Calibri" panose="020F0502020204030204" pitchFamily="34" charset="0"/>
              </a:rPr>
              <a:t>    FROM Shipments</a:t>
            </a:r>
          </a:p>
          <a:p>
            <a:pPr marL="590550" lvl="1" indent="0">
              <a:buNone/>
            </a:pPr>
            <a:r>
              <a:rPr lang="en-US" sz="1200" dirty="0">
                <a:solidFill>
                  <a:schemeClr val="tx2"/>
                </a:solidFill>
                <a:latin typeface="Calibri" panose="020F0502020204030204" pitchFamily="34" charset="0"/>
                <a:ea typeface="Calibri" panose="020F0502020204030204" pitchFamily="34" charset="0"/>
                <a:cs typeface="Calibri" panose="020F0502020204030204" pitchFamily="34" charset="0"/>
              </a:rPr>
              <a:t>    GROUP BY </a:t>
            </a:r>
            <a:r>
              <a:rPr lang="en-US" sz="1200" dirty="0" err="1">
                <a:solidFill>
                  <a:schemeClr val="tx2"/>
                </a:solidFill>
                <a:latin typeface="Calibri" panose="020F0502020204030204" pitchFamily="34" charset="0"/>
                <a:ea typeface="Calibri" panose="020F0502020204030204" pitchFamily="34" charset="0"/>
                <a:cs typeface="Calibri" panose="020F0502020204030204" pitchFamily="34" charset="0"/>
              </a:rPr>
              <a:t>Warehouse_ID</a:t>
            </a:r>
            <a:endParaRPr lang="en-US" sz="1200" dirty="0">
              <a:solidFill>
                <a:schemeClr val="tx2"/>
              </a:solidFill>
              <a:latin typeface="Calibri" panose="020F0502020204030204" pitchFamily="34" charset="0"/>
              <a:ea typeface="Calibri" panose="020F0502020204030204" pitchFamily="34" charset="0"/>
              <a:cs typeface="Calibri" panose="020F0502020204030204" pitchFamily="34" charset="0"/>
            </a:endParaRPr>
          </a:p>
          <a:p>
            <a:pPr marL="590550" lvl="1" indent="0">
              <a:buNone/>
            </a:pPr>
            <a:r>
              <a:rPr lang="en-US" sz="1200" dirty="0">
                <a:solidFill>
                  <a:schemeClr val="tx2"/>
                </a:solidFill>
                <a:latin typeface="Calibri" panose="020F0502020204030204" pitchFamily="34" charset="0"/>
                <a:ea typeface="Calibri" panose="020F0502020204030204" pitchFamily="34" charset="0"/>
                <a:cs typeface="Calibri" panose="020F0502020204030204" pitchFamily="34" charset="0"/>
              </a:rPr>
              <a:t>)</a:t>
            </a:r>
          </a:p>
          <a:p>
            <a:pPr marL="590550" lvl="1" indent="0">
              <a:buNone/>
            </a:pPr>
            <a:r>
              <a:rPr lang="en-US" sz="1200" dirty="0">
                <a:solidFill>
                  <a:schemeClr val="tx2"/>
                </a:solidFill>
                <a:latin typeface="Calibri" panose="020F0502020204030204" pitchFamily="34" charset="0"/>
                <a:ea typeface="Calibri" panose="020F0502020204030204" pitchFamily="34" charset="0"/>
                <a:cs typeface="Calibri" panose="020F0502020204030204" pitchFamily="34" charset="0"/>
              </a:rPr>
              <a:t>SELECT</a:t>
            </a:r>
          </a:p>
          <a:p>
            <a:pPr marL="590550" lvl="1" indent="0">
              <a:buNone/>
            </a:pPr>
            <a:r>
              <a:rPr lang="en-US" sz="1200" dirty="0">
                <a:solidFill>
                  <a:schemeClr val="tx2"/>
                </a:solidFill>
                <a:latin typeface="Calibri" panose="020F0502020204030204" pitchFamily="34" charset="0"/>
                <a:ea typeface="Calibri" panose="020F0502020204030204" pitchFamily="34" charset="0"/>
                <a:cs typeface="Calibri" panose="020F0502020204030204" pitchFamily="34" charset="0"/>
              </a:rPr>
              <a:t>    </a:t>
            </a:r>
            <a:r>
              <a:rPr lang="en-US" sz="1200" dirty="0" err="1">
                <a:solidFill>
                  <a:schemeClr val="tx2"/>
                </a:solidFill>
                <a:latin typeface="Calibri" panose="020F0502020204030204" pitchFamily="34" charset="0"/>
                <a:ea typeface="Calibri" panose="020F0502020204030204" pitchFamily="34" charset="0"/>
                <a:cs typeface="Calibri" panose="020F0502020204030204" pitchFamily="34" charset="0"/>
              </a:rPr>
              <a:t>w.Warehouse_ID</a:t>
            </a:r>
            <a:r>
              <a:rPr lang="en-US" sz="1200" dirty="0">
                <a:solidFill>
                  <a:schemeClr val="tx2"/>
                </a:solidFill>
                <a:latin typeface="Calibri" panose="020F0502020204030204" pitchFamily="34" charset="0"/>
                <a:ea typeface="Calibri" panose="020F0502020204030204" pitchFamily="34" charset="0"/>
                <a:cs typeface="Calibri" panose="020F0502020204030204" pitchFamily="34" charset="0"/>
              </a:rPr>
              <a:t>,</a:t>
            </a:r>
          </a:p>
          <a:p>
            <a:pPr marL="590550" lvl="1" indent="0">
              <a:buNone/>
            </a:pPr>
            <a:r>
              <a:rPr lang="en-US" sz="1200" dirty="0">
                <a:solidFill>
                  <a:schemeClr val="tx2"/>
                </a:solidFill>
                <a:latin typeface="Calibri" panose="020F0502020204030204" pitchFamily="34" charset="0"/>
                <a:ea typeface="Calibri" panose="020F0502020204030204" pitchFamily="34" charset="0"/>
                <a:cs typeface="Calibri" panose="020F0502020204030204" pitchFamily="34" charset="0"/>
              </a:rPr>
              <a:t>    </a:t>
            </a:r>
            <a:r>
              <a:rPr lang="en-US" sz="1200" dirty="0" err="1">
                <a:solidFill>
                  <a:schemeClr val="tx2"/>
                </a:solidFill>
                <a:latin typeface="Calibri" panose="020F0502020204030204" pitchFamily="34" charset="0"/>
                <a:ea typeface="Calibri" panose="020F0502020204030204" pitchFamily="34" charset="0"/>
                <a:cs typeface="Calibri" panose="020F0502020204030204" pitchFamily="34" charset="0"/>
              </a:rPr>
              <a:t>w.City</a:t>
            </a:r>
            <a:r>
              <a:rPr lang="en-US" sz="1200" dirty="0">
                <a:solidFill>
                  <a:schemeClr val="tx2"/>
                </a:solidFill>
                <a:latin typeface="Calibri" panose="020F0502020204030204" pitchFamily="34" charset="0"/>
                <a:ea typeface="Calibri" panose="020F0502020204030204" pitchFamily="34" charset="0"/>
                <a:cs typeface="Calibri" panose="020F0502020204030204" pitchFamily="34" charset="0"/>
              </a:rPr>
              <a:t>,</a:t>
            </a:r>
          </a:p>
          <a:p>
            <a:pPr marL="590550" lvl="1" indent="0">
              <a:buNone/>
            </a:pPr>
            <a:r>
              <a:rPr lang="en-US" sz="1200" dirty="0">
                <a:solidFill>
                  <a:schemeClr val="tx2"/>
                </a:solidFill>
                <a:latin typeface="Calibri" panose="020F0502020204030204" pitchFamily="34" charset="0"/>
                <a:ea typeface="Calibri" panose="020F0502020204030204" pitchFamily="34" charset="0"/>
                <a:cs typeface="Calibri" panose="020F0502020204030204" pitchFamily="34" charset="0"/>
              </a:rPr>
              <a:t>    </a:t>
            </a:r>
            <a:r>
              <a:rPr lang="en-US" sz="1200" dirty="0" err="1">
                <a:solidFill>
                  <a:schemeClr val="tx2"/>
                </a:solidFill>
                <a:latin typeface="Calibri" panose="020F0502020204030204" pitchFamily="34" charset="0"/>
                <a:ea typeface="Calibri" panose="020F0502020204030204" pitchFamily="34" charset="0"/>
                <a:cs typeface="Calibri" panose="020F0502020204030204" pitchFamily="34" charset="0"/>
              </a:rPr>
              <a:t>w.Country</a:t>
            </a:r>
            <a:r>
              <a:rPr lang="en-US" sz="1200" dirty="0">
                <a:solidFill>
                  <a:schemeClr val="tx2"/>
                </a:solidFill>
                <a:latin typeface="Calibri" panose="020F0502020204030204" pitchFamily="34" charset="0"/>
                <a:ea typeface="Calibri" panose="020F0502020204030204" pitchFamily="34" charset="0"/>
                <a:cs typeface="Calibri" panose="020F0502020204030204" pitchFamily="34" charset="0"/>
              </a:rPr>
              <a:t>,</a:t>
            </a:r>
          </a:p>
          <a:p>
            <a:pPr marL="590550" lvl="1" indent="0">
              <a:buNone/>
            </a:pPr>
            <a:r>
              <a:rPr lang="en-US" sz="1200" dirty="0">
                <a:solidFill>
                  <a:schemeClr val="tx2"/>
                </a:solidFill>
                <a:latin typeface="Calibri" panose="020F0502020204030204" pitchFamily="34" charset="0"/>
                <a:ea typeface="Calibri" panose="020F0502020204030204" pitchFamily="34" charset="0"/>
                <a:cs typeface="Calibri" panose="020F0502020204030204" pitchFamily="34" charset="0"/>
              </a:rPr>
              <a:t>    ROUND(</a:t>
            </a:r>
            <a:r>
              <a:rPr lang="en-US" sz="1200" dirty="0" err="1">
                <a:solidFill>
                  <a:schemeClr val="tx2"/>
                </a:solidFill>
                <a:latin typeface="Calibri" panose="020F0502020204030204" pitchFamily="34" charset="0"/>
                <a:ea typeface="Calibri" panose="020F0502020204030204" pitchFamily="34" charset="0"/>
                <a:cs typeface="Calibri" panose="020F0502020204030204" pitchFamily="34" charset="0"/>
              </a:rPr>
              <a:t>wad.Warehouse_Avg</a:t>
            </a:r>
            <a:r>
              <a:rPr lang="en-US" sz="1200" dirty="0">
                <a:solidFill>
                  <a:schemeClr val="tx2"/>
                </a:solidFill>
                <a:latin typeface="Calibri" panose="020F0502020204030204" pitchFamily="34" charset="0"/>
                <a:ea typeface="Calibri" panose="020F0502020204030204" pitchFamily="34" charset="0"/>
                <a:cs typeface="Calibri" panose="020F0502020204030204" pitchFamily="34" charset="0"/>
              </a:rPr>
              <a:t>, 2) AS </a:t>
            </a:r>
            <a:r>
              <a:rPr lang="en-US" sz="1200" dirty="0" err="1">
                <a:solidFill>
                  <a:schemeClr val="tx2"/>
                </a:solidFill>
                <a:latin typeface="Calibri" panose="020F0502020204030204" pitchFamily="34" charset="0"/>
                <a:ea typeface="Calibri" panose="020F0502020204030204" pitchFamily="34" charset="0"/>
                <a:cs typeface="Calibri" panose="020F0502020204030204" pitchFamily="34" charset="0"/>
              </a:rPr>
              <a:t>Warehouse_Avg_Delay</a:t>
            </a:r>
            <a:r>
              <a:rPr lang="en-US" sz="1200" dirty="0">
                <a:solidFill>
                  <a:schemeClr val="tx2"/>
                </a:solidFill>
                <a:latin typeface="Calibri" panose="020F0502020204030204" pitchFamily="34" charset="0"/>
                <a:ea typeface="Calibri" panose="020F0502020204030204" pitchFamily="34" charset="0"/>
                <a:cs typeface="Calibri" panose="020F0502020204030204" pitchFamily="34" charset="0"/>
              </a:rPr>
              <a:t>,</a:t>
            </a:r>
          </a:p>
          <a:p>
            <a:pPr marL="590550" lvl="1" indent="0">
              <a:buNone/>
            </a:pPr>
            <a:r>
              <a:rPr lang="en-US" sz="1200" dirty="0">
                <a:solidFill>
                  <a:schemeClr val="tx2"/>
                </a:solidFill>
                <a:latin typeface="Calibri" panose="020F0502020204030204" pitchFamily="34" charset="0"/>
                <a:ea typeface="Calibri" panose="020F0502020204030204" pitchFamily="34" charset="0"/>
                <a:cs typeface="Calibri" panose="020F0502020204030204" pitchFamily="34" charset="0"/>
              </a:rPr>
              <a:t>    ROUND(</a:t>
            </a:r>
            <a:r>
              <a:rPr lang="en-US" sz="1200" dirty="0" err="1">
                <a:solidFill>
                  <a:schemeClr val="tx2"/>
                </a:solidFill>
                <a:latin typeface="Calibri" panose="020F0502020204030204" pitchFamily="34" charset="0"/>
                <a:ea typeface="Calibri" panose="020F0502020204030204" pitchFamily="34" charset="0"/>
                <a:cs typeface="Calibri" panose="020F0502020204030204" pitchFamily="34" charset="0"/>
              </a:rPr>
              <a:t>gad.Global_Avg</a:t>
            </a:r>
            <a:r>
              <a:rPr lang="en-US" sz="1200" dirty="0">
                <a:solidFill>
                  <a:schemeClr val="tx2"/>
                </a:solidFill>
                <a:latin typeface="Calibri" panose="020F0502020204030204" pitchFamily="34" charset="0"/>
                <a:ea typeface="Calibri" panose="020F0502020204030204" pitchFamily="34" charset="0"/>
                <a:cs typeface="Calibri" panose="020F0502020204030204" pitchFamily="34" charset="0"/>
              </a:rPr>
              <a:t>, 2) AS </a:t>
            </a:r>
            <a:r>
              <a:rPr lang="en-US" sz="1200" dirty="0" err="1">
                <a:solidFill>
                  <a:schemeClr val="tx2"/>
                </a:solidFill>
                <a:latin typeface="Calibri" panose="020F0502020204030204" pitchFamily="34" charset="0"/>
                <a:ea typeface="Calibri" panose="020F0502020204030204" pitchFamily="34" charset="0"/>
                <a:cs typeface="Calibri" panose="020F0502020204030204" pitchFamily="34" charset="0"/>
              </a:rPr>
              <a:t>Global_Avg_Delay</a:t>
            </a:r>
            <a:endParaRPr lang="en-US" sz="1200" dirty="0">
              <a:solidFill>
                <a:schemeClr val="tx2"/>
              </a:solidFill>
              <a:latin typeface="Calibri" panose="020F0502020204030204" pitchFamily="34" charset="0"/>
              <a:ea typeface="Calibri" panose="020F0502020204030204" pitchFamily="34" charset="0"/>
              <a:cs typeface="Calibri" panose="020F0502020204030204" pitchFamily="34" charset="0"/>
            </a:endParaRPr>
          </a:p>
          <a:p>
            <a:pPr marL="590550" lvl="1" indent="0">
              <a:buNone/>
            </a:pPr>
            <a:r>
              <a:rPr lang="en-US" sz="1200" dirty="0">
                <a:solidFill>
                  <a:schemeClr val="tx2"/>
                </a:solidFill>
                <a:latin typeface="Calibri" panose="020F0502020204030204" pitchFamily="34" charset="0"/>
                <a:ea typeface="Calibri" panose="020F0502020204030204" pitchFamily="34" charset="0"/>
                <a:cs typeface="Calibri" panose="020F0502020204030204" pitchFamily="34" charset="0"/>
              </a:rPr>
              <a:t>FROM </a:t>
            </a:r>
            <a:r>
              <a:rPr lang="en-US" sz="1200" dirty="0" err="1">
                <a:solidFill>
                  <a:schemeClr val="tx2"/>
                </a:solidFill>
                <a:latin typeface="Calibri" panose="020F0502020204030204" pitchFamily="34" charset="0"/>
                <a:ea typeface="Calibri" panose="020F0502020204030204" pitchFamily="34" charset="0"/>
                <a:cs typeface="Calibri" panose="020F0502020204030204" pitchFamily="34" charset="0"/>
              </a:rPr>
              <a:t>Warehouse_Avg_Delay</a:t>
            </a:r>
            <a:r>
              <a:rPr lang="en-US" sz="1200" dirty="0">
                <a:solidFill>
                  <a:schemeClr val="tx2"/>
                </a:solidFill>
                <a:latin typeface="Calibri" panose="020F0502020204030204" pitchFamily="34" charset="0"/>
                <a:ea typeface="Calibri" panose="020F0502020204030204" pitchFamily="34" charset="0"/>
                <a:cs typeface="Calibri" panose="020F0502020204030204" pitchFamily="34" charset="0"/>
              </a:rPr>
              <a:t> wad</a:t>
            </a:r>
          </a:p>
          <a:p>
            <a:pPr marL="590550" lvl="1" indent="0">
              <a:buNone/>
            </a:pPr>
            <a:r>
              <a:rPr lang="en-US" sz="1200" dirty="0">
                <a:solidFill>
                  <a:schemeClr val="tx2"/>
                </a:solidFill>
                <a:latin typeface="Calibri" panose="020F0502020204030204" pitchFamily="34" charset="0"/>
                <a:ea typeface="Calibri" panose="020F0502020204030204" pitchFamily="34" charset="0"/>
                <a:cs typeface="Calibri" panose="020F0502020204030204" pitchFamily="34" charset="0"/>
              </a:rPr>
              <a:t>JOIN Warehouses w</a:t>
            </a:r>
          </a:p>
          <a:p>
            <a:pPr marL="590550" lvl="1" indent="0">
              <a:buNone/>
            </a:pPr>
            <a:r>
              <a:rPr lang="en-US" sz="1200" dirty="0">
                <a:solidFill>
                  <a:schemeClr val="tx2"/>
                </a:solidFill>
                <a:latin typeface="Calibri" panose="020F0502020204030204" pitchFamily="34" charset="0"/>
                <a:ea typeface="Calibri" panose="020F0502020204030204" pitchFamily="34" charset="0"/>
                <a:cs typeface="Calibri" panose="020F0502020204030204" pitchFamily="34" charset="0"/>
              </a:rPr>
              <a:t>    ON </a:t>
            </a:r>
            <a:r>
              <a:rPr lang="en-US" sz="1200" dirty="0" err="1">
                <a:solidFill>
                  <a:schemeClr val="tx2"/>
                </a:solidFill>
                <a:latin typeface="Calibri" panose="020F0502020204030204" pitchFamily="34" charset="0"/>
                <a:ea typeface="Calibri" panose="020F0502020204030204" pitchFamily="34" charset="0"/>
                <a:cs typeface="Calibri" panose="020F0502020204030204" pitchFamily="34" charset="0"/>
              </a:rPr>
              <a:t>wad.Warehouse_ID</a:t>
            </a:r>
            <a:r>
              <a:rPr lang="en-US" sz="1200" dirty="0">
                <a:solidFill>
                  <a:schemeClr val="tx2"/>
                </a:solidFill>
                <a:latin typeface="Calibri" panose="020F0502020204030204" pitchFamily="34" charset="0"/>
                <a:ea typeface="Calibri" panose="020F0502020204030204" pitchFamily="34" charset="0"/>
                <a:cs typeface="Calibri" panose="020F0502020204030204" pitchFamily="34" charset="0"/>
              </a:rPr>
              <a:t> = </a:t>
            </a:r>
            <a:r>
              <a:rPr lang="en-US" sz="1200" dirty="0" err="1">
                <a:solidFill>
                  <a:schemeClr val="tx2"/>
                </a:solidFill>
                <a:latin typeface="Calibri" panose="020F0502020204030204" pitchFamily="34" charset="0"/>
                <a:ea typeface="Calibri" panose="020F0502020204030204" pitchFamily="34" charset="0"/>
                <a:cs typeface="Calibri" panose="020F0502020204030204" pitchFamily="34" charset="0"/>
              </a:rPr>
              <a:t>w.Warehouse_ID</a:t>
            </a:r>
            <a:endParaRPr lang="en-US" sz="1200" dirty="0">
              <a:solidFill>
                <a:schemeClr val="tx2"/>
              </a:solidFill>
              <a:latin typeface="Calibri" panose="020F0502020204030204" pitchFamily="34" charset="0"/>
              <a:ea typeface="Calibri" panose="020F0502020204030204" pitchFamily="34" charset="0"/>
              <a:cs typeface="Calibri" panose="020F0502020204030204" pitchFamily="34" charset="0"/>
            </a:endParaRPr>
          </a:p>
          <a:p>
            <a:pPr marL="590550" lvl="1" indent="0">
              <a:buNone/>
            </a:pPr>
            <a:r>
              <a:rPr lang="en-US" sz="1200" dirty="0">
                <a:solidFill>
                  <a:schemeClr val="tx2"/>
                </a:solidFill>
                <a:latin typeface="Calibri" panose="020F0502020204030204" pitchFamily="34" charset="0"/>
                <a:ea typeface="Calibri" panose="020F0502020204030204" pitchFamily="34" charset="0"/>
                <a:cs typeface="Calibri" panose="020F0502020204030204" pitchFamily="34" charset="0"/>
              </a:rPr>
              <a:t>CROSS JOIN </a:t>
            </a:r>
            <a:r>
              <a:rPr lang="en-US" sz="1200" dirty="0" err="1">
                <a:solidFill>
                  <a:schemeClr val="tx2"/>
                </a:solidFill>
                <a:latin typeface="Calibri" panose="020F0502020204030204" pitchFamily="34" charset="0"/>
                <a:ea typeface="Calibri" panose="020F0502020204030204" pitchFamily="34" charset="0"/>
                <a:cs typeface="Calibri" panose="020F0502020204030204" pitchFamily="34" charset="0"/>
              </a:rPr>
              <a:t>Global_Avg_Delay</a:t>
            </a:r>
            <a:r>
              <a:rPr lang="en-US" sz="1200" dirty="0">
                <a:solidFill>
                  <a:schemeClr val="tx2"/>
                </a:solidFill>
                <a:latin typeface="Calibri" panose="020F0502020204030204" pitchFamily="34" charset="0"/>
                <a:ea typeface="Calibri" panose="020F0502020204030204" pitchFamily="34" charset="0"/>
                <a:cs typeface="Calibri" panose="020F0502020204030204" pitchFamily="34" charset="0"/>
              </a:rPr>
              <a:t> gad</a:t>
            </a:r>
          </a:p>
          <a:p>
            <a:pPr marL="590550" lvl="1" indent="0">
              <a:buNone/>
            </a:pPr>
            <a:r>
              <a:rPr lang="en-US" sz="1200" dirty="0">
                <a:solidFill>
                  <a:schemeClr val="tx2"/>
                </a:solidFill>
                <a:latin typeface="Calibri" panose="020F0502020204030204" pitchFamily="34" charset="0"/>
                <a:ea typeface="Calibri" panose="020F0502020204030204" pitchFamily="34" charset="0"/>
                <a:cs typeface="Calibri" panose="020F0502020204030204" pitchFamily="34" charset="0"/>
              </a:rPr>
              <a:t>WHERE </a:t>
            </a:r>
            <a:r>
              <a:rPr lang="en-US" sz="1200" dirty="0" err="1">
                <a:solidFill>
                  <a:schemeClr val="tx2"/>
                </a:solidFill>
                <a:latin typeface="Calibri" panose="020F0502020204030204" pitchFamily="34" charset="0"/>
                <a:ea typeface="Calibri" panose="020F0502020204030204" pitchFamily="34" charset="0"/>
                <a:cs typeface="Calibri" panose="020F0502020204030204" pitchFamily="34" charset="0"/>
              </a:rPr>
              <a:t>wad.Warehouse_Avg</a:t>
            </a:r>
            <a:r>
              <a:rPr lang="en-US" sz="1200" dirty="0">
                <a:solidFill>
                  <a:schemeClr val="tx2"/>
                </a:solidFill>
                <a:latin typeface="Calibri" panose="020F0502020204030204" pitchFamily="34" charset="0"/>
                <a:ea typeface="Calibri" panose="020F0502020204030204" pitchFamily="34" charset="0"/>
                <a:cs typeface="Calibri" panose="020F0502020204030204" pitchFamily="34" charset="0"/>
              </a:rPr>
              <a:t> &gt; </a:t>
            </a:r>
            <a:r>
              <a:rPr lang="en-US" sz="1200" dirty="0" err="1">
                <a:solidFill>
                  <a:schemeClr val="tx2"/>
                </a:solidFill>
                <a:latin typeface="Calibri" panose="020F0502020204030204" pitchFamily="34" charset="0"/>
                <a:ea typeface="Calibri" panose="020F0502020204030204" pitchFamily="34" charset="0"/>
                <a:cs typeface="Calibri" panose="020F0502020204030204" pitchFamily="34" charset="0"/>
              </a:rPr>
              <a:t>gad.Global_Avg</a:t>
            </a:r>
            <a:r>
              <a:rPr lang="en-US" sz="1200" dirty="0">
                <a:solidFill>
                  <a:schemeClr val="tx2"/>
                </a:solidFill>
                <a:latin typeface="Calibri" panose="020F0502020204030204" pitchFamily="34" charset="0"/>
                <a:ea typeface="Calibri" panose="020F0502020204030204" pitchFamily="34" charset="0"/>
                <a:cs typeface="Calibri" panose="020F0502020204030204" pitchFamily="34" charset="0"/>
              </a:rPr>
              <a:t>;</a:t>
            </a:r>
          </a:p>
          <a:p>
            <a:pPr marL="590550" lvl="1" indent="0">
              <a:buNone/>
            </a:pPr>
            <a:endParaRPr lang="en-US" sz="1100" dirty="0">
              <a:latin typeface="Calibri" panose="020F0502020204030204" pitchFamily="34" charset="0"/>
              <a:ea typeface="Calibri" panose="020F0502020204030204" pitchFamily="34" charset="0"/>
              <a:cs typeface="Calibri" panose="020F0502020204030204" pitchFamily="34" charset="0"/>
            </a:endParaRPr>
          </a:p>
          <a:p>
            <a:pPr marL="590550" lvl="1" indent="0">
              <a:buNone/>
            </a:pPr>
            <a:endParaRPr lang="en-US" sz="1200" dirty="0">
              <a:latin typeface="Calibri" panose="020F0502020204030204" pitchFamily="34" charset="0"/>
              <a:ea typeface="Calibri" panose="020F0502020204030204" pitchFamily="34" charset="0"/>
              <a:cs typeface="Calibri" panose="020F0502020204030204" pitchFamily="34" charset="0"/>
            </a:endParaRPr>
          </a:p>
        </p:txBody>
      </p:sp>
      <p:pic>
        <p:nvPicPr>
          <p:cNvPr id="4" name="Picture 3">
            <a:extLst>
              <a:ext uri="{FF2B5EF4-FFF2-40B4-BE49-F238E27FC236}">
                <a16:creationId xmlns:a16="http://schemas.microsoft.com/office/drawing/2014/main" id="{246A862D-2C70-4DC2-AC60-1958021AA32E}"/>
              </a:ext>
            </a:extLst>
          </p:cNvPr>
          <p:cNvPicPr>
            <a:picLocks noChangeAspect="1"/>
          </p:cNvPicPr>
          <p:nvPr/>
        </p:nvPicPr>
        <p:blipFill>
          <a:blip r:embed="rId2"/>
          <a:stretch>
            <a:fillRect/>
          </a:stretch>
        </p:blipFill>
        <p:spPr>
          <a:xfrm>
            <a:off x="4036670" y="1295637"/>
            <a:ext cx="4906060" cy="1152686"/>
          </a:xfrm>
          <a:prstGeom prst="rect">
            <a:avLst/>
          </a:prstGeom>
        </p:spPr>
      </p:pic>
      <p:sp>
        <p:nvSpPr>
          <p:cNvPr id="5" name="TextBox 4">
            <a:extLst>
              <a:ext uri="{FF2B5EF4-FFF2-40B4-BE49-F238E27FC236}">
                <a16:creationId xmlns:a16="http://schemas.microsoft.com/office/drawing/2014/main" id="{D1E9EA9B-7E9A-4CC5-9E12-9536E781902A}"/>
              </a:ext>
            </a:extLst>
          </p:cNvPr>
          <p:cNvSpPr txBox="1"/>
          <p:nvPr/>
        </p:nvSpPr>
        <p:spPr>
          <a:xfrm>
            <a:off x="4905375" y="2770968"/>
            <a:ext cx="3517351" cy="1785104"/>
          </a:xfrm>
          <a:prstGeom prst="rect">
            <a:avLst/>
          </a:prstGeom>
          <a:noFill/>
        </p:spPr>
        <p:txBody>
          <a:bodyPr wrap="square" rtlCol="0">
            <a:spAutoFit/>
          </a:bodyPr>
          <a:lstStyle/>
          <a:p>
            <a:r>
              <a:rPr lang="en-US" sz="1200" b="1" u="sng" dirty="0">
                <a:latin typeface="Calibri" panose="020F0502020204030204" pitchFamily="34" charset="0"/>
                <a:ea typeface="Calibri" panose="020F0502020204030204" pitchFamily="34" charset="0"/>
                <a:cs typeface="Calibri" panose="020F0502020204030204" pitchFamily="34" charset="0"/>
              </a:rPr>
              <a:t>What was calculated:</a:t>
            </a:r>
            <a:br>
              <a:rPr lang="en-US" sz="1200" dirty="0">
                <a:latin typeface="Calibri" panose="020F0502020204030204" pitchFamily="34" charset="0"/>
                <a:ea typeface="Calibri" panose="020F0502020204030204" pitchFamily="34" charset="0"/>
                <a:cs typeface="Calibri" panose="020F0502020204030204" pitchFamily="34" charset="0"/>
              </a:rPr>
            </a:br>
            <a:r>
              <a:rPr lang="en-US" sz="1200" dirty="0">
                <a:latin typeface="Calibri" panose="020F0502020204030204" pitchFamily="34" charset="0"/>
                <a:ea typeface="Calibri" panose="020F0502020204030204" pitchFamily="34" charset="0"/>
                <a:cs typeface="Calibri" panose="020F0502020204030204" pitchFamily="34" charset="0"/>
              </a:rPr>
              <a:t>Warehouses whose average delay is higher than the global average delay across all shipments.</a:t>
            </a:r>
          </a:p>
          <a:p>
            <a:endParaRPr lang="en-US" sz="1200" dirty="0">
              <a:latin typeface="Calibri" panose="020F0502020204030204" pitchFamily="34" charset="0"/>
              <a:ea typeface="Calibri" panose="020F0502020204030204" pitchFamily="34" charset="0"/>
              <a:cs typeface="Calibri" panose="020F0502020204030204" pitchFamily="34" charset="0"/>
            </a:endParaRPr>
          </a:p>
          <a:p>
            <a:r>
              <a:rPr lang="en-US" sz="1200" b="1" u="sng" dirty="0">
                <a:latin typeface="Calibri" panose="020F0502020204030204" pitchFamily="34" charset="0"/>
                <a:ea typeface="Calibri" panose="020F0502020204030204" pitchFamily="34" charset="0"/>
                <a:cs typeface="Calibri" panose="020F0502020204030204" pitchFamily="34" charset="0"/>
              </a:rPr>
              <a:t>What we got:</a:t>
            </a:r>
            <a:br>
              <a:rPr lang="en-US" sz="1200" dirty="0">
                <a:latin typeface="Calibri" panose="020F0502020204030204" pitchFamily="34" charset="0"/>
                <a:ea typeface="Calibri" panose="020F0502020204030204" pitchFamily="34" charset="0"/>
                <a:cs typeface="Calibri" panose="020F0502020204030204" pitchFamily="34" charset="0"/>
              </a:rPr>
            </a:br>
            <a:r>
              <a:rPr lang="en-US" sz="1200" dirty="0">
                <a:latin typeface="Calibri" panose="020F0502020204030204" pitchFamily="34" charset="0"/>
                <a:ea typeface="Calibri" panose="020F0502020204030204" pitchFamily="34" charset="0"/>
                <a:cs typeface="Calibri" panose="020F0502020204030204" pitchFamily="34" charset="0"/>
              </a:rPr>
              <a:t>Underperforming warehouses were flagged relative to the entire network, allowing focused corrective action.</a:t>
            </a:r>
          </a:p>
          <a:p>
            <a:endParaRPr lang="en-US" dirty="0"/>
          </a:p>
        </p:txBody>
      </p:sp>
    </p:spTree>
    <p:extLst>
      <p:ext uri="{BB962C8B-B14F-4D97-AF65-F5344CB8AC3E}">
        <p14:creationId xmlns:p14="http://schemas.microsoft.com/office/powerpoint/2010/main" val="34926745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3C804E"/>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2D66282A-CD72-48DC-BA72-18781FA29EBA}"/>
              </a:ext>
            </a:extLst>
          </p:cNvPr>
          <p:cNvSpPr>
            <a:spLocks noGrp="1"/>
          </p:cNvSpPr>
          <p:nvPr>
            <p:ph type="body" idx="1"/>
          </p:nvPr>
        </p:nvSpPr>
        <p:spPr>
          <a:xfrm>
            <a:off x="1" y="398437"/>
            <a:ext cx="8698950" cy="4745063"/>
          </a:xfrm>
        </p:spPr>
        <p:txBody>
          <a:bodyPr/>
          <a:lstStyle/>
          <a:p>
            <a:r>
              <a:rPr lang="en-US" sz="1400" dirty="0">
                <a:latin typeface="Calibri" panose="020F0502020204030204" pitchFamily="34" charset="0"/>
                <a:ea typeface="Calibri" panose="020F0502020204030204" pitchFamily="34" charset="0"/>
                <a:cs typeface="Calibri" panose="020F0502020204030204" pitchFamily="34" charset="0"/>
              </a:rPr>
              <a:t>Rank all warehouses based on on-time delivery percentage</a:t>
            </a:r>
            <a:r>
              <a:rPr lang="en-US" sz="1400" dirty="0"/>
              <a:t>.</a:t>
            </a:r>
          </a:p>
          <a:p>
            <a:pPr marL="127000" indent="0">
              <a:buNone/>
            </a:pPr>
            <a:r>
              <a:rPr lang="en-US" sz="1400" dirty="0"/>
              <a:t> </a:t>
            </a:r>
            <a:r>
              <a:rPr lang="en-US" sz="1200" dirty="0"/>
              <a:t> </a:t>
            </a:r>
            <a:endParaRPr lang="en-US" sz="1100" dirty="0">
              <a:latin typeface="Calibri" panose="020F0502020204030204" pitchFamily="34" charset="0"/>
              <a:ea typeface="Calibri" panose="020F0502020204030204" pitchFamily="34" charset="0"/>
              <a:cs typeface="Calibri" panose="020F0502020204030204" pitchFamily="34" charset="0"/>
            </a:endParaRPr>
          </a:p>
          <a:p>
            <a:pPr marL="590550" lvl="1" indent="0">
              <a:buNone/>
            </a:pPr>
            <a:r>
              <a:rPr lang="en-US" sz="1100" dirty="0">
                <a:solidFill>
                  <a:schemeClr val="tx2"/>
                </a:solidFill>
                <a:latin typeface="Calibri" panose="020F0502020204030204" pitchFamily="34" charset="0"/>
                <a:ea typeface="Calibri" panose="020F0502020204030204" pitchFamily="34" charset="0"/>
                <a:cs typeface="Calibri" panose="020F0502020204030204" pitchFamily="34" charset="0"/>
              </a:rPr>
              <a:t>SELECT</a:t>
            </a:r>
          </a:p>
          <a:p>
            <a:pPr marL="590550" lvl="1" indent="0">
              <a:buNone/>
            </a:pPr>
            <a:r>
              <a:rPr lang="en-US" sz="1100" dirty="0">
                <a:solidFill>
                  <a:schemeClr val="tx2"/>
                </a:solidFill>
                <a:latin typeface="Calibri" panose="020F0502020204030204" pitchFamily="34" charset="0"/>
                <a:ea typeface="Calibri" panose="020F0502020204030204" pitchFamily="34" charset="0"/>
                <a:cs typeface="Calibri" panose="020F0502020204030204" pitchFamily="34" charset="0"/>
              </a:rPr>
              <a:t>    </a:t>
            </a:r>
            <a:r>
              <a:rPr lang="en-US" sz="1100" dirty="0" err="1">
                <a:solidFill>
                  <a:schemeClr val="tx2"/>
                </a:solidFill>
                <a:latin typeface="Calibri" panose="020F0502020204030204" pitchFamily="34" charset="0"/>
                <a:ea typeface="Calibri" panose="020F0502020204030204" pitchFamily="34" charset="0"/>
                <a:cs typeface="Calibri" panose="020F0502020204030204" pitchFamily="34" charset="0"/>
              </a:rPr>
              <a:t>w.Warehouse_ID</a:t>
            </a:r>
            <a:r>
              <a:rPr lang="en-US" sz="1100" dirty="0">
                <a:solidFill>
                  <a:schemeClr val="tx2"/>
                </a:solidFill>
                <a:latin typeface="Calibri" panose="020F0502020204030204" pitchFamily="34" charset="0"/>
                <a:ea typeface="Calibri" panose="020F0502020204030204" pitchFamily="34" charset="0"/>
                <a:cs typeface="Calibri" panose="020F0502020204030204" pitchFamily="34" charset="0"/>
              </a:rPr>
              <a:t>,</a:t>
            </a:r>
          </a:p>
          <a:p>
            <a:pPr marL="590550" lvl="1" indent="0">
              <a:buNone/>
            </a:pPr>
            <a:r>
              <a:rPr lang="en-US" sz="1100" dirty="0">
                <a:solidFill>
                  <a:schemeClr val="tx2"/>
                </a:solidFill>
                <a:latin typeface="Calibri" panose="020F0502020204030204" pitchFamily="34" charset="0"/>
                <a:ea typeface="Calibri" panose="020F0502020204030204" pitchFamily="34" charset="0"/>
                <a:cs typeface="Calibri" panose="020F0502020204030204" pitchFamily="34" charset="0"/>
              </a:rPr>
              <a:t>    </a:t>
            </a:r>
            <a:r>
              <a:rPr lang="en-US" sz="1100" dirty="0" err="1">
                <a:solidFill>
                  <a:schemeClr val="tx2"/>
                </a:solidFill>
                <a:latin typeface="Calibri" panose="020F0502020204030204" pitchFamily="34" charset="0"/>
                <a:ea typeface="Calibri" panose="020F0502020204030204" pitchFamily="34" charset="0"/>
                <a:cs typeface="Calibri" panose="020F0502020204030204" pitchFamily="34" charset="0"/>
              </a:rPr>
              <a:t>w.City</a:t>
            </a:r>
            <a:r>
              <a:rPr lang="en-US" sz="1100" dirty="0">
                <a:solidFill>
                  <a:schemeClr val="tx2"/>
                </a:solidFill>
                <a:latin typeface="Calibri" panose="020F0502020204030204" pitchFamily="34" charset="0"/>
                <a:ea typeface="Calibri" panose="020F0502020204030204" pitchFamily="34" charset="0"/>
                <a:cs typeface="Calibri" panose="020F0502020204030204" pitchFamily="34" charset="0"/>
              </a:rPr>
              <a:t>,</a:t>
            </a:r>
          </a:p>
          <a:p>
            <a:pPr marL="590550" lvl="1" indent="0">
              <a:buNone/>
            </a:pPr>
            <a:r>
              <a:rPr lang="en-US" sz="1100" dirty="0">
                <a:solidFill>
                  <a:schemeClr val="tx2"/>
                </a:solidFill>
                <a:latin typeface="Calibri" panose="020F0502020204030204" pitchFamily="34" charset="0"/>
                <a:ea typeface="Calibri" panose="020F0502020204030204" pitchFamily="34" charset="0"/>
                <a:cs typeface="Calibri" panose="020F0502020204030204" pitchFamily="34" charset="0"/>
              </a:rPr>
              <a:t>    </a:t>
            </a:r>
            <a:r>
              <a:rPr lang="en-US" sz="1100" dirty="0" err="1">
                <a:solidFill>
                  <a:schemeClr val="tx2"/>
                </a:solidFill>
                <a:latin typeface="Calibri" panose="020F0502020204030204" pitchFamily="34" charset="0"/>
                <a:ea typeface="Calibri" panose="020F0502020204030204" pitchFamily="34" charset="0"/>
                <a:cs typeface="Calibri" panose="020F0502020204030204" pitchFamily="34" charset="0"/>
              </a:rPr>
              <a:t>w.Country</a:t>
            </a:r>
            <a:r>
              <a:rPr lang="en-US" sz="1100" dirty="0">
                <a:solidFill>
                  <a:schemeClr val="tx2"/>
                </a:solidFill>
                <a:latin typeface="Calibri" panose="020F0502020204030204" pitchFamily="34" charset="0"/>
                <a:ea typeface="Calibri" panose="020F0502020204030204" pitchFamily="34" charset="0"/>
                <a:cs typeface="Calibri" panose="020F0502020204030204" pitchFamily="34" charset="0"/>
              </a:rPr>
              <a:t>,</a:t>
            </a:r>
          </a:p>
          <a:p>
            <a:pPr marL="590550" lvl="1" indent="0">
              <a:buNone/>
            </a:pPr>
            <a:r>
              <a:rPr lang="en-US" sz="1100" dirty="0">
                <a:solidFill>
                  <a:schemeClr val="tx2"/>
                </a:solidFill>
                <a:latin typeface="Calibri" panose="020F0502020204030204" pitchFamily="34" charset="0"/>
                <a:ea typeface="Calibri" panose="020F0502020204030204" pitchFamily="34" charset="0"/>
                <a:cs typeface="Calibri" panose="020F0502020204030204" pitchFamily="34" charset="0"/>
              </a:rPr>
              <a:t>    ROUND(</a:t>
            </a:r>
          </a:p>
          <a:p>
            <a:pPr marL="590550" lvl="1" indent="0">
              <a:buNone/>
            </a:pPr>
            <a:r>
              <a:rPr lang="en-US" sz="1100" dirty="0">
                <a:solidFill>
                  <a:schemeClr val="tx2"/>
                </a:solidFill>
                <a:latin typeface="Calibri" panose="020F0502020204030204" pitchFamily="34" charset="0"/>
                <a:ea typeface="Calibri" panose="020F0502020204030204" pitchFamily="34" charset="0"/>
                <a:cs typeface="Calibri" panose="020F0502020204030204" pitchFamily="34" charset="0"/>
              </a:rPr>
              <a:t>        SUM(</a:t>
            </a:r>
            <a:r>
              <a:rPr lang="en-US" sz="1100" dirty="0" err="1">
                <a:solidFill>
                  <a:schemeClr val="tx2"/>
                </a:solidFill>
                <a:latin typeface="Calibri" panose="020F0502020204030204" pitchFamily="34" charset="0"/>
                <a:ea typeface="Calibri" panose="020F0502020204030204" pitchFamily="34" charset="0"/>
                <a:cs typeface="Calibri" panose="020F0502020204030204" pitchFamily="34" charset="0"/>
              </a:rPr>
              <a:t>s.Delay_Hours</a:t>
            </a:r>
            <a:r>
              <a:rPr lang="en-US" sz="1100" dirty="0">
                <a:solidFill>
                  <a:schemeClr val="tx2"/>
                </a:solidFill>
                <a:latin typeface="Calibri" panose="020F0502020204030204" pitchFamily="34" charset="0"/>
                <a:ea typeface="Calibri" panose="020F0502020204030204" pitchFamily="34" charset="0"/>
                <a:cs typeface="Calibri" panose="020F0502020204030204" pitchFamily="34" charset="0"/>
              </a:rPr>
              <a:t> &lt;= 0) * 100.0 / COUNT(*),</a:t>
            </a:r>
          </a:p>
          <a:p>
            <a:pPr marL="590550" lvl="1" indent="0">
              <a:buNone/>
            </a:pPr>
            <a:r>
              <a:rPr lang="en-US" sz="1100" dirty="0">
                <a:solidFill>
                  <a:schemeClr val="tx2"/>
                </a:solidFill>
                <a:latin typeface="Calibri" panose="020F0502020204030204" pitchFamily="34" charset="0"/>
                <a:ea typeface="Calibri" panose="020F0502020204030204" pitchFamily="34" charset="0"/>
                <a:cs typeface="Calibri" panose="020F0502020204030204" pitchFamily="34" charset="0"/>
              </a:rPr>
              <a:t>        2</a:t>
            </a:r>
          </a:p>
          <a:p>
            <a:pPr marL="590550" lvl="1" indent="0">
              <a:buNone/>
            </a:pPr>
            <a:r>
              <a:rPr lang="en-US" sz="1100" dirty="0">
                <a:solidFill>
                  <a:schemeClr val="tx2"/>
                </a:solidFill>
                <a:latin typeface="Calibri" panose="020F0502020204030204" pitchFamily="34" charset="0"/>
                <a:ea typeface="Calibri" panose="020F0502020204030204" pitchFamily="34" charset="0"/>
                <a:cs typeface="Calibri" panose="020F0502020204030204" pitchFamily="34" charset="0"/>
              </a:rPr>
              <a:t>    ) AS </a:t>
            </a:r>
            <a:r>
              <a:rPr lang="en-US" sz="1100" dirty="0" err="1">
                <a:solidFill>
                  <a:schemeClr val="tx2"/>
                </a:solidFill>
                <a:latin typeface="Calibri" panose="020F0502020204030204" pitchFamily="34" charset="0"/>
                <a:ea typeface="Calibri" panose="020F0502020204030204" pitchFamily="34" charset="0"/>
                <a:cs typeface="Calibri" panose="020F0502020204030204" pitchFamily="34" charset="0"/>
              </a:rPr>
              <a:t>On_Time_Percentage</a:t>
            </a:r>
            <a:r>
              <a:rPr lang="en-US" sz="1100" dirty="0">
                <a:solidFill>
                  <a:schemeClr val="tx2"/>
                </a:solidFill>
                <a:latin typeface="Calibri" panose="020F0502020204030204" pitchFamily="34" charset="0"/>
                <a:ea typeface="Calibri" panose="020F0502020204030204" pitchFamily="34" charset="0"/>
                <a:cs typeface="Calibri" panose="020F0502020204030204" pitchFamily="34" charset="0"/>
              </a:rPr>
              <a:t>,</a:t>
            </a:r>
          </a:p>
          <a:p>
            <a:pPr marL="590550" lvl="1" indent="0">
              <a:buNone/>
            </a:pPr>
            <a:r>
              <a:rPr lang="en-US" sz="1100" dirty="0">
                <a:solidFill>
                  <a:schemeClr val="tx2"/>
                </a:solidFill>
                <a:latin typeface="Calibri" panose="020F0502020204030204" pitchFamily="34" charset="0"/>
                <a:ea typeface="Calibri" panose="020F0502020204030204" pitchFamily="34" charset="0"/>
                <a:cs typeface="Calibri" panose="020F0502020204030204" pitchFamily="34" charset="0"/>
              </a:rPr>
              <a:t>    RANK() OVER (</a:t>
            </a:r>
          </a:p>
          <a:p>
            <a:pPr marL="590550" lvl="1" indent="0">
              <a:buNone/>
            </a:pPr>
            <a:r>
              <a:rPr lang="en-US" sz="1100" dirty="0">
                <a:solidFill>
                  <a:schemeClr val="tx2"/>
                </a:solidFill>
                <a:latin typeface="Calibri" panose="020F0502020204030204" pitchFamily="34" charset="0"/>
                <a:ea typeface="Calibri" panose="020F0502020204030204" pitchFamily="34" charset="0"/>
                <a:cs typeface="Calibri" panose="020F0502020204030204" pitchFamily="34" charset="0"/>
              </a:rPr>
              <a:t>        ORDER BY SUM(</a:t>
            </a:r>
            <a:r>
              <a:rPr lang="en-US" sz="1100" dirty="0" err="1">
                <a:solidFill>
                  <a:schemeClr val="tx2"/>
                </a:solidFill>
                <a:latin typeface="Calibri" panose="020F0502020204030204" pitchFamily="34" charset="0"/>
                <a:ea typeface="Calibri" panose="020F0502020204030204" pitchFamily="34" charset="0"/>
                <a:cs typeface="Calibri" panose="020F0502020204030204" pitchFamily="34" charset="0"/>
              </a:rPr>
              <a:t>s.Delay_Hours</a:t>
            </a:r>
            <a:r>
              <a:rPr lang="en-US" sz="1100" dirty="0">
                <a:solidFill>
                  <a:schemeClr val="tx2"/>
                </a:solidFill>
                <a:latin typeface="Calibri" panose="020F0502020204030204" pitchFamily="34" charset="0"/>
                <a:ea typeface="Calibri" panose="020F0502020204030204" pitchFamily="34" charset="0"/>
                <a:cs typeface="Calibri" panose="020F0502020204030204" pitchFamily="34" charset="0"/>
              </a:rPr>
              <a:t> &lt;= 0) * 1.0 / COUNT(*) DESC</a:t>
            </a:r>
          </a:p>
          <a:p>
            <a:pPr marL="590550" lvl="1" indent="0">
              <a:buNone/>
            </a:pPr>
            <a:r>
              <a:rPr lang="en-US" sz="1100" dirty="0">
                <a:solidFill>
                  <a:schemeClr val="tx2"/>
                </a:solidFill>
                <a:latin typeface="Calibri" panose="020F0502020204030204" pitchFamily="34" charset="0"/>
                <a:ea typeface="Calibri" panose="020F0502020204030204" pitchFamily="34" charset="0"/>
                <a:cs typeface="Calibri" panose="020F0502020204030204" pitchFamily="34" charset="0"/>
              </a:rPr>
              <a:t>    ) AS </a:t>
            </a:r>
            <a:r>
              <a:rPr lang="en-US" sz="1100" dirty="0" err="1">
                <a:solidFill>
                  <a:schemeClr val="tx2"/>
                </a:solidFill>
                <a:latin typeface="Calibri" panose="020F0502020204030204" pitchFamily="34" charset="0"/>
                <a:ea typeface="Calibri" panose="020F0502020204030204" pitchFamily="34" charset="0"/>
                <a:cs typeface="Calibri" panose="020F0502020204030204" pitchFamily="34" charset="0"/>
              </a:rPr>
              <a:t>Warehouse_Rank</a:t>
            </a:r>
            <a:endParaRPr lang="en-US" sz="1100" dirty="0">
              <a:solidFill>
                <a:schemeClr val="tx2"/>
              </a:solidFill>
              <a:latin typeface="Calibri" panose="020F0502020204030204" pitchFamily="34" charset="0"/>
              <a:ea typeface="Calibri" panose="020F0502020204030204" pitchFamily="34" charset="0"/>
              <a:cs typeface="Calibri" panose="020F0502020204030204" pitchFamily="34" charset="0"/>
            </a:endParaRPr>
          </a:p>
          <a:p>
            <a:pPr marL="590550" lvl="1" indent="0">
              <a:buNone/>
            </a:pPr>
            <a:r>
              <a:rPr lang="en-US" sz="1100" dirty="0">
                <a:solidFill>
                  <a:schemeClr val="tx2"/>
                </a:solidFill>
                <a:latin typeface="Calibri" panose="020F0502020204030204" pitchFamily="34" charset="0"/>
                <a:ea typeface="Calibri" panose="020F0502020204030204" pitchFamily="34" charset="0"/>
                <a:cs typeface="Calibri" panose="020F0502020204030204" pitchFamily="34" charset="0"/>
              </a:rPr>
              <a:t>FROM Shipments s</a:t>
            </a:r>
          </a:p>
          <a:p>
            <a:pPr marL="590550" lvl="1" indent="0">
              <a:buNone/>
            </a:pPr>
            <a:r>
              <a:rPr lang="en-US" sz="1100" dirty="0">
                <a:solidFill>
                  <a:schemeClr val="tx2"/>
                </a:solidFill>
                <a:latin typeface="Calibri" panose="020F0502020204030204" pitchFamily="34" charset="0"/>
                <a:ea typeface="Calibri" panose="020F0502020204030204" pitchFamily="34" charset="0"/>
                <a:cs typeface="Calibri" panose="020F0502020204030204" pitchFamily="34" charset="0"/>
              </a:rPr>
              <a:t>JOIN Warehouses w</a:t>
            </a:r>
          </a:p>
          <a:p>
            <a:pPr marL="590550" lvl="1" indent="0">
              <a:buNone/>
            </a:pPr>
            <a:r>
              <a:rPr lang="en-US" sz="1100" dirty="0">
                <a:solidFill>
                  <a:schemeClr val="tx2"/>
                </a:solidFill>
                <a:latin typeface="Calibri" panose="020F0502020204030204" pitchFamily="34" charset="0"/>
                <a:ea typeface="Calibri" panose="020F0502020204030204" pitchFamily="34" charset="0"/>
                <a:cs typeface="Calibri" panose="020F0502020204030204" pitchFamily="34" charset="0"/>
              </a:rPr>
              <a:t>    ON </a:t>
            </a:r>
            <a:r>
              <a:rPr lang="en-US" sz="1100" dirty="0" err="1">
                <a:solidFill>
                  <a:schemeClr val="tx2"/>
                </a:solidFill>
                <a:latin typeface="Calibri" panose="020F0502020204030204" pitchFamily="34" charset="0"/>
                <a:ea typeface="Calibri" panose="020F0502020204030204" pitchFamily="34" charset="0"/>
                <a:cs typeface="Calibri" panose="020F0502020204030204" pitchFamily="34" charset="0"/>
              </a:rPr>
              <a:t>s.Warehouse_ID</a:t>
            </a:r>
            <a:r>
              <a:rPr lang="en-US" sz="1100" dirty="0">
                <a:solidFill>
                  <a:schemeClr val="tx2"/>
                </a:solidFill>
                <a:latin typeface="Calibri" panose="020F0502020204030204" pitchFamily="34" charset="0"/>
                <a:ea typeface="Calibri" panose="020F0502020204030204" pitchFamily="34" charset="0"/>
                <a:cs typeface="Calibri" panose="020F0502020204030204" pitchFamily="34" charset="0"/>
              </a:rPr>
              <a:t> = </a:t>
            </a:r>
            <a:r>
              <a:rPr lang="en-US" sz="1100" dirty="0" err="1">
                <a:solidFill>
                  <a:schemeClr val="tx2"/>
                </a:solidFill>
                <a:latin typeface="Calibri" panose="020F0502020204030204" pitchFamily="34" charset="0"/>
                <a:ea typeface="Calibri" panose="020F0502020204030204" pitchFamily="34" charset="0"/>
                <a:cs typeface="Calibri" panose="020F0502020204030204" pitchFamily="34" charset="0"/>
              </a:rPr>
              <a:t>w.Warehouse_ID</a:t>
            </a:r>
            <a:endParaRPr lang="en-US" sz="1100" dirty="0">
              <a:solidFill>
                <a:schemeClr val="tx2"/>
              </a:solidFill>
              <a:latin typeface="Calibri" panose="020F0502020204030204" pitchFamily="34" charset="0"/>
              <a:ea typeface="Calibri" panose="020F0502020204030204" pitchFamily="34" charset="0"/>
              <a:cs typeface="Calibri" panose="020F0502020204030204" pitchFamily="34" charset="0"/>
            </a:endParaRPr>
          </a:p>
          <a:p>
            <a:pPr marL="590550" lvl="1" indent="0">
              <a:buNone/>
            </a:pPr>
            <a:r>
              <a:rPr lang="en-US" sz="1100" dirty="0">
                <a:solidFill>
                  <a:schemeClr val="tx2"/>
                </a:solidFill>
                <a:latin typeface="Calibri" panose="020F0502020204030204" pitchFamily="34" charset="0"/>
                <a:ea typeface="Calibri" panose="020F0502020204030204" pitchFamily="34" charset="0"/>
                <a:cs typeface="Calibri" panose="020F0502020204030204" pitchFamily="34" charset="0"/>
              </a:rPr>
              <a:t>GROUP BY </a:t>
            </a:r>
            <a:r>
              <a:rPr lang="en-US" sz="1100" dirty="0" err="1">
                <a:solidFill>
                  <a:schemeClr val="tx2"/>
                </a:solidFill>
                <a:latin typeface="Calibri" panose="020F0502020204030204" pitchFamily="34" charset="0"/>
                <a:ea typeface="Calibri" panose="020F0502020204030204" pitchFamily="34" charset="0"/>
                <a:cs typeface="Calibri" panose="020F0502020204030204" pitchFamily="34" charset="0"/>
              </a:rPr>
              <a:t>w.Warehouse_ID</a:t>
            </a:r>
            <a:r>
              <a:rPr lang="en-US" sz="1100" dirty="0">
                <a:solidFill>
                  <a:schemeClr val="tx2"/>
                </a:solidFill>
                <a:latin typeface="Calibri" panose="020F0502020204030204" pitchFamily="34" charset="0"/>
                <a:ea typeface="Calibri" panose="020F0502020204030204" pitchFamily="34" charset="0"/>
                <a:cs typeface="Calibri" panose="020F0502020204030204" pitchFamily="34" charset="0"/>
              </a:rPr>
              <a:t>, </a:t>
            </a:r>
            <a:r>
              <a:rPr lang="en-US" sz="1100" dirty="0" err="1">
                <a:solidFill>
                  <a:schemeClr val="tx2"/>
                </a:solidFill>
                <a:latin typeface="Calibri" panose="020F0502020204030204" pitchFamily="34" charset="0"/>
                <a:ea typeface="Calibri" panose="020F0502020204030204" pitchFamily="34" charset="0"/>
                <a:cs typeface="Calibri" panose="020F0502020204030204" pitchFamily="34" charset="0"/>
              </a:rPr>
              <a:t>w.City</a:t>
            </a:r>
            <a:r>
              <a:rPr lang="en-US" sz="1100" dirty="0">
                <a:solidFill>
                  <a:schemeClr val="tx2"/>
                </a:solidFill>
                <a:latin typeface="Calibri" panose="020F0502020204030204" pitchFamily="34" charset="0"/>
                <a:ea typeface="Calibri" panose="020F0502020204030204" pitchFamily="34" charset="0"/>
                <a:cs typeface="Calibri" panose="020F0502020204030204" pitchFamily="34" charset="0"/>
              </a:rPr>
              <a:t>, </a:t>
            </a:r>
            <a:r>
              <a:rPr lang="en-US" sz="1100" dirty="0" err="1">
                <a:solidFill>
                  <a:schemeClr val="tx2"/>
                </a:solidFill>
                <a:latin typeface="Calibri" panose="020F0502020204030204" pitchFamily="34" charset="0"/>
                <a:ea typeface="Calibri" panose="020F0502020204030204" pitchFamily="34" charset="0"/>
                <a:cs typeface="Calibri" panose="020F0502020204030204" pitchFamily="34" charset="0"/>
              </a:rPr>
              <a:t>w.Country</a:t>
            </a:r>
            <a:r>
              <a:rPr lang="en-US" sz="1100" dirty="0">
                <a:solidFill>
                  <a:schemeClr val="tx2"/>
                </a:solidFill>
                <a:latin typeface="Calibri" panose="020F0502020204030204" pitchFamily="34" charset="0"/>
                <a:ea typeface="Calibri" panose="020F0502020204030204" pitchFamily="34" charset="0"/>
                <a:cs typeface="Calibri" panose="020F0502020204030204" pitchFamily="34" charset="0"/>
              </a:rPr>
              <a:t>;</a:t>
            </a:r>
          </a:p>
          <a:p>
            <a:pPr marL="590550" lvl="1" indent="0">
              <a:buNone/>
            </a:pPr>
            <a:endParaRPr lang="en-US" sz="1100" dirty="0">
              <a:latin typeface="Calibri" panose="020F0502020204030204" pitchFamily="34" charset="0"/>
              <a:ea typeface="Calibri" panose="020F0502020204030204" pitchFamily="34" charset="0"/>
              <a:cs typeface="Calibri" panose="020F0502020204030204" pitchFamily="34" charset="0"/>
            </a:endParaRPr>
          </a:p>
          <a:p>
            <a:pPr marL="590550" lvl="1" indent="0">
              <a:buNone/>
            </a:pPr>
            <a:endParaRPr lang="en-US" sz="1200" dirty="0">
              <a:latin typeface="Calibri" panose="020F0502020204030204" pitchFamily="34" charset="0"/>
              <a:ea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39B90EB5-2449-46A7-AD38-4463A10F939A}"/>
              </a:ext>
            </a:extLst>
          </p:cNvPr>
          <p:cNvSpPr txBox="1"/>
          <p:nvPr/>
        </p:nvSpPr>
        <p:spPr>
          <a:xfrm>
            <a:off x="445049" y="3763868"/>
            <a:ext cx="5791200" cy="1200329"/>
          </a:xfrm>
          <a:prstGeom prst="rect">
            <a:avLst/>
          </a:prstGeom>
          <a:noFill/>
        </p:spPr>
        <p:txBody>
          <a:bodyPr wrap="square">
            <a:spAutoFit/>
          </a:bodyPr>
          <a:lstStyle/>
          <a:p>
            <a:r>
              <a:rPr lang="en-US" sz="1200" b="1" u="sng" dirty="0">
                <a:latin typeface="Calibri" panose="020F0502020204030204" pitchFamily="34" charset="0"/>
                <a:ea typeface="Calibri" panose="020F0502020204030204" pitchFamily="34" charset="0"/>
                <a:cs typeface="Calibri" panose="020F0502020204030204" pitchFamily="34" charset="0"/>
              </a:rPr>
              <a:t>What was calculated:</a:t>
            </a:r>
            <a:br>
              <a:rPr lang="en-US" sz="1200" dirty="0">
                <a:latin typeface="Calibri" panose="020F0502020204030204" pitchFamily="34" charset="0"/>
                <a:ea typeface="Calibri" panose="020F0502020204030204" pitchFamily="34" charset="0"/>
                <a:cs typeface="Calibri" panose="020F0502020204030204" pitchFamily="34" charset="0"/>
              </a:rPr>
            </a:br>
            <a:r>
              <a:rPr lang="en-US" sz="1200" dirty="0">
                <a:latin typeface="Calibri" panose="020F0502020204030204" pitchFamily="34" charset="0"/>
                <a:ea typeface="Calibri" panose="020F0502020204030204" pitchFamily="34" charset="0"/>
                <a:cs typeface="Calibri" panose="020F0502020204030204" pitchFamily="34" charset="0"/>
              </a:rPr>
              <a:t>On-time delivery percentage for each warehouse and ranked accordingly.</a:t>
            </a:r>
          </a:p>
          <a:p>
            <a:endParaRPr lang="en-US" sz="1200" dirty="0">
              <a:latin typeface="Calibri" panose="020F0502020204030204" pitchFamily="34" charset="0"/>
              <a:ea typeface="Calibri" panose="020F0502020204030204" pitchFamily="34" charset="0"/>
              <a:cs typeface="Calibri" panose="020F0502020204030204" pitchFamily="34" charset="0"/>
            </a:endParaRPr>
          </a:p>
          <a:p>
            <a:r>
              <a:rPr lang="en-US" sz="1200" b="1" u="sng" dirty="0">
                <a:latin typeface="Calibri" panose="020F0502020204030204" pitchFamily="34" charset="0"/>
                <a:ea typeface="Calibri" panose="020F0502020204030204" pitchFamily="34" charset="0"/>
                <a:cs typeface="Calibri" panose="020F0502020204030204" pitchFamily="34" charset="0"/>
              </a:rPr>
              <a:t>What we got:</a:t>
            </a:r>
            <a:br>
              <a:rPr lang="en-US" sz="1200" dirty="0">
                <a:latin typeface="Calibri" panose="020F0502020204030204" pitchFamily="34" charset="0"/>
                <a:ea typeface="Calibri" panose="020F0502020204030204" pitchFamily="34" charset="0"/>
                <a:cs typeface="Calibri" panose="020F0502020204030204" pitchFamily="34" charset="0"/>
              </a:rPr>
            </a:br>
            <a:r>
              <a:rPr lang="en-US" sz="1200" dirty="0">
                <a:latin typeface="Calibri" panose="020F0502020204030204" pitchFamily="34" charset="0"/>
                <a:ea typeface="Calibri" panose="020F0502020204030204" pitchFamily="34" charset="0"/>
                <a:cs typeface="Calibri" panose="020F0502020204030204" pitchFamily="34" charset="0"/>
              </a:rPr>
              <a:t>A clear ranking of warehouses from best to worst based on reliability, highlighting both top performers and problem locations.</a:t>
            </a:r>
          </a:p>
        </p:txBody>
      </p:sp>
      <p:pic>
        <p:nvPicPr>
          <p:cNvPr id="10" name="Picture 9">
            <a:extLst>
              <a:ext uri="{FF2B5EF4-FFF2-40B4-BE49-F238E27FC236}">
                <a16:creationId xmlns:a16="http://schemas.microsoft.com/office/drawing/2014/main" id="{7E6E31B7-C596-4D72-9E79-549909DDFD8B}"/>
              </a:ext>
            </a:extLst>
          </p:cNvPr>
          <p:cNvPicPr>
            <a:picLocks noChangeAspect="1"/>
          </p:cNvPicPr>
          <p:nvPr/>
        </p:nvPicPr>
        <p:blipFill>
          <a:blip r:embed="rId2"/>
          <a:stretch>
            <a:fillRect/>
          </a:stretch>
        </p:blipFill>
        <p:spPr>
          <a:xfrm>
            <a:off x="4440453" y="1087507"/>
            <a:ext cx="4379697" cy="1739641"/>
          </a:xfrm>
          <a:prstGeom prst="rect">
            <a:avLst/>
          </a:prstGeom>
        </p:spPr>
      </p:pic>
    </p:spTree>
    <p:extLst>
      <p:ext uri="{BB962C8B-B14F-4D97-AF65-F5344CB8AC3E}">
        <p14:creationId xmlns:p14="http://schemas.microsoft.com/office/powerpoint/2010/main" val="184506222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2793D0-E9CC-454D-84D8-CCEE8A2E3AED}"/>
              </a:ext>
            </a:extLst>
          </p:cNvPr>
          <p:cNvSpPr>
            <a:spLocks noGrp="1"/>
          </p:cNvSpPr>
          <p:nvPr>
            <p:ph type="title"/>
          </p:nvPr>
        </p:nvSpPr>
        <p:spPr>
          <a:xfrm>
            <a:off x="311700" y="288275"/>
            <a:ext cx="8520600" cy="572700"/>
          </a:xfrm>
        </p:spPr>
        <p:txBody>
          <a:bodyPr/>
          <a:lstStyle/>
          <a:p>
            <a:r>
              <a:rPr lang="en-US" sz="3200" dirty="0">
                <a:latin typeface="Calibri" panose="020F0502020204030204" pitchFamily="34" charset="0"/>
                <a:ea typeface="Calibri" panose="020F0502020204030204" pitchFamily="34" charset="0"/>
                <a:cs typeface="Calibri" panose="020F0502020204030204" pitchFamily="34" charset="0"/>
              </a:rPr>
              <a:t>TASK 5: DELIVERY AGENT PERFORMANCE</a:t>
            </a:r>
          </a:p>
        </p:txBody>
      </p:sp>
      <p:sp>
        <p:nvSpPr>
          <p:cNvPr id="3" name="Text Placeholder 2">
            <a:extLst>
              <a:ext uri="{FF2B5EF4-FFF2-40B4-BE49-F238E27FC236}">
                <a16:creationId xmlns:a16="http://schemas.microsoft.com/office/drawing/2014/main" id="{B6EF1B25-3C40-46D1-B263-A7811483C657}"/>
              </a:ext>
            </a:extLst>
          </p:cNvPr>
          <p:cNvSpPr>
            <a:spLocks noGrp="1"/>
          </p:cNvSpPr>
          <p:nvPr>
            <p:ph type="body" idx="1"/>
          </p:nvPr>
        </p:nvSpPr>
        <p:spPr/>
        <p:txBody>
          <a:bodyPr/>
          <a:lstStyle/>
          <a:p>
            <a:r>
              <a:rPr lang="en-US" sz="1400" b="1" dirty="0">
                <a:solidFill>
                  <a:schemeClr val="tx2"/>
                </a:solidFill>
                <a:latin typeface="Calibri" panose="020F0502020204030204" pitchFamily="34" charset="0"/>
                <a:ea typeface="Calibri" panose="020F0502020204030204" pitchFamily="34" charset="0"/>
                <a:cs typeface="Calibri" panose="020F0502020204030204" pitchFamily="34" charset="0"/>
              </a:rPr>
              <a:t>Objective</a:t>
            </a:r>
          </a:p>
          <a:p>
            <a:pPr>
              <a:buFont typeface="Arial" panose="020B0604020202020204" pitchFamily="34" charset="0"/>
              <a:buChar char="•"/>
            </a:pPr>
            <a:r>
              <a:rPr lang="en-US" sz="1400" dirty="0">
                <a:solidFill>
                  <a:schemeClr val="tx2"/>
                </a:solidFill>
                <a:latin typeface="Calibri" panose="020F0502020204030204" pitchFamily="34" charset="0"/>
                <a:ea typeface="Calibri" panose="020F0502020204030204" pitchFamily="34" charset="0"/>
                <a:cs typeface="Calibri" panose="020F0502020204030204" pitchFamily="34" charset="0"/>
              </a:rPr>
              <a:t>Evaluate delivery agent performance across routes</a:t>
            </a:r>
          </a:p>
          <a:p>
            <a:pPr>
              <a:buFont typeface="Arial" panose="020B0604020202020204" pitchFamily="34" charset="0"/>
              <a:buChar char="•"/>
            </a:pPr>
            <a:r>
              <a:rPr lang="en-US" sz="1400" dirty="0">
                <a:solidFill>
                  <a:schemeClr val="tx2"/>
                </a:solidFill>
                <a:latin typeface="Calibri" panose="020F0502020204030204" pitchFamily="34" charset="0"/>
                <a:ea typeface="Calibri" panose="020F0502020204030204" pitchFamily="34" charset="0"/>
                <a:cs typeface="Calibri" panose="020F0502020204030204" pitchFamily="34" charset="0"/>
              </a:rPr>
              <a:t>Identify agents with low on-time delivery reliability</a:t>
            </a:r>
          </a:p>
          <a:p>
            <a:pPr>
              <a:buFont typeface="Arial" panose="020B0604020202020204" pitchFamily="34" charset="0"/>
              <a:buChar char="•"/>
            </a:pPr>
            <a:r>
              <a:rPr lang="en-US" sz="1400" dirty="0">
                <a:solidFill>
                  <a:schemeClr val="tx2"/>
                </a:solidFill>
                <a:latin typeface="Calibri" panose="020F0502020204030204" pitchFamily="34" charset="0"/>
                <a:ea typeface="Calibri" panose="020F0502020204030204" pitchFamily="34" charset="0"/>
                <a:cs typeface="Calibri" panose="020F0502020204030204" pitchFamily="34" charset="0"/>
              </a:rPr>
              <a:t>Compare top and bottom performing agents to support training and workload decisions</a:t>
            </a:r>
          </a:p>
          <a:p>
            <a:pPr marL="127000" indent="0">
              <a:buNone/>
            </a:pPr>
            <a:endParaRPr lang="en-US" dirty="0"/>
          </a:p>
          <a:p>
            <a:endParaRPr lang="en-US" dirty="0"/>
          </a:p>
        </p:txBody>
      </p:sp>
    </p:spTree>
    <p:extLst>
      <p:ext uri="{BB962C8B-B14F-4D97-AF65-F5344CB8AC3E}">
        <p14:creationId xmlns:p14="http://schemas.microsoft.com/office/powerpoint/2010/main" val="17548503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B6EF1B25-3C40-46D1-B263-A7811483C657}"/>
              </a:ext>
            </a:extLst>
          </p:cNvPr>
          <p:cNvSpPr>
            <a:spLocks noGrp="1"/>
          </p:cNvSpPr>
          <p:nvPr>
            <p:ph type="body" idx="1"/>
          </p:nvPr>
        </p:nvSpPr>
        <p:spPr>
          <a:xfrm>
            <a:off x="142876" y="0"/>
            <a:ext cx="8718000" cy="5391150"/>
          </a:xfrm>
        </p:spPr>
        <p:txBody>
          <a:bodyPr/>
          <a:lstStyle/>
          <a:p>
            <a:r>
              <a:rPr lang="en-US" sz="1400" b="1" dirty="0">
                <a:solidFill>
                  <a:schemeClr val="tx2"/>
                </a:solidFill>
                <a:latin typeface="Calibri" panose="020F0502020204030204" pitchFamily="34" charset="0"/>
                <a:ea typeface="Calibri" panose="020F0502020204030204" pitchFamily="34" charset="0"/>
                <a:cs typeface="Calibri" panose="020F0502020204030204" pitchFamily="34" charset="0"/>
              </a:rPr>
              <a:t>Rank delivery agents (per route) by on-time delivery percentage</a:t>
            </a:r>
            <a:r>
              <a:rPr lang="en-US" sz="1400" b="1" dirty="0">
                <a:latin typeface="Calibri" panose="020F0502020204030204" pitchFamily="34" charset="0"/>
                <a:ea typeface="Calibri" panose="020F0502020204030204" pitchFamily="34" charset="0"/>
                <a:cs typeface="Calibri" panose="020F0502020204030204" pitchFamily="34" charset="0"/>
              </a:rPr>
              <a:t>.</a:t>
            </a:r>
          </a:p>
          <a:p>
            <a:pPr marL="127000" indent="0">
              <a:buNone/>
            </a:pPr>
            <a:endParaRPr lang="en-US" sz="1400" b="1" dirty="0">
              <a:solidFill>
                <a:schemeClr val="tx2"/>
              </a:solidFill>
              <a:latin typeface="Calibri" panose="020F0502020204030204" pitchFamily="34" charset="0"/>
              <a:ea typeface="Calibri" panose="020F0502020204030204" pitchFamily="34" charset="0"/>
              <a:cs typeface="Calibri" panose="020F0502020204030204" pitchFamily="34" charset="0"/>
            </a:endParaRPr>
          </a:p>
          <a:p>
            <a:pPr marL="127000" indent="0">
              <a:buNone/>
            </a:pPr>
            <a:r>
              <a:rPr lang="en-US" sz="1100" dirty="0">
                <a:solidFill>
                  <a:srgbClr val="EFA7DA"/>
                </a:solidFill>
                <a:latin typeface="Calibri" panose="020F0502020204030204" pitchFamily="34" charset="0"/>
                <a:ea typeface="Calibri" panose="020F0502020204030204" pitchFamily="34" charset="0"/>
                <a:cs typeface="Calibri" panose="020F0502020204030204" pitchFamily="34" charset="0"/>
              </a:rPr>
              <a:t>SELECT</a:t>
            </a:r>
          </a:p>
          <a:p>
            <a:pPr marL="127000" indent="0">
              <a:buNone/>
            </a:pPr>
            <a:r>
              <a:rPr lang="en-US" sz="1100" dirty="0">
                <a:solidFill>
                  <a:srgbClr val="EFA7DA"/>
                </a:solidFill>
                <a:latin typeface="Calibri" panose="020F0502020204030204" pitchFamily="34" charset="0"/>
                <a:ea typeface="Calibri" panose="020F0502020204030204" pitchFamily="34" charset="0"/>
                <a:cs typeface="Calibri" panose="020F0502020204030204" pitchFamily="34" charset="0"/>
              </a:rPr>
              <a:t>    </a:t>
            </a:r>
            <a:r>
              <a:rPr lang="en-US" sz="1100" dirty="0" err="1">
                <a:solidFill>
                  <a:srgbClr val="EFA7DA"/>
                </a:solidFill>
                <a:latin typeface="Calibri" panose="020F0502020204030204" pitchFamily="34" charset="0"/>
                <a:ea typeface="Calibri" panose="020F0502020204030204" pitchFamily="34" charset="0"/>
                <a:cs typeface="Calibri" panose="020F0502020204030204" pitchFamily="34" charset="0"/>
              </a:rPr>
              <a:t>s.Route_ID</a:t>
            </a:r>
            <a:r>
              <a:rPr lang="en-US" sz="1100" dirty="0">
                <a:solidFill>
                  <a:srgbClr val="EFA7DA"/>
                </a:solidFill>
                <a:latin typeface="Calibri" panose="020F0502020204030204" pitchFamily="34" charset="0"/>
                <a:ea typeface="Calibri" panose="020F0502020204030204" pitchFamily="34" charset="0"/>
                <a:cs typeface="Calibri" panose="020F0502020204030204" pitchFamily="34" charset="0"/>
              </a:rPr>
              <a:t>,</a:t>
            </a:r>
          </a:p>
          <a:p>
            <a:pPr marL="127000" indent="0">
              <a:buNone/>
            </a:pPr>
            <a:r>
              <a:rPr lang="en-US" sz="1100" dirty="0">
                <a:solidFill>
                  <a:srgbClr val="EFA7DA"/>
                </a:solidFill>
                <a:latin typeface="Calibri" panose="020F0502020204030204" pitchFamily="34" charset="0"/>
                <a:ea typeface="Calibri" panose="020F0502020204030204" pitchFamily="34" charset="0"/>
                <a:cs typeface="Calibri" panose="020F0502020204030204" pitchFamily="34" charset="0"/>
              </a:rPr>
              <a:t>    </a:t>
            </a:r>
            <a:r>
              <a:rPr lang="en-US" sz="1100" dirty="0" err="1">
                <a:solidFill>
                  <a:srgbClr val="EFA7DA"/>
                </a:solidFill>
                <a:latin typeface="Calibri" panose="020F0502020204030204" pitchFamily="34" charset="0"/>
                <a:ea typeface="Calibri" panose="020F0502020204030204" pitchFamily="34" charset="0"/>
                <a:cs typeface="Calibri" panose="020F0502020204030204" pitchFamily="34" charset="0"/>
              </a:rPr>
              <a:t>a.Agent_ID</a:t>
            </a:r>
            <a:r>
              <a:rPr lang="en-US" sz="1100" dirty="0">
                <a:solidFill>
                  <a:srgbClr val="EFA7DA"/>
                </a:solidFill>
                <a:latin typeface="Calibri" panose="020F0502020204030204" pitchFamily="34" charset="0"/>
                <a:ea typeface="Calibri" panose="020F0502020204030204" pitchFamily="34" charset="0"/>
                <a:cs typeface="Calibri" panose="020F0502020204030204" pitchFamily="34" charset="0"/>
              </a:rPr>
              <a:t>,</a:t>
            </a:r>
          </a:p>
          <a:p>
            <a:pPr marL="127000" indent="0">
              <a:buNone/>
            </a:pPr>
            <a:r>
              <a:rPr lang="en-US" sz="1100" dirty="0">
                <a:solidFill>
                  <a:srgbClr val="EFA7DA"/>
                </a:solidFill>
                <a:latin typeface="Calibri" panose="020F0502020204030204" pitchFamily="34" charset="0"/>
                <a:ea typeface="Calibri" panose="020F0502020204030204" pitchFamily="34" charset="0"/>
                <a:cs typeface="Calibri" panose="020F0502020204030204" pitchFamily="34" charset="0"/>
              </a:rPr>
              <a:t>    </a:t>
            </a:r>
            <a:r>
              <a:rPr lang="en-US" sz="1100" dirty="0" err="1">
                <a:solidFill>
                  <a:srgbClr val="EFA7DA"/>
                </a:solidFill>
                <a:latin typeface="Calibri" panose="020F0502020204030204" pitchFamily="34" charset="0"/>
                <a:ea typeface="Calibri" panose="020F0502020204030204" pitchFamily="34" charset="0"/>
                <a:cs typeface="Calibri" panose="020F0502020204030204" pitchFamily="34" charset="0"/>
              </a:rPr>
              <a:t>a.Agent_Name</a:t>
            </a:r>
            <a:r>
              <a:rPr lang="en-US" sz="1100" dirty="0">
                <a:solidFill>
                  <a:srgbClr val="EFA7DA"/>
                </a:solidFill>
                <a:latin typeface="Calibri" panose="020F0502020204030204" pitchFamily="34" charset="0"/>
                <a:ea typeface="Calibri" panose="020F0502020204030204" pitchFamily="34" charset="0"/>
                <a:cs typeface="Calibri" panose="020F0502020204030204" pitchFamily="34" charset="0"/>
              </a:rPr>
              <a:t>,</a:t>
            </a:r>
          </a:p>
          <a:p>
            <a:pPr marL="127000" indent="0">
              <a:buNone/>
            </a:pPr>
            <a:r>
              <a:rPr lang="en-US" sz="1100" dirty="0">
                <a:solidFill>
                  <a:srgbClr val="EFA7DA"/>
                </a:solidFill>
                <a:latin typeface="Calibri" panose="020F0502020204030204" pitchFamily="34" charset="0"/>
                <a:ea typeface="Calibri" panose="020F0502020204030204" pitchFamily="34" charset="0"/>
                <a:cs typeface="Calibri" panose="020F0502020204030204" pitchFamily="34" charset="0"/>
              </a:rPr>
              <a:t>    ROUND(</a:t>
            </a:r>
          </a:p>
          <a:p>
            <a:pPr marL="127000" indent="0">
              <a:buNone/>
            </a:pPr>
            <a:r>
              <a:rPr lang="en-US" sz="1100" dirty="0">
                <a:solidFill>
                  <a:srgbClr val="EFA7DA"/>
                </a:solidFill>
                <a:latin typeface="Calibri" panose="020F0502020204030204" pitchFamily="34" charset="0"/>
                <a:ea typeface="Calibri" panose="020F0502020204030204" pitchFamily="34" charset="0"/>
                <a:cs typeface="Calibri" panose="020F0502020204030204" pitchFamily="34" charset="0"/>
              </a:rPr>
              <a:t>        100 * AVG(</a:t>
            </a:r>
          </a:p>
          <a:p>
            <a:pPr marL="127000" indent="0">
              <a:buNone/>
            </a:pPr>
            <a:r>
              <a:rPr lang="en-US" sz="1100" dirty="0">
                <a:solidFill>
                  <a:srgbClr val="EFA7DA"/>
                </a:solidFill>
                <a:latin typeface="Calibri" panose="020F0502020204030204" pitchFamily="34" charset="0"/>
                <a:ea typeface="Calibri" panose="020F0502020204030204" pitchFamily="34" charset="0"/>
                <a:cs typeface="Calibri" panose="020F0502020204030204" pitchFamily="34" charset="0"/>
              </a:rPr>
              <a:t>            CASE </a:t>
            </a:r>
          </a:p>
          <a:p>
            <a:pPr marL="127000" indent="0">
              <a:buNone/>
            </a:pPr>
            <a:r>
              <a:rPr lang="en-US" sz="1100" dirty="0">
                <a:solidFill>
                  <a:srgbClr val="EFA7DA"/>
                </a:solidFill>
                <a:latin typeface="Calibri" panose="020F0502020204030204" pitchFamily="34" charset="0"/>
                <a:ea typeface="Calibri" panose="020F0502020204030204" pitchFamily="34" charset="0"/>
                <a:cs typeface="Calibri" panose="020F0502020204030204" pitchFamily="34" charset="0"/>
              </a:rPr>
              <a:t>                WHEN TIMESTAMPDIFF(HOUR, </a:t>
            </a:r>
            <a:r>
              <a:rPr lang="en-US" sz="1100" dirty="0" err="1">
                <a:solidFill>
                  <a:srgbClr val="EFA7DA"/>
                </a:solidFill>
                <a:latin typeface="Calibri" panose="020F0502020204030204" pitchFamily="34" charset="0"/>
                <a:ea typeface="Calibri" panose="020F0502020204030204" pitchFamily="34" charset="0"/>
                <a:cs typeface="Calibri" panose="020F0502020204030204" pitchFamily="34" charset="0"/>
              </a:rPr>
              <a:t>s.Pickup_Date</a:t>
            </a:r>
            <a:r>
              <a:rPr lang="en-US" sz="1100" dirty="0">
                <a:solidFill>
                  <a:srgbClr val="EFA7DA"/>
                </a:solidFill>
                <a:latin typeface="Calibri" panose="020F0502020204030204" pitchFamily="34" charset="0"/>
                <a:ea typeface="Calibri" panose="020F0502020204030204" pitchFamily="34" charset="0"/>
                <a:cs typeface="Calibri" panose="020F0502020204030204" pitchFamily="34" charset="0"/>
              </a:rPr>
              <a:t>, </a:t>
            </a:r>
            <a:r>
              <a:rPr lang="en-US" sz="1100" dirty="0" err="1">
                <a:solidFill>
                  <a:srgbClr val="EFA7DA"/>
                </a:solidFill>
                <a:latin typeface="Calibri" panose="020F0502020204030204" pitchFamily="34" charset="0"/>
                <a:ea typeface="Calibri" panose="020F0502020204030204" pitchFamily="34" charset="0"/>
                <a:cs typeface="Calibri" panose="020F0502020204030204" pitchFamily="34" charset="0"/>
              </a:rPr>
              <a:t>s.Delivery_Date</a:t>
            </a:r>
            <a:r>
              <a:rPr lang="en-US" sz="1100" dirty="0">
                <a:solidFill>
                  <a:srgbClr val="EFA7DA"/>
                </a:solidFill>
                <a:latin typeface="Calibri" panose="020F0502020204030204" pitchFamily="34" charset="0"/>
                <a:ea typeface="Calibri" panose="020F0502020204030204" pitchFamily="34" charset="0"/>
                <a:cs typeface="Calibri" panose="020F0502020204030204" pitchFamily="34" charset="0"/>
              </a:rPr>
              <a:t>)</a:t>
            </a:r>
          </a:p>
          <a:p>
            <a:pPr marL="127000" indent="0">
              <a:buNone/>
            </a:pPr>
            <a:r>
              <a:rPr lang="en-US" sz="1100" dirty="0">
                <a:solidFill>
                  <a:srgbClr val="EFA7DA"/>
                </a:solidFill>
                <a:latin typeface="Calibri" panose="020F0502020204030204" pitchFamily="34" charset="0"/>
                <a:ea typeface="Calibri" panose="020F0502020204030204" pitchFamily="34" charset="0"/>
                <a:cs typeface="Calibri" panose="020F0502020204030204" pitchFamily="34" charset="0"/>
              </a:rPr>
              <a:t>                     &lt;= </a:t>
            </a:r>
            <a:r>
              <a:rPr lang="en-US" sz="1100" dirty="0" err="1">
                <a:solidFill>
                  <a:srgbClr val="EFA7DA"/>
                </a:solidFill>
                <a:latin typeface="Calibri" panose="020F0502020204030204" pitchFamily="34" charset="0"/>
                <a:ea typeface="Calibri" panose="020F0502020204030204" pitchFamily="34" charset="0"/>
                <a:cs typeface="Calibri" panose="020F0502020204030204" pitchFamily="34" charset="0"/>
              </a:rPr>
              <a:t>r.Avg_Transit_Time_Hours</a:t>
            </a:r>
            <a:endParaRPr lang="en-US" sz="1100" dirty="0">
              <a:solidFill>
                <a:srgbClr val="EFA7DA"/>
              </a:solidFill>
              <a:latin typeface="Calibri" panose="020F0502020204030204" pitchFamily="34" charset="0"/>
              <a:ea typeface="Calibri" panose="020F0502020204030204" pitchFamily="34" charset="0"/>
              <a:cs typeface="Calibri" panose="020F0502020204030204" pitchFamily="34" charset="0"/>
            </a:endParaRPr>
          </a:p>
          <a:p>
            <a:pPr marL="127000" indent="0">
              <a:buNone/>
            </a:pPr>
            <a:r>
              <a:rPr lang="en-US" sz="1100" dirty="0">
                <a:solidFill>
                  <a:srgbClr val="EFA7DA"/>
                </a:solidFill>
                <a:latin typeface="Calibri" panose="020F0502020204030204" pitchFamily="34" charset="0"/>
                <a:ea typeface="Calibri" panose="020F0502020204030204" pitchFamily="34" charset="0"/>
                <a:cs typeface="Calibri" panose="020F0502020204030204" pitchFamily="34" charset="0"/>
              </a:rPr>
              <a:t>                THEN 1 ELSE 0</a:t>
            </a:r>
          </a:p>
          <a:p>
            <a:pPr marL="127000" indent="0">
              <a:buNone/>
            </a:pPr>
            <a:r>
              <a:rPr lang="en-US" sz="1100" dirty="0">
                <a:solidFill>
                  <a:srgbClr val="EFA7DA"/>
                </a:solidFill>
                <a:latin typeface="Calibri" panose="020F0502020204030204" pitchFamily="34" charset="0"/>
                <a:ea typeface="Calibri" panose="020F0502020204030204" pitchFamily="34" charset="0"/>
                <a:cs typeface="Calibri" panose="020F0502020204030204" pitchFamily="34" charset="0"/>
              </a:rPr>
              <a:t>            END  ),  2</a:t>
            </a:r>
          </a:p>
          <a:p>
            <a:pPr marL="127000" indent="0">
              <a:buNone/>
            </a:pPr>
            <a:r>
              <a:rPr lang="en-US" sz="1100" dirty="0">
                <a:solidFill>
                  <a:srgbClr val="EFA7DA"/>
                </a:solidFill>
                <a:latin typeface="Calibri" panose="020F0502020204030204" pitchFamily="34" charset="0"/>
                <a:ea typeface="Calibri" panose="020F0502020204030204" pitchFamily="34" charset="0"/>
                <a:cs typeface="Calibri" panose="020F0502020204030204" pitchFamily="34" charset="0"/>
              </a:rPr>
              <a:t>    ) AS </a:t>
            </a:r>
            <a:r>
              <a:rPr lang="en-US" sz="1100" dirty="0" err="1">
                <a:solidFill>
                  <a:srgbClr val="EFA7DA"/>
                </a:solidFill>
                <a:latin typeface="Calibri" panose="020F0502020204030204" pitchFamily="34" charset="0"/>
                <a:ea typeface="Calibri" panose="020F0502020204030204" pitchFamily="34" charset="0"/>
                <a:cs typeface="Calibri" panose="020F0502020204030204" pitchFamily="34" charset="0"/>
              </a:rPr>
              <a:t>On_Time_Percentage</a:t>
            </a:r>
            <a:r>
              <a:rPr lang="en-US" sz="1100" dirty="0">
                <a:solidFill>
                  <a:srgbClr val="EFA7DA"/>
                </a:solidFill>
                <a:latin typeface="Calibri" panose="020F0502020204030204" pitchFamily="34" charset="0"/>
                <a:ea typeface="Calibri" panose="020F0502020204030204" pitchFamily="34" charset="0"/>
                <a:cs typeface="Calibri" panose="020F0502020204030204" pitchFamily="34" charset="0"/>
              </a:rPr>
              <a:t>,</a:t>
            </a:r>
          </a:p>
          <a:p>
            <a:pPr marL="127000" indent="0">
              <a:buNone/>
            </a:pPr>
            <a:r>
              <a:rPr lang="en-US" sz="1100" dirty="0">
                <a:solidFill>
                  <a:srgbClr val="EFA7DA"/>
                </a:solidFill>
                <a:latin typeface="Calibri" panose="020F0502020204030204" pitchFamily="34" charset="0"/>
                <a:ea typeface="Calibri" panose="020F0502020204030204" pitchFamily="34" charset="0"/>
                <a:cs typeface="Calibri" panose="020F0502020204030204" pitchFamily="34" charset="0"/>
              </a:rPr>
              <a:t>    RANK() OVER (</a:t>
            </a:r>
          </a:p>
          <a:p>
            <a:pPr marL="127000" indent="0">
              <a:buNone/>
            </a:pPr>
            <a:r>
              <a:rPr lang="en-US" sz="1100" dirty="0">
                <a:solidFill>
                  <a:srgbClr val="EFA7DA"/>
                </a:solidFill>
                <a:latin typeface="Calibri" panose="020F0502020204030204" pitchFamily="34" charset="0"/>
                <a:ea typeface="Calibri" panose="020F0502020204030204" pitchFamily="34" charset="0"/>
                <a:cs typeface="Calibri" panose="020F0502020204030204" pitchFamily="34" charset="0"/>
              </a:rPr>
              <a:t>        PARTITION BY </a:t>
            </a:r>
            <a:r>
              <a:rPr lang="en-US" sz="1100" dirty="0" err="1">
                <a:solidFill>
                  <a:srgbClr val="EFA7DA"/>
                </a:solidFill>
                <a:latin typeface="Calibri" panose="020F0502020204030204" pitchFamily="34" charset="0"/>
                <a:ea typeface="Calibri" panose="020F0502020204030204" pitchFamily="34" charset="0"/>
                <a:cs typeface="Calibri" panose="020F0502020204030204" pitchFamily="34" charset="0"/>
              </a:rPr>
              <a:t>s.Route_ID</a:t>
            </a:r>
            <a:endParaRPr lang="en-US" sz="1100" dirty="0">
              <a:solidFill>
                <a:srgbClr val="EFA7DA"/>
              </a:solidFill>
              <a:latin typeface="Calibri" panose="020F0502020204030204" pitchFamily="34" charset="0"/>
              <a:ea typeface="Calibri" panose="020F0502020204030204" pitchFamily="34" charset="0"/>
              <a:cs typeface="Calibri" panose="020F0502020204030204" pitchFamily="34" charset="0"/>
            </a:endParaRPr>
          </a:p>
          <a:p>
            <a:pPr marL="127000" indent="0">
              <a:buNone/>
            </a:pPr>
            <a:r>
              <a:rPr lang="en-US" sz="1100" dirty="0">
                <a:solidFill>
                  <a:srgbClr val="EFA7DA"/>
                </a:solidFill>
                <a:latin typeface="Calibri" panose="020F0502020204030204" pitchFamily="34" charset="0"/>
                <a:ea typeface="Calibri" panose="020F0502020204030204" pitchFamily="34" charset="0"/>
                <a:cs typeface="Calibri" panose="020F0502020204030204" pitchFamily="34" charset="0"/>
              </a:rPr>
              <a:t>        ORDER BY </a:t>
            </a:r>
          </a:p>
          <a:p>
            <a:pPr marL="127000" indent="0">
              <a:buNone/>
            </a:pPr>
            <a:r>
              <a:rPr lang="en-US" sz="1100" dirty="0">
                <a:solidFill>
                  <a:srgbClr val="EFA7DA"/>
                </a:solidFill>
                <a:latin typeface="Calibri" panose="020F0502020204030204" pitchFamily="34" charset="0"/>
                <a:ea typeface="Calibri" panose="020F0502020204030204" pitchFamily="34" charset="0"/>
                <a:cs typeface="Calibri" panose="020F0502020204030204" pitchFamily="34" charset="0"/>
              </a:rPr>
              <a:t>        100 * AVG(</a:t>
            </a:r>
          </a:p>
          <a:p>
            <a:pPr marL="127000" indent="0">
              <a:buNone/>
            </a:pPr>
            <a:r>
              <a:rPr lang="en-US" sz="1100" dirty="0">
                <a:solidFill>
                  <a:srgbClr val="EFA7DA"/>
                </a:solidFill>
                <a:latin typeface="Calibri" panose="020F0502020204030204" pitchFamily="34" charset="0"/>
                <a:ea typeface="Calibri" panose="020F0502020204030204" pitchFamily="34" charset="0"/>
                <a:cs typeface="Calibri" panose="020F0502020204030204" pitchFamily="34" charset="0"/>
              </a:rPr>
              <a:t>            CASE </a:t>
            </a:r>
          </a:p>
          <a:p>
            <a:pPr marL="127000" indent="0">
              <a:buNone/>
            </a:pPr>
            <a:r>
              <a:rPr lang="en-US" sz="1100" dirty="0">
                <a:solidFill>
                  <a:srgbClr val="EFA7DA"/>
                </a:solidFill>
                <a:latin typeface="Calibri" panose="020F0502020204030204" pitchFamily="34" charset="0"/>
                <a:ea typeface="Calibri" panose="020F0502020204030204" pitchFamily="34" charset="0"/>
                <a:cs typeface="Calibri" panose="020F0502020204030204" pitchFamily="34" charset="0"/>
              </a:rPr>
              <a:t>                WHEN TIMESTAMPDIFF(HOUR, </a:t>
            </a:r>
            <a:r>
              <a:rPr lang="en-US" sz="1100" dirty="0" err="1">
                <a:solidFill>
                  <a:srgbClr val="EFA7DA"/>
                </a:solidFill>
                <a:latin typeface="Calibri" panose="020F0502020204030204" pitchFamily="34" charset="0"/>
                <a:ea typeface="Calibri" panose="020F0502020204030204" pitchFamily="34" charset="0"/>
                <a:cs typeface="Calibri" panose="020F0502020204030204" pitchFamily="34" charset="0"/>
              </a:rPr>
              <a:t>s.Pickup_Date</a:t>
            </a:r>
            <a:r>
              <a:rPr lang="en-US" sz="1100" dirty="0">
                <a:solidFill>
                  <a:srgbClr val="EFA7DA"/>
                </a:solidFill>
                <a:latin typeface="Calibri" panose="020F0502020204030204" pitchFamily="34" charset="0"/>
                <a:ea typeface="Calibri" panose="020F0502020204030204" pitchFamily="34" charset="0"/>
                <a:cs typeface="Calibri" panose="020F0502020204030204" pitchFamily="34" charset="0"/>
              </a:rPr>
              <a:t>, </a:t>
            </a:r>
            <a:r>
              <a:rPr lang="en-US" sz="1100" dirty="0" err="1">
                <a:solidFill>
                  <a:srgbClr val="EFA7DA"/>
                </a:solidFill>
                <a:latin typeface="Calibri" panose="020F0502020204030204" pitchFamily="34" charset="0"/>
                <a:ea typeface="Calibri" panose="020F0502020204030204" pitchFamily="34" charset="0"/>
                <a:cs typeface="Calibri" panose="020F0502020204030204" pitchFamily="34" charset="0"/>
              </a:rPr>
              <a:t>s.Delivery_Date</a:t>
            </a:r>
            <a:r>
              <a:rPr lang="en-US" sz="1100" dirty="0">
                <a:solidFill>
                  <a:srgbClr val="EFA7DA"/>
                </a:solidFill>
                <a:latin typeface="Calibri" panose="020F0502020204030204" pitchFamily="34" charset="0"/>
                <a:ea typeface="Calibri" panose="020F0502020204030204" pitchFamily="34" charset="0"/>
                <a:cs typeface="Calibri" panose="020F0502020204030204" pitchFamily="34" charset="0"/>
              </a:rPr>
              <a:t>)</a:t>
            </a:r>
          </a:p>
          <a:p>
            <a:pPr marL="127000" indent="0">
              <a:buNone/>
            </a:pPr>
            <a:r>
              <a:rPr lang="en-US" sz="1100" dirty="0">
                <a:solidFill>
                  <a:srgbClr val="EFA7DA"/>
                </a:solidFill>
                <a:latin typeface="Calibri" panose="020F0502020204030204" pitchFamily="34" charset="0"/>
                <a:ea typeface="Calibri" panose="020F0502020204030204" pitchFamily="34" charset="0"/>
                <a:cs typeface="Calibri" panose="020F0502020204030204" pitchFamily="34" charset="0"/>
              </a:rPr>
              <a:t>                     &lt;= </a:t>
            </a:r>
            <a:r>
              <a:rPr lang="en-US" sz="1100" dirty="0" err="1">
                <a:solidFill>
                  <a:srgbClr val="EFA7DA"/>
                </a:solidFill>
                <a:latin typeface="Calibri" panose="020F0502020204030204" pitchFamily="34" charset="0"/>
                <a:ea typeface="Calibri" panose="020F0502020204030204" pitchFamily="34" charset="0"/>
                <a:cs typeface="Calibri" panose="020F0502020204030204" pitchFamily="34" charset="0"/>
              </a:rPr>
              <a:t>r.Avg_Transit_Time_Hours</a:t>
            </a:r>
            <a:endParaRPr lang="en-US" sz="1100" dirty="0">
              <a:solidFill>
                <a:srgbClr val="EFA7DA"/>
              </a:solidFill>
              <a:latin typeface="Calibri" panose="020F0502020204030204" pitchFamily="34" charset="0"/>
              <a:ea typeface="Calibri" panose="020F0502020204030204" pitchFamily="34" charset="0"/>
              <a:cs typeface="Calibri" panose="020F0502020204030204" pitchFamily="34" charset="0"/>
            </a:endParaRPr>
          </a:p>
          <a:p>
            <a:pPr marL="127000" indent="0">
              <a:buNone/>
            </a:pPr>
            <a:r>
              <a:rPr lang="en-US" sz="1100" dirty="0">
                <a:solidFill>
                  <a:srgbClr val="EFA7DA"/>
                </a:solidFill>
                <a:latin typeface="Calibri" panose="020F0502020204030204" pitchFamily="34" charset="0"/>
                <a:ea typeface="Calibri" panose="020F0502020204030204" pitchFamily="34" charset="0"/>
                <a:cs typeface="Calibri" panose="020F0502020204030204" pitchFamily="34" charset="0"/>
              </a:rPr>
              <a:t>                THEN 1 ELSE 0</a:t>
            </a:r>
          </a:p>
          <a:p>
            <a:pPr marL="127000" indent="0">
              <a:buNone/>
            </a:pPr>
            <a:r>
              <a:rPr lang="en-US" sz="1100" dirty="0">
                <a:solidFill>
                  <a:srgbClr val="EFA7DA"/>
                </a:solidFill>
                <a:latin typeface="Calibri" panose="020F0502020204030204" pitchFamily="34" charset="0"/>
                <a:ea typeface="Calibri" panose="020F0502020204030204" pitchFamily="34" charset="0"/>
                <a:cs typeface="Calibri" panose="020F0502020204030204" pitchFamily="34" charset="0"/>
              </a:rPr>
              <a:t>            END</a:t>
            </a:r>
          </a:p>
          <a:p>
            <a:pPr marL="127000" indent="0">
              <a:buNone/>
            </a:pPr>
            <a:r>
              <a:rPr lang="en-US" sz="1100" dirty="0">
                <a:solidFill>
                  <a:srgbClr val="EFA7DA"/>
                </a:solidFill>
                <a:latin typeface="Calibri" panose="020F0502020204030204" pitchFamily="34" charset="0"/>
                <a:ea typeface="Calibri" panose="020F0502020204030204" pitchFamily="34" charset="0"/>
                <a:cs typeface="Calibri" panose="020F0502020204030204" pitchFamily="34" charset="0"/>
              </a:rPr>
              <a:t>        ) DESC</a:t>
            </a:r>
          </a:p>
          <a:p>
            <a:pPr marL="127000" indent="0">
              <a:buNone/>
            </a:pPr>
            <a:r>
              <a:rPr lang="en-US" sz="1100" dirty="0">
                <a:solidFill>
                  <a:srgbClr val="EFA7DA"/>
                </a:solidFill>
                <a:latin typeface="Calibri" panose="020F0502020204030204" pitchFamily="34" charset="0"/>
                <a:ea typeface="Calibri" panose="020F0502020204030204" pitchFamily="34" charset="0"/>
                <a:cs typeface="Calibri" panose="020F0502020204030204" pitchFamily="34" charset="0"/>
              </a:rPr>
              <a:t>    ) AS </a:t>
            </a:r>
            <a:r>
              <a:rPr lang="en-US" sz="1100" dirty="0" err="1">
                <a:solidFill>
                  <a:srgbClr val="EFA7DA"/>
                </a:solidFill>
                <a:latin typeface="Calibri" panose="020F0502020204030204" pitchFamily="34" charset="0"/>
                <a:ea typeface="Calibri" panose="020F0502020204030204" pitchFamily="34" charset="0"/>
                <a:cs typeface="Calibri" panose="020F0502020204030204" pitchFamily="34" charset="0"/>
              </a:rPr>
              <a:t>Route_Rank</a:t>
            </a:r>
            <a:endParaRPr lang="en-US" sz="1100" dirty="0">
              <a:solidFill>
                <a:srgbClr val="EFA7DA"/>
              </a:solidFill>
              <a:latin typeface="Calibri" panose="020F0502020204030204" pitchFamily="34" charset="0"/>
              <a:ea typeface="Calibri" panose="020F0502020204030204" pitchFamily="34" charset="0"/>
              <a:cs typeface="Calibri" panose="020F0502020204030204" pitchFamily="34" charset="0"/>
            </a:endParaRPr>
          </a:p>
          <a:p>
            <a:pPr marL="127000" indent="0">
              <a:buNone/>
            </a:pPr>
            <a:r>
              <a:rPr lang="en-US" sz="1100" dirty="0">
                <a:solidFill>
                  <a:srgbClr val="EFA7DA"/>
                </a:solidFill>
                <a:latin typeface="Calibri" panose="020F0502020204030204" pitchFamily="34" charset="0"/>
                <a:ea typeface="Calibri" panose="020F0502020204030204" pitchFamily="34" charset="0"/>
                <a:cs typeface="Calibri" panose="020F0502020204030204" pitchFamily="34" charset="0"/>
              </a:rPr>
              <a:t>FROM Shipments s</a:t>
            </a:r>
          </a:p>
          <a:p>
            <a:pPr marL="127000" indent="0">
              <a:buNone/>
            </a:pPr>
            <a:r>
              <a:rPr lang="en-US" sz="1100" dirty="0">
                <a:solidFill>
                  <a:srgbClr val="EFA7DA"/>
                </a:solidFill>
                <a:latin typeface="Calibri" panose="020F0502020204030204" pitchFamily="34" charset="0"/>
                <a:ea typeface="Calibri" panose="020F0502020204030204" pitchFamily="34" charset="0"/>
                <a:cs typeface="Calibri" panose="020F0502020204030204" pitchFamily="34" charset="0"/>
              </a:rPr>
              <a:t>JOIN </a:t>
            </a:r>
            <a:r>
              <a:rPr lang="en-US" sz="1100" dirty="0" err="1">
                <a:solidFill>
                  <a:srgbClr val="EFA7DA"/>
                </a:solidFill>
                <a:latin typeface="Calibri" panose="020F0502020204030204" pitchFamily="34" charset="0"/>
                <a:ea typeface="Calibri" panose="020F0502020204030204" pitchFamily="34" charset="0"/>
                <a:cs typeface="Calibri" panose="020F0502020204030204" pitchFamily="34" charset="0"/>
              </a:rPr>
              <a:t>Delivery_Agents</a:t>
            </a:r>
            <a:r>
              <a:rPr lang="en-US" sz="1100" dirty="0">
                <a:solidFill>
                  <a:srgbClr val="EFA7DA"/>
                </a:solidFill>
                <a:latin typeface="Calibri" panose="020F0502020204030204" pitchFamily="34" charset="0"/>
                <a:ea typeface="Calibri" panose="020F0502020204030204" pitchFamily="34" charset="0"/>
                <a:cs typeface="Calibri" panose="020F0502020204030204" pitchFamily="34" charset="0"/>
              </a:rPr>
              <a:t> a ON </a:t>
            </a:r>
            <a:r>
              <a:rPr lang="en-US" sz="1100" dirty="0" err="1">
                <a:solidFill>
                  <a:srgbClr val="EFA7DA"/>
                </a:solidFill>
                <a:latin typeface="Calibri" panose="020F0502020204030204" pitchFamily="34" charset="0"/>
                <a:ea typeface="Calibri" panose="020F0502020204030204" pitchFamily="34" charset="0"/>
                <a:cs typeface="Calibri" panose="020F0502020204030204" pitchFamily="34" charset="0"/>
              </a:rPr>
              <a:t>s.Agent_ID</a:t>
            </a:r>
            <a:r>
              <a:rPr lang="en-US" sz="1100" dirty="0">
                <a:solidFill>
                  <a:srgbClr val="EFA7DA"/>
                </a:solidFill>
                <a:latin typeface="Calibri" panose="020F0502020204030204" pitchFamily="34" charset="0"/>
                <a:ea typeface="Calibri" panose="020F0502020204030204" pitchFamily="34" charset="0"/>
                <a:cs typeface="Calibri" panose="020F0502020204030204" pitchFamily="34" charset="0"/>
              </a:rPr>
              <a:t> = </a:t>
            </a:r>
            <a:r>
              <a:rPr lang="en-US" sz="1100" dirty="0" err="1">
                <a:solidFill>
                  <a:srgbClr val="EFA7DA"/>
                </a:solidFill>
                <a:latin typeface="Calibri" panose="020F0502020204030204" pitchFamily="34" charset="0"/>
                <a:ea typeface="Calibri" panose="020F0502020204030204" pitchFamily="34" charset="0"/>
                <a:cs typeface="Calibri" panose="020F0502020204030204" pitchFamily="34" charset="0"/>
              </a:rPr>
              <a:t>a.Agent_ID</a:t>
            </a:r>
            <a:endParaRPr lang="en-US" sz="1100" dirty="0">
              <a:solidFill>
                <a:srgbClr val="EFA7DA"/>
              </a:solidFill>
              <a:latin typeface="Calibri" panose="020F0502020204030204" pitchFamily="34" charset="0"/>
              <a:ea typeface="Calibri" panose="020F0502020204030204" pitchFamily="34" charset="0"/>
              <a:cs typeface="Calibri" panose="020F0502020204030204" pitchFamily="34" charset="0"/>
            </a:endParaRPr>
          </a:p>
          <a:p>
            <a:pPr marL="127000" indent="0">
              <a:buNone/>
            </a:pPr>
            <a:r>
              <a:rPr lang="en-US" sz="1100" dirty="0">
                <a:solidFill>
                  <a:srgbClr val="EFA7DA"/>
                </a:solidFill>
                <a:latin typeface="Calibri" panose="020F0502020204030204" pitchFamily="34" charset="0"/>
                <a:ea typeface="Calibri" panose="020F0502020204030204" pitchFamily="34" charset="0"/>
                <a:cs typeface="Calibri" panose="020F0502020204030204" pitchFamily="34" charset="0"/>
              </a:rPr>
              <a:t>JOIN Routes r ON </a:t>
            </a:r>
            <a:r>
              <a:rPr lang="en-US" sz="1100" dirty="0" err="1">
                <a:solidFill>
                  <a:srgbClr val="EFA7DA"/>
                </a:solidFill>
                <a:latin typeface="Calibri" panose="020F0502020204030204" pitchFamily="34" charset="0"/>
                <a:ea typeface="Calibri" panose="020F0502020204030204" pitchFamily="34" charset="0"/>
                <a:cs typeface="Calibri" panose="020F0502020204030204" pitchFamily="34" charset="0"/>
              </a:rPr>
              <a:t>s.Route_ID</a:t>
            </a:r>
            <a:r>
              <a:rPr lang="en-US" sz="1100" dirty="0">
                <a:solidFill>
                  <a:srgbClr val="EFA7DA"/>
                </a:solidFill>
                <a:latin typeface="Calibri" panose="020F0502020204030204" pitchFamily="34" charset="0"/>
                <a:ea typeface="Calibri" panose="020F0502020204030204" pitchFamily="34" charset="0"/>
                <a:cs typeface="Calibri" panose="020F0502020204030204" pitchFamily="34" charset="0"/>
              </a:rPr>
              <a:t> = </a:t>
            </a:r>
            <a:r>
              <a:rPr lang="en-US" sz="1100" dirty="0" err="1">
                <a:solidFill>
                  <a:srgbClr val="EFA7DA"/>
                </a:solidFill>
                <a:latin typeface="Calibri" panose="020F0502020204030204" pitchFamily="34" charset="0"/>
                <a:ea typeface="Calibri" panose="020F0502020204030204" pitchFamily="34" charset="0"/>
                <a:cs typeface="Calibri" panose="020F0502020204030204" pitchFamily="34" charset="0"/>
              </a:rPr>
              <a:t>r.Route_ID</a:t>
            </a:r>
            <a:endParaRPr lang="en-US" sz="1100" dirty="0">
              <a:solidFill>
                <a:srgbClr val="EFA7DA"/>
              </a:solidFill>
              <a:latin typeface="Calibri" panose="020F0502020204030204" pitchFamily="34" charset="0"/>
              <a:ea typeface="Calibri" panose="020F0502020204030204" pitchFamily="34" charset="0"/>
              <a:cs typeface="Calibri" panose="020F0502020204030204" pitchFamily="34" charset="0"/>
            </a:endParaRPr>
          </a:p>
          <a:p>
            <a:pPr marL="127000" indent="0">
              <a:buNone/>
            </a:pPr>
            <a:r>
              <a:rPr lang="en-US" sz="1100" dirty="0">
                <a:solidFill>
                  <a:srgbClr val="EFA7DA"/>
                </a:solidFill>
                <a:latin typeface="Calibri" panose="020F0502020204030204" pitchFamily="34" charset="0"/>
                <a:ea typeface="Calibri" panose="020F0502020204030204" pitchFamily="34" charset="0"/>
                <a:cs typeface="Calibri" panose="020F0502020204030204" pitchFamily="34" charset="0"/>
              </a:rPr>
              <a:t>GROUP BY </a:t>
            </a:r>
            <a:r>
              <a:rPr lang="en-US" sz="1100" dirty="0" err="1">
                <a:solidFill>
                  <a:srgbClr val="EFA7DA"/>
                </a:solidFill>
                <a:latin typeface="Calibri" panose="020F0502020204030204" pitchFamily="34" charset="0"/>
                <a:ea typeface="Calibri" panose="020F0502020204030204" pitchFamily="34" charset="0"/>
                <a:cs typeface="Calibri" panose="020F0502020204030204" pitchFamily="34" charset="0"/>
              </a:rPr>
              <a:t>s.Route_ID</a:t>
            </a:r>
            <a:r>
              <a:rPr lang="en-US" sz="1100" dirty="0">
                <a:solidFill>
                  <a:srgbClr val="EFA7DA"/>
                </a:solidFill>
                <a:latin typeface="Calibri" panose="020F0502020204030204" pitchFamily="34" charset="0"/>
                <a:ea typeface="Calibri" panose="020F0502020204030204" pitchFamily="34" charset="0"/>
                <a:cs typeface="Calibri" panose="020F0502020204030204" pitchFamily="34" charset="0"/>
              </a:rPr>
              <a:t>, </a:t>
            </a:r>
            <a:r>
              <a:rPr lang="en-US" sz="1100" dirty="0" err="1">
                <a:solidFill>
                  <a:srgbClr val="EFA7DA"/>
                </a:solidFill>
                <a:latin typeface="Calibri" panose="020F0502020204030204" pitchFamily="34" charset="0"/>
                <a:ea typeface="Calibri" panose="020F0502020204030204" pitchFamily="34" charset="0"/>
                <a:cs typeface="Calibri" panose="020F0502020204030204" pitchFamily="34" charset="0"/>
              </a:rPr>
              <a:t>a.Agent_ID</a:t>
            </a:r>
            <a:r>
              <a:rPr lang="en-US" sz="1100" dirty="0">
                <a:solidFill>
                  <a:srgbClr val="EFA7DA"/>
                </a:solidFill>
                <a:latin typeface="Calibri" panose="020F0502020204030204" pitchFamily="34" charset="0"/>
                <a:ea typeface="Calibri" panose="020F0502020204030204" pitchFamily="34" charset="0"/>
                <a:cs typeface="Calibri" panose="020F0502020204030204" pitchFamily="34" charset="0"/>
              </a:rPr>
              <a:t>, </a:t>
            </a:r>
            <a:r>
              <a:rPr lang="en-US" sz="1100" dirty="0" err="1">
                <a:solidFill>
                  <a:srgbClr val="EFA7DA"/>
                </a:solidFill>
                <a:latin typeface="Calibri" panose="020F0502020204030204" pitchFamily="34" charset="0"/>
                <a:ea typeface="Calibri" panose="020F0502020204030204" pitchFamily="34" charset="0"/>
                <a:cs typeface="Calibri" panose="020F0502020204030204" pitchFamily="34" charset="0"/>
              </a:rPr>
              <a:t>a.Agent_Name</a:t>
            </a:r>
            <a:r>
              <a:rPr lang="en-US" sz="1100" dirty="0">
                <a:solidFill>
                  <a:srgbClr val="EFA7DA"/>
                </a:solidFill>
                <a:latin typeface="Calibri" panose="020F0502020204030204" pitchFamily="34" charset="0"/>
                <a:ea typeface="Calibri" panose="020F0502020204030204" pitchFamily="34" charset="0"/>
                <a:cs typeface="Calibri" panose="020F0502020204030204" pitchFamily="34" charset="0"/>
              </a:rPr>
              <a:t>;</a:t>
            </a:r>
            <a:endParaRPr lang="en-US" sz="1100" dirty="0">
              <a:latin typeface="Calibri" panose="020F0502020204030204" pitchFamily="34" charset="0"/>
              <a:ea typeface="Calibri" panose="020F0502020204030204" pitchFamily="34" charset="0"/>
              <a:cs typeface="Calibri" panose="020F0502020204030204" pitchFamily="34" charset="0"/>
            </a:endParaRPr>
          </a:p>
          <a:p>
            <a:pPr marL="127000" indent="0">
              <a:buNone/>
            </a:pPr>
            <a:endParaRPr lang="en-US" sz="1100" dirty="0">
              <a:latin typeface="Calibri" panose="020F0502020204030204" pitchFamily="34" charset="0"/>
              <a:ea typeface="Calibri" panose="020F0502020204030204" pitchFamily="34" charset="0"/>
              <a:cs typeface="Calibri" panose="020F0502020204030204" pitchFamily="34" charset="0"/>
            </a:endParaRPr>
          </a:p>
          <a:p>
            <a:endParaRPr lang="en-US" sz="1100" dirty="0">
              <a:latin typeface="Calibri" panose="020F0502020204030204" pitchFamily="34" charset="0"/>
              <a:ea typeface="Calibri" panose="020F0502020204030204" pitchFamily="34" charset="0"/>
              <a:cs typeface="Calibri" panose="020F0502020204030204" pitchFamily="34" charset="0"/>
            </a:endParaRPr>
          </a:p>
        </p:txBody>
      </p:sp>
      <p:pic>
        <p:nvPicPr>
          <p:cNvPr id="7" name="Picture 6">
            <a:extLst>
              <a:ext uri="{FF2B5EF4-FFF2-40B4-BE49-F238E27FC236}">
                <a16:creationId xmlns:a16="http://schemas.microsoft.com/office/drawing/2014/main" id="{D15A20D2-3184-4E37-9DD9-1BDA9172E717}"/>
              </a:ext>
            </a:extLst>
          </p:cNvPr>
          <p:cNvPicPr>
            <a:picLocks noChangeAspect="1"/>
          </p:cNvPicPr>
          <p:nvPr/>
        </p:nvPicPr>
        <p:blipFill>
          <a:blip r:embed="rId2"/>
          <a:stretch>
            <a:fillRect/>
          </a:stretch>
        </p:blipFill>
        <p:spPr>
          <a:xfrm>
            <a:off x="4756772" y="552134"/>
            <a:ext cx="3916704" cy="2267266"/>
          </a:xfrm>
          <a:prstGeom prst="rect">
            <a:avLst/>
          </a:prstGeom>
        </p:spPr>
      </p:pic>
      <p:sp>
        <p:nvSpPr>
          <p:cNvPr id="9" name="TextBox 8">
            <a:extLst>
              <a:ext uri="{FF2B5EF4-FFF2-40B4-BE49-F238E27FC236}">
                <a16:creationId xmlns:a16="http://schemas.microsoft.com/office/drawing/2014/main" id="{FBDD06BA-A0D5-412B-AA3F-6E4D70CA5EEC}"/>
              </a:ext>
            </a:extLst>
          </p:cNvPr>
          <p:cNvSpPr txBox="1"/>
          <p:nvPr/>
        </p:nvSpPr>
        <p:spPr>
          <a:xfrm>
            <a:off x="4572000" y="3276600"/>
            <a:ext cx="4572000" cy="1384995"/>
          </a:xfrm>
          <a:prstGeom prst="rect">
            <a:avLst/>
          </a:prstGeom>
          <a:noFill/>
        </p:spPr>
        <p:txBody>
          <a:bodyPr wrap="square">
            <a:spAutoFit/>
          </a:bodyPr>
          <a:lstStyle/>
          <a:p>
            <a:r>
              <a:rPr lang="en-US" sz="1200" b="1" u="sng" dirty="0">
                <a:solidFill>
                  <a:schemeClr val="bg1"/>
                </a:solidFill>
                <a:latin typeface="Calibri" panose="020F0502020204030204" pitchFamily="34" charset="0"/>
                <a:ea typeface="Calibri" panose="020F0502020204030204" pitchFamily="34" charset="0"/>
                <a:cs typeface="Calibri" panose="020F0502020204030204" pitchFamily="34" charset="0"/>
              </a:rPr>
              <a:t>What was calculated:</a:t>
            </a:r>
            <a:br>
              <a:rPr lang="en-US" sz="1200" dirty="0">
                <a:solidFill>
                  <a:schemeClr val="bg1"/>
                </a:solidFill>
                <a:latin typeface="Calibri" panose="020F0502020204030204" pitchFamily="34" charset="0"/>
                <a:ea typeface="Calibri" panose="020F0502020204030204" pitchFamily="34" charset="0"/>
                <a:cs typeface="Calibri" panose="020F0502020204030204" pitchFamily="34" charset="0"/>
              </a:rPr>
            </a:br>
            <a:r>
              <a:rPr lang="en-US" sz="1200" dirty="0">
                <a:solidFill>
                  <a:schemeClr val="bg1"/>
                </a:solidFill>
                <a:latin typeface="Calibri" panose="020F0502020204030204" pitchFamily="34" charset="0"/>
                <a:ea typeface="Calibri" panose="020F0502020204030204" pitchFamily="34" charset="0"/>
                <a:cs typeface="Calibri" panose="020F0502020204030204" pitchFamily="34" charset="0"/>
              </a:rPr>
              <a:t>The on-time delivery percentage for each agent on every route and ranked them within the route.</a:t>
            </a:r>
          </a:p>
          <a:p>
            <a:endParaRPr lang="en-US" sz="1200"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r>
              <a:rPr lang="en-US" sz="1200" b="1" u="sng" dirty="0">
                <a:solidFill>
                  <a:schemeClr val="bg1"/>
                </a:solidFill>
                <a:latin typeface="Calibri" panose="020F0502020204030204" pitchFamily="34" charset="0"/>
                <a:ea typeface="Calibri" panose="020F0502020204030204" pitchFamily="34" charset="0"/>
                <a:cs typeface="Calibri" panose="020F0502020204030204" pitchFamily="34" charset="0"/>
              </a:rPr>
              <a:t>What we got:</a:t>
            </a:r>
            <a:br>
              <a:rPr lang="en-US" sz="1200" dirty="0">
                <a:solidFill>
                  <a:schemeClr val="bg1"/>
                </a:solidFill>
                <a:latin typeface="Calibri" panose="020F0502020204030204" pitchFamily="34" charset="0"/>
                <a:ea typeface="Calibri" panose="020F0502020204030204" pitchFamily="34" charset="0"/>
                <a:cs typeface="Calibri" panose="020F0502020204030204" pitchFamily="34" charset="0"/>
              </a:rPr>
            </a:br>
            <a:r>
              <a:rPr lang="en-US" sz="1200" dirty="0">
                <a:solidFill>
                  <a:schemeClr val="bg1"/>
                </a:solidFill>
                <a:latin typeface="Calibri" panose="020F0502020204030204" pitchFamily="34" charset="0"/>
                <a:ea typeface="Calibri" panose="020F0502020204030204" pitchFamily="34" charset="0"/>
                <a:cs typeface="Calibri" panose="020F0502020204030204" pitchFamily="34" charset="0"/>
              </a:rPr>
              <a:t>This shows the best and worst performing agents for each route, making agent-level performance differences clearly visible</a:t>
            </a:r>
            <a:r>
              <a:rPr lang="en-US" sz="1200" dirty="0">
                <a:latin typeface="Calibri" panose="020F0502020204030204" pitchFamily="34" charset="0"/>
                <a:ea typeface="Calibri" panose="020F0502020204030204" pitchFamily="34" charset="0"/>
                <a:cs typeface="Calibri" panose="020F0502020204030204" pitchFamily="34" charset="0"/>
              </a:rPr>
              <a:t>.</a:t>
            </a:r>
          </a:p>
        </p:txBody>
      </p:sp>
    </p:spTree>
    <p:extLst>
      <p:ext uri="{BB962C8B-B14F-4D97-AF65-F5344CB8AC3E}">
        <p14:creationId xmlns:p14="http://schemas.microsoft.com/office/powerpoint/2010/main" val="54950290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B6EF1B25-3C40-46D1-B263-A7811483C657}"/>
              </a:ext>
            </a:extLst>
          </p:cNvPr>
          <p:cNvSpPr>
            <a:spLocks noGrp="1"/>
          </p:cNvSpPr>
          <p:nvPr>
            <p:ph type="body" idx="1"/>
          </p:nvPr>
        </p:nvSpPr>
        <p:spPr>
          <a:xfrm>
            <a:off x="142876" y="0"/>
            <a:ext cx="8718000" cy="4629150"/>
          </a:xfrm>
        </p:spPr>
        <p:txBody>
          <a:bodyPr/>
          <a:lstStyle/>
          <a:p>
            <a:r>
              <a:rPr lang="en-US" sz="1400" b="1" dirty="0">
                <a:solidFill>
                  <a:schemeClr val="bg1"/>
                </a:solidFill>
                <a:latin typeface="Calibri" panose="020F0502020204030204" pitchFamily="34" charset="0"/>
                <a:ea typeface="Calibri" panose="020F0502020204030204" pitchFamily="34" charset="0"/>
                <a:cs typeface="Calibri" panose="020F0502020204030204" pitchFamily="34" charset="0"/>
              </a:rPr>
              <a:t>Find agents whose on-time % is below 85%.</a:t>
            </a:r>
          </a:p>
          <a:p>
            <a:pPr marL="127000" indent="0">
              <a:buNone/>
            </a:pPr>
            <a:endParaRPr lang="en-US" sz="1200" b="1"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pPr marL="127000" indent="0">
              <a:buNone/>
            </a:pPr>
            <a:r>
              <a:rPr lang="en-US" sz="1200" dirty="0">
                <a:solidFill>
                  <a:srgbClr val="EFA7DA"/>
                </a:solidFill>
                <a:latin typeface="Calibri" panose="020F0502020204030204" pitchFamily="34" charset="0"/>
                <a:ea typeface="Calibri" panose="020F0502020204030204" pitchFamily="34" charset="0"/>
                <a:cs typeface="Calibri" panose="020F0502020204030204" pitchFamily="34" charset="0"/>
              </a:rPr>
              <a:t>SELECT</a:t>
            </a:r>
          </a:p>
          <a:p>
            <a:pPr marL="127000" indent="0">
              <a:buNone/>
            </a:pPr>
            <a:r>
              <a:rPr lang="en-US" sz="1200" dirty="0">
                <a:solidFill>
                  <a:srgbClr val="EFA7DA"/>
                </a:solidFill>
                <a:latin typeface="Calibri" panose="020F0502020204030204" pitchFamily="34" charset="0"/>
                <a:ea typeface="Calibri" panose="020F0502020204030204" pitchFamily="34" charset="0"/>
                <a:cs typeface="Calibri" panose="020F0502020204030204" pitchFamily="34" charset="0"/>
              </a:rPr>
              <a:t>    </a:t>
            </a:r>
            <a:r>
              <a:rPr lang="en-US" sz="1200" dirty="0" err="1">
                <a:solidFill>
                  <a:srgbClr val="EFA7DA"/>
                </a:solidFill>
                <a:latin typeface="Calibri" panose="020F0502020204030204" pitchFamily="34" charset="0"/>
                <a:ea typeface="Calibri" panose="020F0502020204030204" pitchFamily="34" charset="0"/>
                <a:cs typeface="Calibri" panose="020F0502020204030204" pitchFamily="34" charset="0"/>
              </a:rPr>
              <a:t>a.Agent_ID</a:t>
            </a:r>
            <a:r>
              <a:rPr lang="en-US" sz="1200" dirty="0">
                <a:solidFill>
                  <a:srgbClr val="EFA7DA"/>
                </a:solidFill>
                <a:latin typeface="Calibri" panose="020F0502020204030204" pitchFamily="34" charset="0"/>
                <a:ea typeface="Calibri" panose="020F0502020204030204" pitchFamily="34" charset="0"/>
                <a:cs typeface="Calibri" panose="020F0502020204030204" pitchFamily="34" charset="0"/>
              </a:rPr>
              <a:t>,</a:t>
            </a:r>
          </a:p>
          <a:p>
            <a:pPr marL="127000" indent="0">
              <a:buNone/>
            </a:pPr>
            <a:r>
              <a:rPr lang="en-US" sz="1200" dirty="0">
                <a:solidFill>
                  <a:srgbClr val="EFA7DA"/>
                </a:solidFill>
                <a:latin typeface="Calibri" panose="020F0502020204030204" pitchFamily="34" charset="0"/>
                <a:ea typeface="Calibri" panose="020F0502020204030204" pitchFamily="34" charset="0"/>
                <a:cs typeface="Calibri" panose="020F0502020204030204" pitchFamily="34" charset="0"/>
              </a:rPr>
              <a:t>    </a:t>
            </a:r>
            <a:r>
              <a:rPr lang="en-US" sz="1200" dirty="0" err="1">
                <a:solidFill>
                  <a:srgbClr val="EFA7DA"/>
                </a:solidFill>
                <a:latin typeface="Calibri" panose="020F0502020204030204" pitchFamily="34" charset="0"/>
                <a:ea typeface="Calibri" panose="020F0502020204030204" pitchFamily="34" charset="0"/>
                <a:cs typeface="Calibri" panose="020F0502020204030204" pitchFamily="34" charset="0"/>
              </a:rPr>
              <a:t>a.Agent_Name</a:t>
            </a:r>
            <a:r>
              <a:rPr lang="en-US" sz="1200" dirty="0">
                <a:solidFill>
                  <a:srgbClr val="EFA7DA"/>
                </a:solidFill>
                <a:latin typeface="Calibri" panose="020F0502020204030204" pitchFamily="34" charset="0"/>
                <a:ea typeface="Calibri" panose="020F0502020204030204" pitchFamily="34" charset="0"/>
                <a:cs typeface="Calibri" panose="020F0502020204030204" pitchFamily="34" charset="0"/>
              </a:rPr>
              <a:t>,</a:t>
            </a:r>
          </a:p>
          <a:p>
            <a:pPr marL="127000" indent="0">
              <a:buNone/>
            </a:pPr>
            <a:r>
              <a:rPr lang="en-US" sz="1200" dirty="0">
                <a:solidFill>
                  <a:srgbClr val="EFA7DA"/>
                </a:solidFill>
                <a:latin typeface="Calibri" panose="020F0502020204030204" pitchFamily="34" charset="0"/>
                <a:ea typeface="Calibri" panose="020F0502020204030204" pitchFamily="34" charset="0"/>
                <a:cs typeface="Calibri" panose="020F0502020204030204" pitchFamily="34" charset="0"/>
              </a:rPr>
              <a:t>    ROUND(</a:t>
            </a:r>
          </a:p>
          <a:p>
            <a:pPr marL="127000" indent="0">
              <a:buNone/>
            </a:pPr>
            <a:r>
              <a:rPr lang="en-US" sz="1200" dirty="0">
                <a:solidFill>
                  <a:srgbClr val="EFA7DA"/>
                </a:solidFill>
                <a:latin typeface="Calibri" panose="020F0502020204030204" pitchFamily="34" charset="0"/>
                <a:ea typeface="Calibri" panose="020F0502020204030204" pitchFamily="34" charset="0"/>
                <a:cs typeface="Calibri" panose="020F0502020204030204" pitchFamily="34" charset="0"/>
              </a:rPr>
              <a:t>        100 * AVG(</a:t>
            </a:r>
          </a:p>
          <a:p>
            <a:pPr marL="127000" indent="0">
              <a:buNone/>
            </a:pPr>
            <a:r>
              <a:rPr lang="en-US" sz="1200" dirty="0">
                <a:solidFill>
                  <a:srgbClr val="EFA7DA"/>
                </a:solidFill>
                <a:latin typeface="Calibri" panose="020F0502020204030204" pitchFamily="34" charset="0"/>
                <a:ea typeface="Calibri" panose="020F0502020204030204" pitchFamily="34" charset="0"/>
                <a:cs typeface="Calibri" panose="020F0502020204030204" pitchFamily="34" charset="0"/>
              </a:rPr>
              <a:t>            CASE </a:t>
            </a:r>
          </a:p>
          <a:p>
            <a:pPr marL="127000" indent="0">
              <a:buNone/>
            </a:pPr>
            <a:r>
              <a:rPr lang="en-US" sz="1200" dirty="0">
                <a:solidFill>
                  <a:srgbClr val="EFA7DA"/>
                </a:solidFill>
                <a:latin typeface="Calibri" panose="020F0502020204030204" pitchFamily="34" charset="0"/>
                <a:ea typeface="Calibri" panose="020F0502020204030204" pitchFamily="34" charset="0"/>
                <a:cs typeface="Calibri" panose="020F0502020204030204" pitchFamily="34" charset="0"/>
              </a:rPr>
              <a:t>                WHEN TIMESTAMPDIFF(HOUR, </a:t>
            </a:r>
            <a:r>
              <a:rPr lang="en-US" sz="1200" dirty="0" err="1">
                <a:solidFill>
                  <a:srgbClr val="EFA7DA"/>
                </a:solidFill>
                <a:latin typeface="Calibri" panose="020F0502020204030204" pitchFamily="34" charset="0"/>
                <a:ea typeface="Calibri" panose="020F0502020204030204" pitchFamily="34" charset="0"/>
                <a:cs typeface="Calibri" panose="020F0502020204030204" pitchFamily="34" charset="0"/>
              </a:rPr>
              <a:t>s.Pickup_Date</a:t>
            </a:r>
            <a:r>
              <a:rPr lang="en-US" sz="1200" dirty="0">
                <a:solidFill>
                  <a:srgbClr val="EFA7DA"/>
                </a:solidFill>
                <a:latin typeface="Calibri" panose="020F0502020204030204" pitchFamily="34" charset="0"/>
                <a:ea typeface="Calibri" panose="020F0502020204030204" pitchFamily="34" charset="0"/>
                <a:cs typeface="Calibri" panose="020F0502020204030204" pitchFamily="34" charset="0"/>
              </a:rPr>
              <a:t>, </a:t>
            </a:r>
            <a:r>
              <a:rPr lang="en-US" sz="1200" dirty="0" err="1">
                <a:solidFill>
                  <a:srgbClr val="EFA7DA"/>
                </a:solidFill>
                <a:latin typeface="Calibri" panose="020F0502020204030204" pitchFamily="34" charset="0"/>
                <a:ea typeface="Calibri" panose="020F0502020204030204" pitchFamily="34" charset="0"/>
                <a:cs typeface="Calibri" panose="020F0502020204030204" pitchFamily="34" charset="0"/>
              </a:rPr>
              <a:t>s.Delivery_Date</a:t>
            </a:r>
            <a:r>
              <a:rPr lang="en-US" sz="1200" dirty="0">
                <a:solidFill>
                  <a:srgbClr val="EFA7DA"/>
                </a:solidFill>
                <a:latin typeface="Calibri" panose="020F0502020204030204" pitchFamily="34" charset="0"/>
                <a:ea typeface="Calibri" panose="020F0502020204030204" pitchFamily="34" charset="0"/>
                <a:cs typeface="Calibri" panose="020F0502020204030204" pitchFamily="34" charset="0"/>
              </a:rPr>
              <a:t>)</a:t>
            </a:r>
          </a:p>
          <a:p>
            <a:pPr marL="127000" indent="0">
              <a:buNone/>
            </a:pPr>
            <a:r>
              <a:rPr lang="en-US" sz="1200" dirty="0">
                <a:solidFill>
                  <a:srgbClr val="EFA7DA"/>
                </a:solidFill>
                <a:latin typeface="Calibri" panose="020F0502020204030204" pitchFamily="34" charset="0"/>
                <a:ea typeface="Calibri" panose="020F0502020204030204" pitchFamily="34" charset="0"/>
                <a:cs typeface="Calibri" panose="020F0502020204030204" pitchFamily="34" charset="0"/>
              </a:rPr>
              <a:t>                     &lt;= </a:t>
            </a:r>
            <a:r>
              <a:rPr lang="en-US" sz="1200" dirty="0" err="1">
                <a:solidFill>
                  <a:srgbClr val="EFA7DA"/>
                </a:solidFill>
                <a:latin typeface="Calibri" panose="020F0502020204030204" pitchFamily="34" charset="0"/>
                <a:ea typeface="Calibri" panose="020F0502020204030204" pitchFamily="34" charset="0"/>
                <a:cs typeface="Calibri" panose="020F0502020204030204" pitchFamily="34" charset="0"/>
              </a:rPr>
              <a:t>r.Avg_Transit_Time_Hours</a:t>
            </a:r>
            <a:endParaRPr lang="en-US" sz="1200" dirty="0">
              <a:solidFill>
                <a:srgbClr val="EFA7DA"/>
              </a:solidFill>
              <a:latin typeface="Calibri" panose="020F0502020204030204" pitchFamily="34" charset="0"/>
              <a:ea typeface="Calibri" panose="020F0502020204030204" pitchFamily="34" charset="0"/>
              <a:cs typeface="Calibri" panose="020F0502020204030204" pitchFamily="34" charset="0"/>
            </a:endParaRPr>
          </a:p>
          <a:p>
            <a:pPr marL="127000" indent="0">
              <a:buNone/>
            </a:pPr>
            <a:r>
              <a:rPr lang="en-US" sz="1200" dirty="0">
                <a:solidFill>
                  <a:srgbClr val="EFA7DA"/>
                </a:solidFill>
                <a:latin typeface="Calibri" panose="020F0502020204030204" pitchFamily="34" charset="0"/>
                <a:ea typeface="Calibri" panose="020F0502020204030204" pitchFamily="34" charset="0"/>
                <a:cs typeface="Calibri" panose="020F0502020204030204" pitchFamily="34" charset="0"/>
              </a:rPr>
              <a:t>                THEN 1 ELSE 0</a:t>
            </a:r>
          </a:p>
          <a:p>
            <a:pPr marL="127000" indent="0">
              <a:buNone/>
            </a:pPr>
            <a:r>
              <a:rPr lang="en-US" sz="1200" dirty="0">
                <a:solidFill>
                  <a:srgbClr val="EFA7DA"/>
                </a:solidFill>
                <a:latin typeface="Calibri" panose="020F0502020204030204" pitchFamily="34" charset="0"/>
                <a:ea typeface="Calibri" panose="020F0502020204030204" pitchFamily="34" charset="0"/>
                <a:cs typeface="Calibri" panose="020F0502020204030204" pitchFamily="34" charset="0"/>
              </a:rPr>
              <a:t>            END</a:t>
            </a:r>
          </a:p>
          <a:p>
            <a:pPr marL="127000" indent="0">
              <a:buNone/>
            </a:pPr>
            <a:r>
              <a:rPr lang="en-US" sz="1200" dirty="0">
                <a:solidFill>
                  <a:srgbClr val="EFA7DA"/>
                </a:solidFill>
                <a:latin typeface="Calibri" panose="020F0502020204030204" pitchFamily="34" charset="0"/>
                <a:ea typeface="Calibri" panose="020F0502020204030204" pitchFamily="34" charset="0"/>
                <a:cs typeface="Calibri" panose="020F0502020204030204" pitchFamily="34" charset="0"/>
              </a:rPr>
              <a:t>        ),</a:t>
            </a:r>
          </a:p>
          <a:p>
            <a:pPr marL="127000" indent="0">
              <a:buNone/>
            </a:pPr>
            <a:r>
              <a:rPr lang="en-US" sz="1200" dirty="0">
                <a:solidFill>
                  <a:srgbClr val="EFA7DA"/>
                </a:solidFill>
                <a:latin typeface="Calibri" panose="020F0502020204030204" pitchFamily="34" charset="0"/>
                <a:ea typeface="Calibri" panose="020F0502020204030204" pitchFamily="34" charset="0"/>
                <a:cs typeface="Calibri" panose="020F0502020204030204" pitchFamily="34" charset="0"/>
              </a:rPr>
              <a:t>        2</a:t>
            </a:r>
          </a:p>
          <a:p>
            <a:pPr marL="127000" indent="0">
              <a:buNone/>
            </a:pPr>
            <a:r>
              <a:rPr lang="en-US" sz="1200" dirty="0">
                <a:solidFill>
                  <a:srgbClr val="EFA7DA"/>
                </a:solidFill>
                <a:latin typeface="Calibri" panose="020F0502020204030204" pitchFamily="34" charset="0"/>
                <a:ea typeface="Calibri" panose="020F0502020204030204" pitchFamily="34" charset="0"/>
                <a:cs typeface="Calibri" panose="020F0502020204030204" pitchFamily="34" charset="0"/>
              </a:rPr>
              <a:t>    ) AS </a:t>
            </a:r>
            <a:r>
              <a:rPr lang="en-US" sz="1200" dirty="0" err="1">
                <a:solidFill>
                  <a:srgbClr val="EFA7DA"/>
                </a:solidFill>
                <a:latin typeface="Calibri" panose="020F0502020204030204" pitchFamily="34" charset="0"/>
                <a:ea typeface="Calibri" panose="020F0502020204030204" pitchFamily="34" charset="0"/>
                <a:cs typeface="Calibri" panose="020F0502020204030204" pitchFamily="34" charset="0"/>
              </a:rPr>
              <a:t>On_Time_Percentage</a:t>
            </a:r>
            <a:endParaRPr lang="en-US" sz="1200" dirty="0">
              <a:solidFill>
                <a:srgbClr val="EFA7DA"/>
              </a:solidFill>
              <a:latin typeface="Calibri" panose="020F0502020204030204" pitchFamily="34" charset="0"/>
              <a:ea typeface="Calibri" panose="020F0502020204030204" pitchFamily="34" charset="0"/>
              <a:cs typeface="Calibri" panose="020F0502020204030204" pitchFamily="34" charset="0"/>
            </a:endParaRPr>
          </a:p>
          <a:p>
            <a:pPr marL="127000" indent="0">
              <a:buNone/>
            </a:pPr>
            <a:r>
              <a:rPr lang="en-US" sz="1200" dirty="0">
                <a:solidFill>
                  <a:srgbClr val="EFA7DA"/>
                </a:solidFill>
                <a:latin typeface="Calibri" panose="020F0502020204030204" pitchFamily="34" charset="0"/>
                <a:ea typeface="Calibri" panose="020F0502020204030204" pitchFamily="34" charset="0"/>
                <a:cs typeface="Calibri" panose="020F0502020204030204" pitchFamily="34" charset="0"/>
              </a:rPr>
              <a:t>FROM Shipments s</a:t>
            </a:r>
          </a:p>
          <a:p>
            <a:pPr marL="127000" indent="0">
              <a:buNone/>
            </a:pPr>
            <a:r>
              <a:rPr lang="en-US" sz="1200" dirty="0">
                <a:solidFill>
                  <a:srgbClr val="EFA7DA"/>
                </a:solidFill>
                <a:latin typeface="Calibri" panose="020F0502020204030204" pitchFamily="34" charset="0"/>
                <a:ea typeface="Calibri" panose="020F0502020204030204" pitchFamily="34" charset="0"/>
                <a:cs typeface="Calibri" panose="020F0502020204030204" pitchFamily="34" charset="0"/>
              </a:rPr>
              <a:t>JOIN </a:t>
            </a:r>
            <a:r>
              <a:rPr lang="en-US" sz="1200" dirty="0" err="1">
                <a:solidFill>
                  <a:srgbClr val="EFA7DA"/>
                </a:solidFill>
                <a:latin typeface="Calibri" panose="020F0502020204030204" pitchFamily="34" charset="0"/>
                <a:ea typeface="Calibri" panose="020F0502020204030204" pitchFamily="34" charset="0"/>
                <a:cs typeface="Calibri" panose="020F0502020204030204" pitchFamily="34" charset="0"/>
              </a:rPr>
              <a:t>Delivery_Agents</a:t>
            </a:r>
            <a:r>
              <a:rPr lang="en-US" sz="1200" dirty="0">
                <a:solidFill>
                  <a:srgbClr val="EFA7DA"/>
                </a:solidFill>
                <a:latin typeface="Calibri" panose="020F0502020204030204" pitchFamily="34" charset="0"/>
                <a:ea typeface="Calibri" panose="020F0502020204030204" pitchFamily="34" charset="0"/>
                <a:cs typeface="Calibri" panose="020F0502020204030204" pitchFamily="34" charset="0"/>
              </a:rPr>
              <a:t> a </a:t>
            </a:r>
          </a:p>
          <a:p>
            <a:pPr marL="127000" indent="0">
              <a:buNone/>
            </a:pPr>
            <a:r>
              <a:rPr lang="en-US" sz="1200" dirty="0">
                <a:solidFill>
                  <a:srgbClr val="EFA7DA"/>
                </a:solidFill>
                <a:latin typeface="Calibri" panose="020F0502020204030204" pitchFamily="34" charset="0"/>
                <a:ea typeface="Calibri" panose="020F0502020204030204" pitchFamily="34" charset="0"/>
                <a:cs typeface="Calibri" panose="020F0502020204030204" pitchFamily="34" charset="0"/>
              </a:rPr>
              <a:t>    ON </a:t>
            </a:r>
            <a:r>
              <a:rPr lang="en-US" sz="1200" dirty="0" err="1">
                <a:solidFill>
                  <a:srgbClr val="EFA7DA"/>
                </a:solidFill>
                <a:latin typeface="Calibri" panose="020F0502020204030204" pitchFamily="34" charset="0"/>
                <a:ea typeface="Calibri" panose="020F0502020204030204" pitchFamily="34" charset="0"/>
                <a:cs typeface="Calibri" panose="020F0502020204030204" pitchFamily="34" charset="0"/>
              </a:rPr>
              <a:t>s.Agent_ID</a:t>
            </a:r>
            <a:r>
              <a:rPr lang="en-US" sz="1200" dirty="0">
                <a:solidFill>
                  <a:srgbClr val="EFA7DA"/>
                </a:solidFill>
                <a:latin typeface="Calibri" panose="020F0502020204030204" pitchFamily="34" charset="0"/>
                <a:ea typeface="Calibri" panose="020F0502020204030204" pitchFamily="34" charset="0"/>
                <a:cs typeface="Calibri" panose="020F0502020204030204" pitchFamily="34" charset="0"/>
              </a:rPr>
              <a:t> = </a:t>
            </a:r>
            <a:r>
              <a:rPr lang="en-US" sz="1200" dirty="0" err="1">
                <a:solidFill>
                  <a:srgbClr val="EFA7DA"/>
                </a:solidFill>
                <a:latin typeface="Calibri" panose="020F0502020204030204" pitchFamily="34" charset="0"/>
                <a:ea typeface="Calibri" panose="020F0502020204030204" pitchFamily="34" charset="0"/>
                <a:cs typeface="Calibri" panose="020F0502020204030204" pitchFamily="34" charset="0"/>
              </a:rPr>
              <a:t>a.Agent_ID</a:t>
            </a:r>
            <a:endParaRPr lang="en-US" sz="1200" dirty="0">
              <a:solidFill>
                <a:srgbClr val="EFA7DA"/>
              </a:solidFill>
              <a:latin typeface="Calibri" panose="020F0502020204030204" pitchFamily="34" charset="0"/>
              <a:ea typeface="Calibri" panose="020F0502020204030204" pitchFamily="34" charset="0"/>
              <a:cs typeface="Calibri" panose="020F0502020204030204" pitchFamily="34" charset="0"/>
            </a:endParaRPr>
          </a:p>
          <a:p>
            <a:pPr marL="127000" indent="0">
              <a:buNone/>
            </a:pPr>
            <a:r>
              <a:rPr lang="en-US" sz="1200" dirty="0">
                <a:solidFill>
                  <a:srgbClr val="EFA7DA"/>
                </a:solidFill>
                <a:latin typeface="Calibri" panose="020F0502020204030204" pitchFamily="34" charset="0"/>
                <a:ea typeface="Calibri" panose="020F0502020204030204" pitchFamily="34" charset="0"/>
                <a:cs typeface="Calibri" panose="020F0502020204030204" pitchFamily="34" charset="0"/>
              </a:rPr>
              <a:t>JOIN Routes r</a:t>
            </a:r>
          </a:p>
          <a:p>
            <a:pPr marL="127000" indent="0">
              <a:buNone/>
            </a:pPr>
            <a:r>
              <a:rPr lang="en-US" sz="1200" dirty="0">
                <a:solidFill>
                  <a:srgbClr val="EFA7DA"/>
                </a:solidFill>
                <a:latin typeface="Calibri" panose="020F0502020204030204" pitchFamily="34" charset="0"/>
                <a:ea typeface="Calibri" panose="020F0502020204030204" pitchFamily="34" charset="0"/>
                <a:cs typeface="Calibri" panose="020F0502020204030204" pitchFamily="34" charset="0"/>
              </a:rPr>
              <a:t>    ON </a:t>
            </a:r>
            <a:r>
              <a:rPr lang="en-US" sz="1200" dirty="0" err="1">
                <a:solidFill>
                  <a:srgbClr val="EFA7DA"/>
                </a:solidFill>
                <a:latin typeface="Calibri" panose="020F0502020204030204" pitchFamily="34" charset="0"/>
                <a:ea typeface="Calibri" panose="020F0502020204030204" pitchFamily="34" charset="0"/>
                <a:cs typeface="Calibri" panose="020F0502020204030204" pitchFamily="34" charset="0"/>
              </a:rPr>
              <a:t>s.Route_ID</a:t>
            </a:r>
            <a:r>
              <a:rPr lang="en-US" sz="1200" dirty="0">
                <a:solidFill>
                  <a:srgbClr val="EFA7DA"/>
                </a:solidFill>
                <a:latin typeface="Calibri" panose="020F0502020204030204" pitchFamily="34" charset="0"/>
                <a:ea typeface="Calibri" panose="020F0502020204030204" pitchFamily="34" charset="0"/>
                <a:cs typeface="Calibri" panose="020F0502020204030204" pitchFamily="34" charset="0"/>
              </a:rPr>
              <a:t> = </a:t>
            </a:r>
            <a:r>
              <a:rPr lang="en-US" sz="1200" dirty="0" err="1">
                <a:solidFill>
                  <a:srgbClr val="EFA7DA"/>
                </a:solidFill>
                <a:latin typeface="Calibri" panose="020F0502020204030204" pitchFamily="34" charset="0"/>
                <a:ea typeface="Calibri" panose="020F0502020204030204" pitchFamily="34" charset="0"/>
                <a:cs typeface="Calibri" panose="020F0502020204030204" pitchFamily="34" charset="0"/>
              </a:rPr>
              <a:t>r.Route_ID</a:t>
            </a:r>
            <a:endParaRPr lang="en-US" sz="1200" dirty="0">
              <a:solidFill>
                <a:srgbClr val="EFA7DA"/>
              </a:solidFill>
              <a:latin typeface="Calibri" panose="020F0502020204030204" pitchFamily="34" charset="0"/>
              <a:ea typeface="Calibri" panose="020F0502020204030204" pitchFamily="34" charset="0"/>
              <a:cs typeface="Calibri" panose="020F0502020204030204" pitchFamily="34" charset="0"/>
            </a:endParaRPr>
          </a:p>
          <a:p>
            <a:pPr marL="127000" indent="0">
              <a:buNone/>
            </a:pPr>
            <a:r>
              <a:rPr lang="en-US" sz="1200" dirty="0">
                <a:solidFill>
                  <a:srgbClr val="EFA7DA"/>
                </a:solidFill>
                <a:latin typeface="Calibri" panose="020F0502020204030204" pitchFamily="34" charset="0"/>
                <a:ea typeface="Calibri" panose="020F0502020204030204" pitchFamily="34" charset="0"/>
                <a:cs typeface="Calibri" panose="020F0502020204030204" pitchFamily="34" charset="0"/>
              </a:rPr>
              <a:t>GROUP BY </a:t>
            </a:r>
            <a:r>
              <a:rPr lang="en-US" sz="1200" dirty="0" err="1">
                <a:solidFill>
                  <a:srgbClr val="EFA7DA"/>
                </a:solidFill>
                <a:latin typeface="Calibri" panose="020F0502020204030204" pitchFamily="34" charset="0"/>
                <a:ea typeface="Calibri" panose="020F0502020204030204" pitchFamily="34" charset="0"/>
                <a:cs typeface="Calibri" panose="020F0502020204030204" pitchFamily="34" charset="0"/>
              </a:rPr>
              <a:t>a.Agent_ID</a:t>
            </a:r>
            <a:r>
              <a:rPr lang="en-US" sz="1200" dirty="0">
                <a:solidFill>
                  <a:srgbClr val="EFA7DA"/>
                </a:solidFill>
                <a:latin typeface="Calibri" panose="020F0502020204030204" pitchFamily="34" charset="0"/>
                <a:ea typeface="Calibri" panose="020F0502020204030204" pitchFamily="34" charset="0"/>
                <a:cs typeface="Calibri" panose="020F0502020204030204" pitchFamily="34" charset="0"/>
              </a:rPr>
              <a:t>, </a:t>
            </a:r>
            <a:r>
              <a:rPr lang="en-US" sz="1200" dirty="0" err="1">
                <a:solidFill>
                  <a:srgbClr val="EFA7DA"/>
                </a:solidFill>
                <a:latin typeface="Calibri" panose="020F0502020204030204" pitchFamily="34" charset="0"/>
                <a:ea typeface="Calibri" panose="020F0502020204030204" pitchFamily="34" charset="0"/>
                <a:cs typeface="Calibri" panose="020F0502020204030204" pitchFamily="34" charset="0"/>
              </a:rPr>
              <a:t>a.Agent_Name</a:t>
            </a:r>
            <a:endParaRPr lang="en-US" sz="1200" dirty="0">
              <a:solidFill>
                <a:srgbClr val="EFA7DA"/>
              </a:solidFill>
              <a:latin typeface="Calibri" panose="020F0502020204030204" pitchFamily="34" charset="0"/>
              <a:ea typeface="Calibri" panose="020F0502020204030204" pitchFamily="34" charset="0"/>
              <a:cs typeface="Calibri" panose="020F0502020204030204" pitchFamily="34" charset="0"/>
            </a:endParaRPr>
          </a:p>
          <a:p>
            <a:pPr marL="127000" indent="0">
              <a:buNone/>
            </a:pPr>
            <a:r>
              <a:rPr lang="en-US" sz="1200" dirty="0">
                <a:solidFill>
                  <a:srgbClr val="EFA7DA"/>
                </a:solidFill>
                <a:latin typeface="Calibri" panose="020F0502020204030204" pitchFamily="34" charset="0"/>
                <a:ea typeface="Calibri" panose="020F0502020204030204" pitchFamily="34" charset="0"/>
                <a:cs typeface="Calibri" panose="020F0502020204030204" pitchFamily="34" charset="0"/>
              </a:rPr>
              <a:t>HAVING </a:t>
            </a:r>
            <a:r>
              <a:rPr lang="en-US" sz="1200" dirty="0" err="1">
                <a:solidFill>
                  <a:srgbClr val="EFA7DA"/>
                </a:solidFill>
                <a:latin typeface="Calibri" panose="020F0502020204030204" pitchFamily="34" charset="0"/>
                <a:ea typeface="Calibri" panose="020F0502020204030204" pitchFamily="34" charset="0"/>
                <a:cs typeface="Calibri" panose="020F0502020204030204" pitchFamily="34" charset="0"/>
              </a:rPr>
              <a:t>On_Time_Percentage</a:t>
            </a:r>
            <a:r>
              <a:rPr lang="en-US" sz="1200" dirty="0">
                <a:solidFill>
                  <a:srgbClr val="EFA7DA"/>
                </a:solidFill>
                <a:latin typeface="Calibri" panose="020F0502020204030204" pitchFamily="34" charset="0"/>
                <a:ea typeface="Calibri" panose="020F0502020204030204" pitchFamily="34" charset="0"/>
                <a:cs typeface="Calibri" panose="020F0502020204030204" pitchFamily="34" charset="0"/>
              </a:rPr>
              <a:t> &lt; 85;</a:t>
            </a:r>
          </a:p>
          <a:p>
            <a:pPr marL="127000" indent="0">
              <a:buNone/>
            </a:pPr>
            <a:endParaRPr lang="en-US" sz="1100" dirty="0">
              <a:latin typeface="Calibri" panose="020F0502020204030204" pitchFamily="34" charset="0"/>
              <a:ea typeface="Calibri" panose="020F0502020204030204" pitchFamily="34" charset="0"/>
              <a:cs typeface="Calibri" panose="020F0502020204030204" pitchFamily="34" charset="0"/>
            </a:endParaRPr>
          </a:p>
          <a:p>
            <a:endParaRPr lang="en-US" sz="1100" dirty="0">
              <a:latin typeface="Calibri" panose="020F0502020204030204" pitchFamily="34" charset="0"/>
              <a:ea typeface="Calibri" panose="020F0502020204030204" pitchFamily="34" charset="0"/>
              <a:cs typeface="Calibri" panose="020F0502020204030204" pitchFamily="34" charset="0"/>
            </a:endParaRPr>
          </a:p>
        </p:txBody>
      </p:sp>
      <p:pic>
        <p:nvPicPr>
          <p:cNvPr id="4" name="Picture 3">
            <a:extLst>
              <a:ext uri="{FF2B5EF4-FFF2-40B4-BE49-F238E27FC236}">
                <a16:creationId xmlns:a16="http://schemas.microsoft.com/office/drawing/2014/main" id="{B16FFF73-420E-43E0-A9C7-5789476A02B2}"/>
              </a:ext>
            </a:extLst>
          </p:cNvPr>
          <p:cNvPicPr>
            <a:picLocks noChangeAspect="1"/>
          </p:cNvPicPr>
          <p:nvPr/>
        </p:nvPicPr>
        <p:blipFill>
          <a:blip r:embed="rId2"/>
          <a:stretch>
            <a:fillRect/>
          </a:stretch>
        </p:blipFill>
        <p:spPr>
          <a:xfrm>
            <a:off x="5005177" y="247326"/>
            <a:ext cx="3019846" cy="2324424"/>
          </a:xfrm>
          <a:prstGeom prst="rect">
            <a:avLst/>
          </a:prstGeom>
        </p:spPr>
      </p:pic>
      <p:sp>
        <p:nvSpPr>
          <p:cNvPr id="8" name="TextBox 7">
            <a:extLst>
              <a:ext uri="{FF2B5EF4-FFF2-40B4-BE49-F238E27FC236}">
                <a16:creationId xmlns:a16="http://schemas.microsoft.com/office/drawing/2014/main" id="{2557B7AE-13E4-43C7-8E32-67550F49622F}"/>
              </a:ext>
            </a:extLst>
          </p:cNvPr>
          <p:cNvSpPr txBox="1"/>
          <p:nvPr/>
        </p:nvSpPr>
        <p:spPr>
          <a:xfrm>
            <a:off x="4100513" y="3076456"/>
            <a:ext cx="4600574" cy="1200329"/>
          </a:xfrm>
          <a:prstGeom prst="rect">
            <a:avLst/>
          </a:prstGeom>
          <a:noFill/>
        </p:spPr>
        <p:txBody>
          <a:bodyPr wrap="square">
            <a:spAutoFit/>
          </a:bodyPr>
          <a:lstStyle/>
          <a:p>
            <a:r>
              <a:rPr lang="en-US" sz="1200" b="1" u="sng" dirty="0">
                <a:solidFill>
                  <a:schemeClr val="bg1"/>
                </a:solidFill>
                <a:latin typeface="Calibri" panose="020F0502020204030204" pitchFamily="34" charset="0"/>
                <a:ea typeface="Calibri" panose="020F0502020204030204" pitchFamily="34" charset="0"/>
                <a:cs typeface="Calibri" panose="020F0502020204030204" pitchFamily="34" charset="0"/>
              </a:rPr>
              <a:t>What was calculated:</a:t>
            </a:r>
            <a:br>
              <a:rPr lang="en-US" sz="1200" dirty="0">
                <a:solidFill>
                  <a:schemeClr val="bg1"/>
                </a:solidFill>
                <a:latin typeface="Calibri" panose="020F0502020204030204" pitchFamily="34" charset="0"/>
                <a:ea typeface="Calibri" panose="020F0502020204030204" pitchFamily="34" charset="0"/>
                <a:cs typeface="Calibri" panose="020F0502020204030204" pitchFamily="34" charset="0"/>
              </a:rPr>
            </a:br>
            <a:r>
              <a:rPr lang="en-US" sz="1200" dirty="0">
                <a:solidFill>
                  <a:schemeClr val="bg1"/>
                </a:solidFill>
                <a:latin typeface="Calibri" panose="020F0502020204030204" pitchFamily="34" charset="0"/>
                <a:ea typeface="Calibri" panose="020F0502020204030204" pitchFamily="34" charset="0"/>
                <a:cs typeface="Calibri" panose="020F0502020204030204" pitchFamily="34" charset="0"/>
              </a:rPr>
              <a:t>Average on-time delivery percentage per agent across all shipments.</a:t>
            </a:r>
          </a:p>
          <a:p>
            <a:endParaRPr lang="en-US" sz="1200"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r>
              <a:rPr lang="en-US" sz="1200" b="1" u="sng" dirty="0">
                <a:solidFill>
                  <a:schemeClr val="bg1"/>
                </a:solidFill>
                <a:latin typeface="Calibri" panose="020F0502020204030204" pitchFamily="34" charset="0"/>
                <a:ea typeface="Calibri" panose="020F0502020204030204" pitchFamily="34" charset="0"/>
                <a:cs typeface="Calibri" panose="020F0502020204030204" pitchFamily="34" charset="0"/>
              </a:rPr>
              <a:t>What we got:</a:t>
            </a:r>
            <a:br>
              <a:rPr lang="en-US" sz="1200" dirty="0">
                <a:solidFill>
                  <a:schemeClr val="bg1"/>
                </a:solidFill>
                <a:latin typeface="Calibri" panose="020F0502020204030204" pitchFamily="34" charset="0"/>
                <a:ea typeface="Calibri" panose="020F0502020204030204" pitchFamily="34" charset="0"/>
                <a:cs typeface="Calibri" panose="020F0502020204030204" pitchFamily="34" charset="0"/>
              </a:rPr>
            </a:br>
            <a:r>
              <a:rPr lang="en-US" sz="1200" dirty="0">
                <a:solidFill>
                  <a:schemeClr val="bg1"/>
                </a:solidFill>
                <a:latin typeface="Calibri" panose="020F0502020204030204" pitchFamily="34" charset="0"/>
                <a:ea typeface="Calibri" panose="020F0502020204030204" pitchFamily="34" charset="0"/>
                <a:cs typeface="Calibri" panose="020F0502020204030204" pitchFamily="34" charset="0"/>
              </a:rPr>
              <a:t>Agents performing below the 85% threshold were identified, highlighting those who require attention or corrective action.</a:t>
            </a:r>
          </a:p>
        </p:txBody>
      </p:sp>
    </p:spTree>
    <p:extLst>
      <p:ext uri="{BB962C8B-B14F-4D97-AF65-F5344CB8AC3E}">
        <p14:creationId xmlns:p14="http://schemas.microsoft.com/office/powerpoint/2010/main" val="27423252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B6EF1B25-3C40-46D1-B263-A7811483C657}"/>
              </a:ext>
            </a:extLst>
          </p:cNvPr>
          <p:cNvSpPr>
            <a:spLocks noGrp="1"/>
          </p:cNvSpPr>
          <p:nvPr>
            <p:ph type="body" idx="1"/>
          </p:nvPr>
        </p:nvSpPr>
        <p:spPr>
          <a:xfrm>
            <a:off x="142876" y="0"/>
            <a:ext cx="8718000" cy="4629150"/>
          </a:xfrm>
        </p:spPr>
        <p:txBody>
          <a:bodyPr/>
          <a:lstStyle/>
          <a:p>
            <a:r>
              <a:rPr lang="en-US" sz="1400" b="1" dirty="0">
                <a:solidFill>
                  <a:schemeClr val="bg1"/>
                </a:solidFill>
                <a:latin typeface="Calibri" panose="020F0502020204030204" pitchFamily="34" charset="0"/>
                <a:ea typeface="Calibri" panose="020F0502020204030204" pitchFamily="34" charset="0"/>
                <a:cs typeface="Calibri" panose="020F0502020204030204" pitchFamily="34" charset="0"/>
              </a:rPr>
              <a:t>Compare the average rating and experience (in years) of the top 5 vs bottom 5 agents using subqueries. </a:t>
            </a:r>
            <a:br>
              <a:rPr lang="en-US" sz="1400" b="1" dirty="0">
                <a:solidFill>
                  <a:schemeClr val="bg1"/>
                </a:solidFill>
                <a:latin typeface="Calibri" panose="020F0502020204030204" pitchFamily="34" charset="0"/>
                <a:ea typeface="Calibri" panose="020F0502020204030204" pitchFamily="34" charset="0"/>
                <a:cs typeface="Calibri" panose="020F0502020204030204" pitchFamily="34" charset="0"/>
              </a:rPr>
            </a:br>
            <a:br>
              <a:rPr lang="en-US" sz="1400" b="1" dirty="0">
                <a:solidFill>
                  <a:schemeClr val="bg1"/>
                </a:solidFill>
                <a:latin typeface="Calibri" panose="020F0502020204030204" pitchFamily="34" charset="0"/>
                <a:ea typeface="Calibri" panose="020F0502020204030204" pitchFamily="34" charset="0"/>
                <a:cs typeface="Calibri" panose="020F0502020204030204" pitchFamily="34" charset="0"/>
              </a:rPr>
            </a:br>
            <a:br>
              <a:rPr lang="en-US" sz="1400" b="1" dirty="0">
                <a:latin typeface="Calibri" panose="020F0502020204030204" pitchFamily="34" charset="0"/>
                <a:ea typeface="Calibri" panose="020F0502020204030204" pitchFamily="34" charset="0"/>
                <a:cs typeface="Calibri" panose="020F0502020204030204" pitchFamily="34" charset="0"/>
              </a:rPr>
            </a:br>
            <a:r>
              <a:rPr lang="en-US" sz="1200" dirty="0">
                <a:solidFill>
                  <a:srgbClr val="EFA7DA"/>
                </a:solidFill>
                <a:latin typeface="Calibri" panose="020F0502020204030204" pitchFamily="34" charset="0"/>
                <a:ea typeface="Calibri" panose="020F0502020204030204" pitchFamily="34" charset="0"/>
                <a:cs typeface="Calibri" panose="020F0502020204030204" pitchFamily="34" charset="0"/>
              </a:rPr>
              <a:t>SELECT 'Top 5 Agents', AVG(Rating), AVG(</a:t>
            </a:r>
            <a:r>
              <a:rPr lang="en-US" sz="1200" dirty="0" err="1">
                <a:solidFill>
                  <a:srgbClr val="EFA7DA"/>
                </a:solidFill>
                <a:latin typeface="Calibri" panose="020F0502020204030204" pitchFamily="34" charset="0"/>
                <a:ea typeface="Calibri" panose="020F0502020204030204" pitchFamily="34" charset="0"/>
                <a:cs typeface="Calibri" panose="020F0502020204030204" pitchFamily="34" charset="0"/>
              </a:rPr>
              <a:t>Experience_Years</a:t>
            </a:r>
            <a:r>
              <a:rPr lang="en-US" sz="1200" dirty="0">
                <a:solidFill>
                  <a:srgbClr val="EFA7DA"/>
                </a:solidFill>
                <a:latin typeface="Calibri" panose="020F0502020204030204" pitchFamily="34" charset="0"/>
                <a:ea typeface="Calibri" panose="020F0502020204030204" pitchFamily="34" charset="0"/>
                <a:cs typeface="Calibri" panose="020F0502020204030204" pitchFamily="34" charset="0"/>
              </a:rPr>
              <a:t>)</a:t>
            </a:r>
          </a:p>
          <a:p>
            <a:pPr marL="127000" indent="0">
              <a:buNone/>
            </a:pPr>
            <a:r>
              <a:rPr lang="en-US" sz="1200" dirty="0">
                <a:solidFill>
                  <a:srgbClr val="EFA7DA"/>
                </a:solidFill>
                <a:latin typeface="Calibri" panose="020F0502020204030204" pitchFamily="34" charset="0"/>
                <a:ea typeface="Calibri" panose="020F0502020204030204" pitchFamily="34" charset="0"/>
                <a:cs typeface="Calibri" panose="020F0502020204030204" pitchFamily="34" charset="0"/>
              </a:rPr>
              <a:t>FROM (</a:t>
            </a:r>
          </a:p>
          <a:p>
            <a:pPr marL="127000" indent="0">
              <a:buNone/>
            </a:pPr>
            <a:r>
              <a:rPr lang="en-US" sz="1200" dirty="0">
                <a:solidFill>
                  <a:srgbClr val="EFA7DA"/>
                </a:solidFill>
                <a:latin typeface="Calibri" panose="020F0502020204030204" pitchFamily="34" charset="0"/>
                <a:ea typeface="Calibri" panose="020F0502020204030204" pitchFamily="34" charset="0"/>
                <a:cs typeface="Calibri" panose="020F0502020204030204" pitchFamily="34" charset="0"/>
              </a:rPr>
              <a:t>    SELECT * FROM </a:t>
            </a:r>
            <a:r>
              <a:rPr lang="en-US" sz="1200" dirty="0" err="1">
                <a:solidFill>
                  <a:srgbClr val="EFA7DA"/>
                </a:solidFill>
                <a:latin typeface="Calibri" panose="020F0502020204030204" pitchFamily="34" charset="0"/>
                <a:ea typeface="Calibri" panose="020F0502020204030204" pitchFamily="34" charset="0"/>
                <a:cs typeface="Calibri" panose="020F0502020204030204" pitchFamily="34" charset="0"/>
              </a:rPr>
              <a:t>Agent_Performance</a:t>
            </a:r>
            <a:endParaRPr lang="en-US" sz="1200" dirty="0">
              <a:solidFill>
                <a:srgbClr val="EFA7DA"/>
              </a:solidFill>
              <a:latin typeface="Calibri" panose="020F0502020204030204" pitchFamily="34" charset="0"/>
              <a:ea typeface="Calibri" panose="020F0502020204030204" pitchFamily="34" charset="0"/>
              <a:cs typeface="Calibri" panose="020F0502020204030204" pitchFamily="34" charset="0"/>
            </a:endParaRPr>
          </a:p>
          <a:p>
            <a:pPr marL="127000" indent="0">
              <a:buNone/>
            </a:pPr>
            <a:r>
              <a:rPr lang="en-US" sz="1200" dirty="0">
                <a:solidFill>
                  <a:srgbClr val="EFA7DA"/>
                </a:solidFill>
                <a:latin typeface="Calibri" panose="020F0502020204030204" pitchFamily="34" charset="0"/>
                <a:ea typeface="Calibri" panose="020F0502020204030204" pitchFamily="34" charset="0"/>
                <a:cs typeface="Calibri" panose="020F0502020204030204" pitchFamily="34" charset="0"/>
              </a:rPr>
              <a:t>    ORDER BY </a:t>
            </a:r>
            <a:r>
              <a:rPr lang="en-US" sz="1200" dirty="0" err="1">
                <a:solidFill>
                  <a:srgbClr val="EFA7DA"/>
                </a:solidFill>
                <a:latin typeface="Calibri" panose="020F0502020204030204" pitchFamily="34" charset="0"/>
                <a:ea typeface="Calibri" panose="020F0502020204030204" pitchFamily="34" charset="0"/>
                <a:cs typeface="Calibri" panose="020F0502020204030204" pitchFamily="34" charset="0"/>
              </a:rPr>
              <a:t>On_Time_Percentage</a:t>
            </a:r>
            <a:r>
              <a:rPr lang="en-US" sz="1200" dirty="0">
                <a:solidFill>
                  <a:srgbClr val="EFA7DA"/>
                </a:solidFill>
                <a:latin typeface="Calibri" panose="020F0502020204030204" pitchFamily="34" charset="0"/>
                <a:ea typeface="Calibri" panose="020F0502020204030204" pitchFamily="34" charset="0"/>
                <a:cs typeface="Calibri" panose="020F0502020204030204" pitchFamily="34" charset="0"/>
              </a:rPr>
              <a:t> DESC</a:t>
            </a:r>
          </a:p>
          <a:p>
            <a:pPr marL="127000" indent="0">
              <a:buNone/>
            </a:pPr>
            <a:r>
              <a:rPr lang="en-US" sz="1200" dirty="0">
                <a:solidFill>
                  <a:srgbClr val="EFA7DA"/>
                </a:solidFill>
                <a:latin typeface="Calibri" panose="020F0502020204030204" pitchFamily="34" charset="0"/>
                <a:ea typeface="Calibri" panose="020F0502020204030204" pitchFamily="34" charset="0"/>
                <a:cs typeface="Calibri" panose="020F0502020204030204" pitchFamily="34" charset="0"/>
              </a:rPr>
              <a:t>    LIMIT 5</a:t>
            </a:r>
          </a:p>
          <a:p>
            <a:pPr marL="127000" indent="0">
              <a:buNone/>
            </a:pPr>
            <a:r>
              <a:rPr lang="en-US" sz="1200" dirty="0">
                <a:solidFill>
                  <a:srgbClr val="EFA7DA"/>
                </a:solidFill>
                <a:latin typeface="Calibri" panose="020F0502020204030204" pitchFamily="34" charset="0"/>
                <a:ea typeface="Calibri" panose="020F0502020204030204" pitchFamily="34" charset="0"/>
                <a:cs typeface="Calibri" panose="020F0502020204030204" pitchFamily="34" charset="0"/>
              </a:rPr>
              <a:t>) t</a:t>
            </a:r>
          </a:p>
          <a:p>
            <a:pPr marL="127000" indent="0">
              <a:buNone/>
            </a:pPr>
            <a:endParaRPr lang="en-US" sz="1200" dirty="0">
              <a:solidFill>
                <a:srgbClr val="EFA7DA"/>
              </a:solidFill>
              <a:latin typeface="Calibri" panose="020F0502020204030204" pitchFamily="34" charset="0"/>
              <a:ea typeface="Calibri" panose="020F0502020204030204" pitchFamily="34" charset="0"/>
              <a:cs typeface="Calibri" panose="020F0502020204030204" pitchFamily="34" charset="0"/>
            </a:endParaRPr>
          </a:p>
          <a:p>
            <a:pPr marL="127000" indent="0">
              <a:buNone/>
            </a:pPr>
            <a:r>
              <a:rPr lang="en-US" sz="1200" dirty="0">
                <a:solidFill>
                  <a:srgbClr val="EFA7DA"/>
                </a:solidFill>
                <a:latin typeface="Calibri" panose="020F0502020204030204" pitchFamily="34" charset="0"/>
                <a:ea typeface="Calibri" panose="020F0502020204030204" pitchFamily="34" charset="0"/>
                <a:cs typeface="Calibri" panose="020F0502020204030204" pitchFamily="34" charset="0"/>
              </a:rPr>
              <a:t>UNION ALL</a:t>
            </a:r>
          </a:p>
          <a:p>
            <a:pPr marL="127000" indent="0">
              <a:buNone/>
            </a:pPr>
            <a:endParaRPr lang="en-US" sz="1200" dirty="0">
              <a:solidFill>
                <a:srgbClr val="EFA7DA"/>
              </a:solidFill>
              <a:latin typeface="Calibri" panose="020F0502020204030204" pitchFamily="34" charset="0"/>
              <a:ea typeface="Calibri" panose="020F0502020204030204" pitchFamily="34" charset="0"/>
              <a:cs typeface="Calibri" panose="020F0502020204030204" pitchFamily="34" charset="0"/>
            </a:endParaRPr>
          </a:p>
          <a:p>
            <a:pPr marL="127000" indent="0">
              <a:buNone/>
            </a:pPr>
            <a:r>
              <a:rPr lang="en-US" sz="1200" dirty="0">
                <a:solidFill>
                  <a:srgbClr val="EFA7DA"/>
                </a:solidFill>
                <a:latin typeface="Calibri" panose="020F0502020204030204" pitchFamily="34" charset="0"/>
                <a:ea typeface="Calibri" panose="020F0502020204030204" pitchFamily="34" charset="0"/>
                <a:cs typeface="Calibri" panose="020F0502020204030204" pitchFamily="34" charset="0"/>
              </a:rPr>
              <a:t>SELECT 'Bottom 5 Agents', AVG(Rating), AVG(</a:t>
            </a:r>
            <a:r>
              <a:rPr lang="en-US" sz="1200" dirty="0" err="1">
                <a:solidFill>
                  <a:srgbClr val="EFA7DA"/>
                </a:solidFill>
                <a:latin typeface="Calibri" panose="020F0502020204030204" pitchFamily="34" charset="0"/>
                <a:ea typeface="Calibri" panose="020F0502020204030204" pitchFamily="34" charset="0"/>
                <a:cs typeface="Calibri" panose="020F0502020204030204" pitchFamily="34" charset="0"/>
              </a:rPr>
              <a:t>Experience_Years</a:t>
            </a:r>
            <a:r>
              <a:rPr lang="en-US" sz="1200" dirty="0">
                <a:solidFill>
                  <a:srgbClr val="EFA7DA"/>
                </a:solidFill>
                <a:latin typeface="Calibri" panose="020F0502020204030204" pitchFamily="34" charset="0"/>
                <a:ea typeface="Calibri" panose="020F0502020204030204" pitchFamily="34" charset="0"/>
                <a:cs typeface="Calibri" panose="020F0502020204030204" pitchFamily="34" charset="0"/>
              </a:rPr>
              <a:t>)</a:t>
            </a:r>
          </a:p>
          <a:p>
            <a:pPr marL="127000" indent="0">
              <a:buNone/>
            </a:pPr>
            <a:r>
              <a:rPr lang="en-US" sz="1200" dirty="0">
                <a:solidFill>
                  <a:srgbClr val="EFA7DA"/>
                </a:solidFill>
                <a:latin typeface="Calibri" panose="020F0502020204030204" pitchFamily="34" charset="0"/>
                <a:ea typeface="Calibri" panose="020F0502020204030204" pitchFamily="34" charset="0"/>
                <a:cs typeface="Calibri" panose="020F0502020204030204" pitchFamily="34" charset="0"/>
              </a:rPr>
              <a:t>FROM (</a:t>
            </a:r>
          </a:p>
          <a:p>
            <a:pPr marL="127000" indent="0">
              <a:buNone/>
            </a:pPr>
            <a:r>
              <a:rPr lang="en-US" sz="1200" dirty="0">
                <a:solidFill>
                  <a:srgbClr val="EFA7DA"/>
                </a:solidFill>
                <a:latin typeface="Calibri" panose="020F0502020204030204" pitchFamily="34" charset="0"/>
                <a:ea typeface="Calibri" panose="020F0502020204030204" pitchFamily="34" charset="0"/>
                <a:cs typeface="Calibri" panose="020F0502020204030204" pitchFamily="34" charset="0"/>
              </a:rPr>
              <a:t>    SELECT * FROM </a:t>
            </a:r>
            <a:r>
              <a:rPr lang="en-US" sz="1200" dirty="0" err="1">
                <a:solidFill>
                  <a:srgbClr val="EFA7DA"/>
                </a:solidFill>
                <a:latin typeface="Calibri" panose="020F0502020204030204" pitchFamily="34" charset="0"/>
                <a:ea typeface="Calibri" panose="020F0502020204030204" pitchFamily="34" charset="0"/>
                <a:cs typeface="Calibri" panose="020F0502020204030204" pitchFamily="34" charset="0"/>
              </a:rPr>
              <a:t>Agent_Performance</a:t>
            </a:r>
            <a:endParaRPr lang="en-US" sz="1200" dirty="0">
              <a:solidFill>
                <a:srgbClr val="EFA7DA"/>
              </a:solidFill>
              <a:latin typeface="Calibri" panose="020F0502020204030204" pitchFamily="34" charset="0"/>
              <a:ea typeface="Calibri" panose="020F0502020204030204" pitchFamily="34" charset="0"/>
              <a:cs typeface="Calibri" panose="020F0502020204030204" pitchFamily="34" charset="0"/>
            </a:endParaRPr>
          </a:p>
          <a:p>
            <a:pPr marL="127000" indent="0">
              <a:buNone/>
            </a:pPr>
            <a:r>
              <a:rPr lang="en-US" sz="1200" dirty="0">
                <a:solidFill>
                  <a:srgbClr val="EFA7DA"/>
                </a:solidFill>
                <a:latin typeface="Calibri" panose="020F0502020204030204" pitchFamily="34" charset="0"/>
                <a:ea typeface="Calibri" panose="020F0502020204030204" pitchFamily="34" charset="0"/>
                <a:cs typeface="Calibri" panose="020F0502020204030204" pitchFamily="34" charset="0"/>
              </a:rPr>
              <a:t>    ORDER BY </a:t>
            </a:r>
            <a:r>
              <a:rPr lang="en-US" sz="1200" dirty="0" err="1">
                <a:solidFill>
                  <a:srgbClr val="EFA7DA"/>
                </a:solidFill>
                <a:latin typeface="Calibri" panose="020F0502020204030204" pitchFamily="34" charset="0"/>
                <a:ea typeface="Calibri" panose="020F0502020204030204" pitchFamily="34" charset="0"/>
                <a:cs typeface="Calibri" panose="020F0502020204030204" pitchFamily="34" charset="0"/>
              </a:rPr>
              <a:t>On_Time_Percentage</a:t>
            </a:r>
            <a:r>
              <a:rPr lang="en-US" sz="1200" dirty="0">
                <a:solidFill>
                  <a:srgbClr val="EFA7DA"/>
                </a:solidFill>
                <a:latin typeface="Calibri" panose="020F0502020204030204" pitchFamily="34" charset="0"/>
                <a:ea typeface="Calibri" panose="020F0502020204030204" pitchFamily="34" charset="0"/>
                <a:cs typeface="Calibri" panose="020F0502020204030204" pitchFamily="34" charset="0"/>
              </a:rPr>
              <a:t> ASC</a:t>
            </a:r>
          </a:p>
          <a:p>
            <a:pPr marL="127000" indent="0">
              <a:buNone/>
            </a:pPr>
            <a:r>
              <a:rPr lang="en-US" sz="1200" dirty="0">
                <a:solidFill>
                  <a:srgbClr val="EFA7DA"/>
                </a:solidFill>
                <a:latin typeface="Calibri" panose="020F0502020204030204" pitchFamily="34" charset="0"/>
                <a:ea typeface="Calibri" panose="020F0502020204030204" pitchFamily="34" charset="0"/>
                <a:cs typeface="Calibri" panose="020F0502020204030204" pitchFamily="34" charset="0"/>
              </a:rPr>
              <a:t>    LIMIT 5</a:t>
            </a:r>
          </a:p>
          <a:p>
            <a:pPr marL="127000" indent="0">
              <a:buNone/>
            </a:pPr>
            <a:r>
              <a:rPr lang="en-US" sz="1200" dirty="0">
                <a:solidFill>
                  <a:srgbClr val="EFA7DA"/>
                </a:solidFill>
                <a:latin typeface="Calibri" panose="020F0502020204030204" pitchFamily="34" charset="0"/>
                <a:ea typeface="Calibri" panose="020F0502020204030204" pitchFamily="34" charset="0"/>
                <a:cs typeface="Calibri" panose="020F0502020204030204" pitchFamily="34" charset="0"/>
              </a:rPr>
              <a:t>) b;</a:t>
            </a:r>
          </a:p>
          <a:p>
            <a:pPr marL="127000" indent="0">
              <a:buNone/>
            </a:pPr>
            <a:endParaRPr lang="en-US" sz="1100" dirty="0">
              <a:latin typeface="Calibri" panose="020F0502020204030204" pitchFamily="34" charset="0"/>
              <a:ea typeface="Calibri" panose="020F0502020204030204" pitchFamily="34" charset="0"/>
              <a:cs typeface="Calibri" panose="020F0502020204030204" pitchFamily="34" charset="0"/>
            </a:endParaRPr>
          </a:p>
          <a:p>
            <a:endParaRPr lang="en-US" sz="1100" dirty="0">
              <a:latin typeface="Calibri" panose="020F0502020204030204" pitchFamily="34" charset="0"/>
              <a:ea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3A108EFB-257A-450B-BA7F-EE66DD810832}"/>
              </a:ext>
            </a:extLst>
          </p:cNvPr>
          <p:cNvSpPr txBox="1"/>
          <p:nvPr/>
        </p:nvSpPr>
        <p:spPr>
          <a:xfrm>
            <a:off x="4000500" y="3428821"/>
            <a:ext cx="4572000" cy="1384995"/>
          </a:xfrm>
          <a:prstGeom prst="rect">
            <a:avLst/>
          </a:prstGeom>
          <a:noFill/>
        </p:spPr>
        <p:txBody>
          <a:bodyPr wrap="square">
            <a:spAutoFit/>
          </a:bodyPr>
          <a:lstStyle/>
          <a:p>
            <a:r>
              <a:rPr lang="en-US" sz="1200" b="1" u="sng" dirty="0">
                <a:solidFill>
                  <a:schemeClr val="bg1"/>
                </a:solidFill>
                <a:latin typeface="Calibri" panose="020F0502020204030204" pitchFamily="34" charset="0"/>
                <a:ea typeface="Calibri" panose="020F0502020204030204" pitchFamily="34" charset="0"/>
                <a:cs typeface="Calibri" panose="020F0502020204030204" pitchFamily="34" charset="0"/>
              </a:rPr>
              <a:t>What was calculated:</a:t>
            </a:r>
            <a:br>
              <a:rPr lang="en-US" sz="1200" dirty="0">
                <a:solidFill>
                  <a:schemeClr val="bg1"/>
                </a:solidFill>
                <a:latin typeface="Calibri" panose="020F0502020204030204" pitchFamily="34" charset="0"/>
                <a:ea typeface="Calibri" panose="020F0502020204030204" pitchFamily="34" charset="0"/>
                <a:cs typeface="Calibri" panose="020F0502020204030204" pitchFamily="34" charset="0"/>
              </a:rPr>
            </a:br>
            <a:r>
              <a:rPr lang="en-US" sz="1200" dirty="0">
                <a:solidFill>
                  <a:schemeClr val="bg1"/>
                </a:solidFill>
                <a:latin typeface="Calibri" panose="020F0502020204030204" pitchFamily="34" charset="0"/>
                <a:ea typeface="Calibri" panose="020F0502020204030204" pitchFamily="34" charset="0"/>
                <a:cs typeface="Calibri" panose="020F0502020204030204" pitchFamily="34" charset="0"/>
              </a:rPr>
              <a:t>Average rating and experience of the top 5 and bottom 5 agents based on on-time delivery percentage.</a:t>
            </a:r>
          </a:p>
          <a:p>
            <a:endParaRPr lang="en-US" sz="1200"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r>
              <a:rPr lang="en-US" sz="1200" b="1" u="sng" dirty="0">
                <a:solidFill>
                  <a:schemeClr val="bg1"/>
                </a:solidFill>
                <a:latin typeface="Calibri" panose="020F0502020204030204" pitchFamily="34" charset="0"/>
                <a:ea typeface="Calibri" panose="020F0502020204030204" pitchFamily="34" charset="0"/>
                <a:cs typeface="Calibri" panose="020F0502020204030204" pitchFamily="34" charset="0"/>
              </a:rPr>
              <a:t>What we got:</a:t>
            </a:r>
            <a:br>
              <a:rPr lang="en-US" sz="1200" dirty="0">
                <a:solidFill>
                  <a:schemeClr val="bg1"/>
                </a:solidFill>
                <a:latin typeface="Calibri" panose="020F0502020204030204" pitchFamily="34" charset="0"/>
                <a:ea typeface="Calibri" panose="020F0502020204030204" pitchFamily="34" charset="0"/>
                <a:cs typeface="Calibri" panose="020F0502020204030204" pitchFamily="34" charset="0"/>
              </a:rPr>
            </a:br>
            <a:r>
              <a:rPr lang="en-US" sz="1200" dirty="0">
                <a:solidFill>
                  <a:schemeClr val="bg1"/>
                </a:solidFill>
                <a:latin typeface="Calibri" panose="020F0502020204030204" pitchFamily="34" charset="0"/>
                <a:ea typeface="Calibri" panose="020F0502020204030204" pitchFamily="34" charset="0"/>
                <a:cs typeface="Calibri" panose="020F0502020204030204" pitchFamily="34" charset="0"/>
              </a:rPr>
              <a:t>Top-performing agents generally show higher ratings and experience, while low performers indicate gaps in skills or workload balance.</a:t>
            </a:r>
          </a:p>
        </p:txBody>
      </p:sp>
      <p:pic>
        <p:nvPicPr>
          <p:cNvPr id="7" name="Picture 6">
            <a:extLst>
              <a:ext uri="{FF2B5EF4-FFF2-40B4-BE49-F238E27FC236}">
                <a16:creationId xmlns:a16="http://schemas.microsoft.com/office/drawing/2014/main" id="{476063E4-37ED-4407-A062-E90E17ECCE8B}"/>
              </a:ext>
            </a:extLst>
          </p:cNvPr>
          <p:cNvPicPr>
            <a:picLocks noChangeAspect="1"/>
          </p:cNvPicPr>
          <p:nvPr/>
        </p:nvPicPr>
        <p:blipFill>
          <a:blip r:embed="rId2"/>
          <a:stretch>
            <a:fillRect/>
          </a:stretch>
        </p:blipFill>
        <p:spPr>
          <a:xfrm>
            <a:off x="4850291" y="847513"/>
            <a:ext cx="4010585" cy="666843"/>
          </a:xfrm>
          <a:prstGeom prst="rect">
            <a:avLst/>
          </a:prstGeom>
        </p:spPr>
      </p:pic>
    </p:spTree>
    <p:extLst>
      <p:ext uri="{BB962C8B-B14F-4D97-AF65-F5344CB8AC3E}">
        <p14:creationId xmlns:p14="http://schemas.microsoft.com/office/powerpoint/2010/main" val="139557789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B6EF1B25-3C40-46D1-B263-A7811483C657}"/>
              </a:ext>
            </a:extLst>
          </p:cNvPr>
          <p:cNvSpPr>
            <a:spLocks noGrp="1"/>
          </p:cNvSpPr>
          <p:nvPr>
            <p:ph type="body" idx="1"/>
          </p:nvPr>
        </p:nvSpPr>
        <p:spPr>
          <a:xfrm>
            <a:off x="142875" y="0"/>
            <a:ext cx="9001125" cy="5429250"/>
          </a:xfrm>
        </p:spPr>
        <p:txBody>
          <a:bodyPr/>
          <a:lstStyle/>
          <a:p>
            <a:r>
              <a:rPr lang="en-US" sz="1400" b="1" dirty="0">
                <a:solidFill>
                  <a:schemeClr val="bg1"/>
                </a:solidFill>
                <a:latin typeface="Calibri" panose="020F0502020204030204" pitchFamily="34" charset="0"/>
                <a:ea typeface="Calibri" panose="020F0502020204030204" pitchFamily="34" charset="0"/>
                <a:cs typeface="Calibri" panose="020F0502020204030204" pitchFamily="34" charset="0"/>
              </a:rPr>
              <a:t>Suggest training or workload balancing strategies for low-performing agents based on insights. </a:t>
            </a:r>
            <a:br>
              <a:rPr lang="en-US" sz="1200" dirty="0">
                <a:solidFill>
                  <a:schemeClr val="bg1"/>
                </a:solidFill>
              </a:rPr>
            </a:br>
            <a:endParaRPr lang="en-US" sz="1200" b="1" dirty="0">
              <a:solidFill>
                <a:schemeClr val="bg1"/>
              </a:solidFill>
            </a:endParaRPr>
          </a:p>
          <a:p>
            <a:pPr marL="127000" indent="0">
              <a:buNone/>
            </a:pPr>
            <a:r>
              <a:rPr lang="en-US" sz="1200" b="1" dirty="0">
                <a:solidFill>
                  <a:schemeClr val="bg1"/>
                </a:solidFill>
                <a:latin typeface="Calibri" panose="020F0502020204030204" pitchFamily="34" charset="0"/>
                <a:ea typeface="Calibri" panose="020F0502020204030204" pitchFamily="34" charset="0"/>
                <a:cs typeface="Calibri" panose="020F0502020204030204" pitchFamily="34" charset="0"/>
              </a:rPr>
              <a:t>Key Findings from the Data</a:t>
            </a:r>
          </a:p>
          <a:p>
            <a:pPr>
              <a:buFont typeface="Arial" panose="020B0604020202020204" pitchFamily="34" charset="0"/>
              <a:buChar char="•"/>
            </a:pPr>
            <a:r>
              <a:rPr lang="en-US" sz="1200" dirty="0">
                <a:solidFill>
                  <a:srgbClr val="EFA7DA"/>
                </a:solidFill>
                <a:latin typeface="Calibri" panose="020F0502020204030204" pitchFamily="34" charset="0"/>
                <a:ea typeface="Calibri" panose="020F0502020204030204" pitchFamily="34" charset="0"/>
                <a:cs typeface="Calibri" panose="020F0502020204030204" pitchFamily="34" charset="0"/>
              </a:rPr>
              <a:t>Agents that rank the lowest have a significant number of delayed deliveries. Low on-time deliveries indicate the presence of a systemic problem rather than occasional delays.</a:t>
            </a:r>
          </a:p>
          <a:p>
            <a:pPr marL="127000" indent="0">
              <a:buNone/>
            </a:pPr>
            <a:endParaRPr lang="en-US" sz="1200" dirty="0">
              <a:solidFill>
                <a:srgbClr val="EFA7DA"/>
              </a:solidFill>
              <a:latin typeface="Calibri" panose="020F0502020204030204" pitchFamily="34" charset="0"/>
              <a:ea typeface="Calibri" panose="020F0502020204030204" pitchFamily="34" charset="0"/>
              <a:cs typeface="Calibri" panose="020F0502020204030204" pitchFamily="34" charset="0"/>
            </a:endParaRPr>
          </a:p>
          <a:p>
            <a:pPr>
              <a:buFont typeface="Arial" panose="020B0604020202020204" pitchFamily="34" charset="0"/>
              <a:buChar char="•"/>
            </a:pPr>
            <a:r>
              <a:rPr lang="en-US" sz="1200" dirty="0">
                <a:solidFill>
                  <a:srgbClr val="EFA7DA"/>
                </a:solidFill>
                <a:latin typeface="Calibri" panose="020F0502020204030204" pitchFamily="34" charset="0"/>
                <a:ea typeface="Calibri" panose="020F0502020204030204" pitchFamily="34" charset="0"/>
                <a:cs typeface="Calibri" panose="020F0502020204030204" pitchFamily="34" charset="0"/>
              </a:rPr>
              <a:t>Agents that are in the bottom 5 group also have lower average scores and have less actual experience, which indicates that an agent's experience and skill affect their performance.</a:t>
            </a:r>
          </a:p>
          <a:p>
            <a:pPr marL="127000" indent="0">
              <a:buNone/>
            </a:pPr>
            <a:endParaRPr lang="en-US" sz="1200" dirty="0">
              <a:solidFill>
                <a:srgbClr val="EFA7DA"/>
              </a:solidFill>
              <a:latin typeface="Calibri" panose="020F0502020204030204" pitchFamily="34" charset="0"/>
              <a:ea typeface="Calibri" panose="020F0502020204030204" pitchFamily="34" charset="0"/>
              <a:cs typeface="Calibri" panose="020F0502020204030204" pitchFamily="34" charset="0"/>
            </a:endParaRPr>
          </a:p>
          <a:p>
            <a:pPr>
              <a:buFont typeface="Arial" panose="020B0604020202020204" pitchFamily="34" charset="0"/>
              <a:buChar char="•"/>
            </a:pPr>
            <a:r>
              <a:rPr lang="en-US" sz="1200" dirty="0">
                <a:solidFill>
                  <a:srgbClr val="EFA7DA"/>
                </a:solidFill>
                <a:latin typeface="Calibri" panose="020F0502020204030204" pitchFamily="34" charset="0"/>
                <a:ea typeface="Calibri" panose="020F0502020204030204" pitchFamily="34" charset="0"/>
                <a:cs typeface="Calibri" panose="020F0502020204030204" pitchFamily="34" charset="0"/>
              </a:rPr>
              <a:t> Routes associated with agents produce significant variations in performance. This means that delays on a route are often attributed to a significant number of variables including route difficulty and/or workload, as opposed to simply the individual agent.</a:t>
            </a:r>
          </a:p>
          <a:p>
            <a:pPr marL="127000" indent="0">
              <a:buNone/>
            </a:pPr>
            <a:endParaRPr lang="en-US" sz="1200"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pPr marL="127000" indent="0">
              <a:buNone/>
            </a:pPr>
            <a:r>
              <a:rPr lang="en-US" sz="1400" b="1" dirty="0">
                <a:solidFill>
                  <a:schemeClr val="bg1"/>
                </a:solidFill>
                <a:latin typeface="Calibri" panose="020F0502020204030204" pitchFamily="34" charset="0"/>
                <a:ea typeface="Calibri" panose="020F0502020204030204" pitchFamily="34" charset="0"/>
                <a:cs typeface="Calibri" panose="020F0502020204030204" pitchFamily="34" charset="0"/>
              </a:rPr>
              <a:t>Common Concerns Identified</a:t>
            </a:r>
          </a:p>
          <a:p>
            <a:pPr marL="127000" indent="0">
              <a:buNone/>
            </a:pPr>
            <a:endParaRPr lang="en-US" sz="1200" b="1"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pPr>
              <a:buFont typeface="Calibri" panose="020F0502020204030204" pitchFamily="34" charset="0"/>
              <a:buChar char="*"/>
            </a:pPr>
            <a:r>
              <a:rPr lang="en-US" sz="1200" dirty="0">
                <a:solidFill>
                  <a:srgbClr val="EFA7DA"/>
                </a:solidFill>
                <a:latin typeface="Calibri" panose="020F0502020204030204" pitchFamily="34" charset="0"/>
                <a:ea typeface="Calibri" panose="020F0502020204030204" pitchFamily="34" charset="0"/>
                <a:cs typeface="Calibri" panose="020F0502020204030204" pitchFamily="34" charset="0"/>
              </a:rPr>
              <a:t>Agents with insufficient experience managing complex routes</a:t>
            </a:r>
          </a:p>
          <a:p>
            <a:pPr>
              <a:buFont typeface="Calibri" panose="020F0502020204030204" pitchFamily="34" charset="0"/>
              <a:buChar char="*"/>
            </a:pPr>
            <a:r>
              <a:rPr lang="en-US" sz="1200" dirty="0">
                <a:solidFill>
                  <a:srgbClr val="EFA7DA"/>
                </a:solidFill>
                <a:latin typeface="Calibri" panose="020F0502020204030204" pitchFamily="34" charset="0"/>
                <a:ea typeface="Calibri" panose="020F0502020204030204" pitchFamily="34" charset="0"/>
                <a:cs typeface="Calibri" panose="020F0502020204030204" pitchFamily="34" charset="0"/>
              </a:rPr>
              <a:t>Ineffective route planning and time estimating</a:t>
            </a:r>
          </a:p>
          <a:p>
            <a:pPr>
              <a:buFont typeface="Calibri" panose="020F0502020204030204" pitchFamily="34" charset="0"/>
              <a:buChar char="*"/>
            </a:pPr>
            <a:r>
              <a:rPr lang="en-US" sz="1200" dirty="0">
                <a:solidFill>
                  <a:srgbClr val="EFA7DA"/>
                </a:solidFill>
                <a:latin typeface="Calibri" panose="020F0502020204030204" pitchFamily="34" charset="0"/>
                <a:ea typeface="Calibri" panose="020F0502020204030204" pitchFamily="34" charset="0"/>
                <a:cs typeface="Calibri" panose="020F0502020204030204" pitchFamily="34" charset="0"/>
              </a:rPr>
              <a:t>An overburdened scheduling of delivery appointments</a:t>
            </a:r>
          </a:p>
          <a:p>
            <a:pPr>
              <a:buFont typeface="Calibri" panose="020F0502020204030204" pitchFamily="34" charset="0"/>
              <a:buChar char="*"/>
            </a:pPr>
            <a:r>
              <a:rPr lang="en-US" sz="1200" dirty="0">
                <a:solidFill>
                  <a:srgbClr val="EFA7DA"/>
                </a:solidFill>
                <a:latin typeface="Calibri" panose="020F0502020204030204" pitchFamily="34" charset="0"/>
                <a:ea typeface="Calibri" panose="020F0502020204030204" pitchFamily="34" charset="0"/>
                <a:cs typeface="Calibri" panose="020F0502020204030204" pitchFamily="34" charset="0"/>
              </a:rPr>
              <a:t>The absence of a method for correlating the performance of agents to the assignment of delivery routes</a:t>
            </a:r>
          </a:p>
          <a:p>
            <a:pPr>
              <a:buFont typeface="Calibri" panose="020F0502020204030204" pitchFamily="34" charset="0"/>
              <a:buChar char="*"/>
            </a:pPr>
            <a:r>
              <a:rPr lang="en-US" sz="1200" dirty="0">
                <a:solidFill>
                  <a:srgbClr val="EFA7DA"/>
                </a:solidFill>
                <a:latin typeface="Calibri" panose="020F0502020204030204" pitchFamily="34" charset="0"/>
                <a:ea typeface="Calibri" panose="020F0502020204030204" pitchFamily="34" charset="0"/>
                <a:cs typeface="Calibri" panose="020F0502020204030204" pitchFamily="34" charset="0"/>
              </a:rPr>
              <a:t>No mechanism for intervention in cases of continued underperformance, up to and including the agent's ultimate termination.</a:t>
            </a:r>
          </a:p>
          <a:p>
            <a:pPr marL="127000" indent="0">
              <a:buNone/>
            </a:pPr>
            <a:endParaRPr lang="en-US" sz="1200"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pPr marL="127000" indent="0">
              <a:buNone/>
            </a:pPr>
            <a:r>
              <a:rPr lang="en-US" sz="1400" b="1" dirty="0">
                <a:solidFill>
                  <a:schemeClr val="bg1"/>
                </a:solidFill>
                <a:latin typeface="Calibri" panose="020F0502020204030204" pitchFamily="34" charset="0"/>
                <a:ea typeface="Calibri" panose="020F0502020204030204" pitchFamily="34" charset="0"/>
                <a:cs typeface="Calibri" panose="020F0502020204030204" pitchFamily="34" charset="0"/>
              </a:rPr>
              <a:t>Recommendations</a:t>
            </a:r>
          </a:p>
          <a:p>
            <a:pPr marL="127000" indent="0">
              <a:buNone/>
            </a:pPr>
            <a:endParaRPr lang="en-US" sz="1400" b="1" dirty="0">
              <a:solidFill>
                <a:srgbClr val="EFA7DA"/>
              </a:solidFill>
              <a:latin typeface="Calibri" panose="020F0502020204030204" pitchFamily="34" charset="0"/>
              <a:ea typeface="Calibri" panose="020F0502020204030204" pitchFamily="34" charset="0"/>
              <a:cs typeface="Calibri" panose="020F0502020204030204" pitchFamily="34" charset="0"/>
            </a:endParaRPr>
          </a:p>
          <a:p>
            <a:pPr marL="412750" indent="-285750">
              <a:buFont typeface="+mj-lt"/>
              <a:buAutoNum type="romanLcPeriod"/>
            </a:pPr>
            <a:r>
              <a:rPr lang="en-US" sz="1200" b="1" u="sng" dirty="0">
                <a:solidFill>
                  <a:schemeClr val="bg1"/>
                </a:solidFill>
                <a:latin typeface="Calibri" panose="020F0502020204030204" pitchFamily="34" charset="0"/>
                <a:ea typeface="Calibri" panose="020F0502020204030204" pitchFamily="34" charset="0"/>
                <a:cs typeface="Calibri" panose="020F0502020204030204" pitchFamily="34" charset="0"/>
              </a:rPr>
              <a:t>Specific Form of Training: </a:t>
            </a:r>
            <a:r>
              <a:rPr lang="en-US" sz="1200" dirty="0">
                <a:solidFill>
                  <a:srgbClr val="EFA7DA"/>
                </a:solidFill>
                <a:latin typeface="Calibri" panose="020F0502020204030204" pitchFamily="34" charset="0"/>
                <a:ea typeface="Calibri" panose="020F0502020204030204" pitchFamily="34" charset="0"/>
                <a:cs typeface="Calibri" panose="020F0502020204030204" pitchFamily="34" charset="0"/>
              </a:rPr>
              <a:t>Train only those agents with an average on-time delivery record below 85% on procedures in areas of familiarity with assigned routes, time management and the handling of delays.</a:t>
            </a:r>
          </a:p>
          <a:p>
            <a:pPr marL="127000" indent="0">
              <a:buNone/>
            </a:pPr>
            <a:endParaRPr lang="en-US" sz="1200" dirty="0">
              <a:solidFill>
                <a:srgbClr val="EFA7DA"/>
              </a:solidFill>
              <a:latin typeface="Calibri" panose="020F0502020204030204" pitchFamily="34" charset="0"/>
              <a:ea typeface="Calibri" panose="020F0502020204030204" pitchFamily="34" charset="0"/>
              <a:cs typeface="Calibri" panose="020F0502020204030204" pitchFamily="34" charset="0"/>
            </a:endParaRPr>
          </a:p>
          <a:p>
            <a:pPr marL="127000" indent="0">
              <a:buNone/>
            </a:pPr>
            <a:endParaRPr lang="en-US" sz="1200" dirty="0">
              <a:latin typeface="Calibri" panose="020F0502020204030204" pitchFamily="34" charset="0"/>
              <a:ea typeface="Calibri" panose="020F0502020204030204" pitchFamily="34" charset="0"/>
              <a:cs typeface="Calibri" panose="020F0502020204030204" pitchFamily="34" charset="0"/>
            </a:endParaRPr>
          </a:p>
          <a:p>
            <a:pPr marL="127000" indent="0">
              <a:buNone/>
            </a:pPr>
            <a:endParaRPr lang="en-US" sz="1200" dirty="0">
              <a:latin typeface="Calibri" panose="020F0502020204030204" pitchFamily="34" charset="0"/>
              <a:ea typeface="Calibri" panose="020F0502020204030204" pitchFamily="34" charset="0"/>
              <a:cs typeface="Calibri" panose="020F0502020204030204" pitchFamily="34" charset="0"/>
            </a:endParaRPr>
          </a:p>
          <a:p>
            <a:pPr marL="127000" indent="0">
              <a:buNone/>
            </a:pPr>
            <a:endParaRPr lang="en-US" sz="11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70224497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B6EF1B25-3C40-46D1-B263-A7811483C657}"/>
              </a:ext>
            </a:extLst>
          </p:cNvPr>
          <p:cNvSpPr>
            <a:spLocks noGrp="1"/>
          </p:cNvSpPr>
          <p:nvPr>
            <p:ph type="body" idx="1"/>
          </p:nvPr>
        </p:nvSpPr>
        <p:spPr>
          <a:xfrm>
            <a:off x="142875" y="0"/>
            <a:ext cx="9001125" cy="5429250"/>
          </a:xfrm>
        </p:spPr>
        <p:txBody>
          <a:bodyPr/>
          <a:lstStyle/>
          <a:p>
            <a:pPr marL="412750" indent="-285750">
              <a:buFont typeface="+mj-lt"/>
              <a:buAutoNum type="romanLcPeriod" startAt="2"/>
            </a:pPr>
            <a:endParaRPr lang="en-US" sz="1100" u="sng"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pPr marL="412750" indent="-285750">
              <a:buFont typeface="+mj-lt"/>
              <a:buAutoNum type="romanLcPeriod" startAt="2"/>
            </a:pPr>
            <a:endParaRPr lang="en-US" sz="1100" u="sng"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pPr marL="412750" indent="-285750">
              <a:buFont typeface="+mj-lt"/>
              <a:buAutoNum type="romanLcPeriod" startAt="2"/>
            </a:pPr>
            <a:r>
              <a:rPr lang="en-US" sz="1100" u="sng" dirty="0">
                <a:solidFill>
                  <a:schemeClr val="bg1"/>
                </a:solidFill>
                <a:latin typeface="Calibri" panose="020F0502020204030204" pitchFamily="34" charset="0"/>
                <a:ea typeface="Calibri" panose="020F0502020204030204" pitchFamily="34" charset="0"/>
                <a:cs typeface="Calibri" panose="020F0502020204030204" pitchFamily="34" charset="0"/>
              </a:rPr>
              <a:t>Workload Assignment</a:t>
            </a:r>
            <a:r>
              <a:rPr lang="en-US" sz="1100" dirty="0">
                <a:solidFill>
                  <a:schemeClr val="bg1"/>
                </a:solidFill>
                <a:latin typeface="Calibri" panose="020F0502020204030204" pitchFamily="34" charset="0"/>
                <a:ea typeface="Calibri" panose="020F0502020204030204" pitchFamily="34" charset="0"/>
                <a:cs typeface="Calibri" panose="020F0502020204030204" pitchFamily="34" charset="0"/>
              </a:rPr>
              <a:t>: </a:t>
            </a:r>
            <a:r>
              <a:rPr lang="en-US" sz="1100" dirty="0">
                <a:solidFill>
                  <a:srgbClr val="EFA7DA"/>
                </a:solidFill>
                <a:latin typeface="Calibri" panose="020F0502020204030204" pitchFamily="34" charset="0"/>
                <a:ea typeface="Calibri" panose="020F0502020204030204" pitchFamily="34" charset="0"/>
                <a:cs typeface="Calibri" panose="020F0502020204030204" pitchFamily="34" charset="0"/>
              </a:rPr>
              <a:t>Equalize delivery workload and avoid assigning complex routes or routes that require a significant time commitment to lower-performing agents.</a:t>
            </a:r>
          </a:p>
          <a:p>
            <a:pPr marL="412750" indent="-285750">
              <a:buFont typeface="+mj-lt"/>
              <a:buAutoNum type="romanLcPeriod" startAt="2"/>
            </a:pPr>
            <a:endParaRPr lang="en-US" sz="1100" dirty="0">
              <a:solidFill>
                <a:srgbClr val="EFA7DA"/>
              </a:solidFill>
              <a:latin typeface="Calibri" panose="020F0502020204030204" pitchFamily="34" charset="0"/>
              <a:ea typeface="Calibri" panose="020F0502020204030204" pitchFamily="34" charset="0"/>
              <a:cs typeface="Calibri" panose="020F0502020204030204" pitchFamily="34" charset="0"/>
            </a:endParaRPr>
          </a:p>
          <a:p>
            <a:pPr marL="412750" indent="-285750">
              <a:buFont typeface="+mj-lt"/>
              <a:buAutoNum type="romanLcPeriod" startAt="2"/>
            </a:pPr>
            <a:r>
              <a:rPr lang="en-US" sz="1200" b="1" u="sng" dirty="0">
                <a:solidFill>
                  <a:schemeClr val="bg1"/>
                </a:solidFill>
                <a:latin typeface="Calibri" panose="020F0502020204030204" pitchFamily="34" charset="0"/>
                <a:ea typeface="Calibri" panose="020F0502020204030204" pitchFamily="34" charset="0"/>
                <a:cs typeface="Calibri" panose="020F0502020204030204" pitchFamily="34" charset="0"/>
              </a:rPr>
              <a:t>Mentorship Program: </a:t>
            </a:r>
            <a:r>
              <a:rPr lang="en-US" sz="1200" dirty="0">
                <a:solidFill>
                  <a:srgbClr val="EFA7DA"/>
                </a:solidFill>
                <a:latin typeface="Calibri" panose="020F0502020204030204" pitchFamily="34" charset="0"/>
                <a:ea typeface="Calibri" panose="020F0502020204030204" pitchFamily="34" charset="0"/>
                <a:cs typeface="Calibri" panose="020F0502020204030204" pitchFamily="34" charset="0"/>
              </a:rPr>
              <a:t>Develop a mentoring program that will connect lower-performing agents to higher-performing agents who regularly travel the same routes, enabling them to acquire actionable knowledge</a:t>
            </a:r>
          </a:p>
          <a:p>
            <a:pPr marL="412750" indent="-285750">
              <a:buFont typeface="+mj-lt"/>
              <a:buAutoNum type="romanLcPeriod" startAt="2"/>
            </a:pPr>
            <a:endParaRPr lang="en-US" sz="1200" dirty="0">
              <a:solidFill>
                <a:srgbClr val="EFA7DA"/>
              </a:solidFill>
              <a:latin typeface="Calibri" panose="020F0502020204030204" pitchFamily="34" charset="0"/>
              <a:ea typeface="Calibri" panose="020F0502020204030204" pitchFamily="34" charset="0"/>
              <a:cs typeface="Calibri" panose="020F0502020204030204" pitchFamily="34" charset="0"/>
            </a:endParaRPr>
          </a:p>
          <a:p>
            <a:pPr marL="412750" indent="-285750">
              <a:buFont typeface="+mj-lt"/>
              <a:buAutoNum type="romanLcPeriod" startAt="2"/>
            </a:pPr>
            <a:r>
              <a:rPr lang="en-US" sz="1200" b="1" u="sng" dirty="0">
                <a:solidFill>
                  <a:schemeClr val="bg1"/>
                </a:solidFill>
                <a:latin typeface="Calibri" panose="020F0502020204030204" pitchFamily="34" charset="0"/>
                <a:ea typeface="Calibri" panose="020F0502020204030204" pitchFamily="34" charset="0"/>
                <a:cs typeface="Calibri" panose="020F0502020204030204" pitchFamily="34" charset="0"/>
              </a:rPr>
              <a:t>Route</a:t>
            </a:r>
            <a:r>
              <a:rPr lang="en-US" sz="1200" b="1" u="sng" dirty="0">
                <a:solidFill>
                  <a:srgbClr val="EFA7DA"/>
                </a:solidFill>
                <a:latin typeface="Calibri" panose="020F0502020204030204" pitchFamily="34" charset="0"/>
                <a:ea typeface="Calibri" panose="020F0502020204030204" pitchFamily="34" charset="0"/>
                <a:cs typeface="Calibri" panose="020F0502020204030204" pitchFamily="34" charset="0"/>
              </a:rPr>
              <a:t> </a:t>
            </a:r>
            <a:r>
              <a:rPr lang="en-US" sz="1200" b="1" u="sng" dirty="0">
                <a:solidFill>
                  <a:schemeClr val="bg1"/>
                </a:solidFill>
                <a:latin typeface="Calibri" panose="020F0502020204030204" pitchFamily="34" charset="0"/>
                <a:ea typeface="Calibri" panose="020F0502020204030204" pitchFamily="34" charset="0"/>
                <a:cs typeface="Calibri" panose="020F0502020204030204" pitchFamily="34" charset="0"/>
              </a:rPr>
              <a:t>Assignment to Agents: </a:t>
            </a:r>
            <a:r>
              <a:rPr lang="en-US" sz="1200" dirty="0">
                <a:solidFill>
                  <a:srgbClr val="EFA7DA"/>
                </a:solidFill>
                <a:latin typeface="Calibri" panose="020F0502020204030204" pitchFamily="34" charset="0"/>
                <a:ea typeface="Calibri" panose="020F0502020204030204" pitchFamily="34" charset="0"/>
                <a:cs typeface="Calibri" panose="020F0502020204030204" pitchFamily="34" charset="0"/>
              </a:rPr>
              <a:t>Match the agent and the route to be served and counsel new agents regarding the assignment of less difficult routes until such time as they have accumulated sufficient experience to qualify to serve more difficult routes.</a:t>
            </a:r>
          </a:p>
          <a:p>
            <a:pPr marL="412750" indent="-285750">
              <a:buFont typeface="+mj-lt"/>
              <a:buAutoNum type="romanLcPeriod" startAt="2"/>
            </a:pPr>
            <a:endParaRPr lang="en-US" sz="1200" dirty="0">
              <a:solidFill>
                <a:srgbClr val="EFA7DA"/>
              </a:solidFill>
              <a:latin typeface="Calibri" panose="020F0502020204030204" pitchFamily="34" charset="0"/>
              <a:ea typeface="Calibri" panose="020F0502020204030204" pitchFamily="34" charset="0"/>
              <a:cs typeface="Calibri" panose="020F0502020204030204" pitchFamily="34" charset="0"/>
            </a:endParaRPr>
          </a:p>
          <a:p>
            <a:pPr marL="412750" indent="-285750">
              <a:buFont typeface="+mj-lt"/>
              <a:buAutoNum type="romanLcPeriod" startAt="2"/>
            </a:pPr>
            <a:r>
              <a:rPr lang="en-US" sz="1200" b="1" u="sng" dirty="0">
                <a:solidFill>
                  <a:schemeClr val="bg1"/>
                </a:solidFill>
                <a:latin typeface="Calibri" panose="020F0502020204030204" pitchFamily="34" charset="0"/>
                <a:ea typeface="Calibri" panose="020F0502020204030204" pitchFamily="34" charset="0"/>
                <a:cs typeface="Calibri" panose="020F0502020204030204" pitchFamily="34" charset="0"/>
              </a:rPr>
              <a:t>Monitoring Performance:</a:t>
            </a:r>
            <a:r>
              <a:rPr lang="en-US" sz="1200" b="1" u="sng" dirty="0">
                <a:solidFill>
                  <a:srgbClr val="EFA7DA"/>
                </a:solidFill>
                <a:latin typeface="Calibri" panose="020F0502020204030204" pitchFamily="34" charset="0"/>
                <a:ea typeface="Calibri" panose="020F0502020204030204" pitchFamily="34" charset="0"/>
                <a:cs typeface="Calibri" panose="020F0502020204030204" pitchFamily="34" charset="0"/>
              </a:rPr>
              <a:t> </a:t>
            </a:r>
            <a:r>
              <a:rPr lang="en-US" sz="1200" dirty="0">
                <a:solidFill>
                  <a:srgbClr val="EFA7DA"/>
                </a:solidFill>
                <a:latin typeface="Calibri" panose="020F0502020204030204" pitchFamily="34" charset="0"/>
                <a:ea typeface="Calibri" panose="020F0502020204030204" pitchFamily="34" charset="0"/>
                <a:cs typeface="Calibri" panose="020F0502020204030204" pitchFamily="34" charset="0"/>
              </a:rPr>
              <a:t>Monitor agent performance metrics on a regular basis and intervene when an agent's performance remains below 85% over three consecutive months..</a:t>
            </a:r>
          </a:p>
          <a:p>
            <a:pPr marL="127000" indent="0">
              <a:buNone/>
            </a:pPr>
            <a:endParaRPr lang="en-US" sz="1100" dirty="0">
              <a:latin typeface="Calibri" panose="020F0502020204030204" pitchFamily="34" charset="0"/>
              <a:ea typeface="Calibri" panose="020F0502020204030204" pitchFamily="34" charset="0"/>
              <a:cs typeface="Calibri" panose="020F0502020204030204" pitchFamily="34" charset="0"/>
            </a:endParaRPr>
          </a:p>
          <a:p>
            <a:pPr marL="127000" indent="0">
              <a:buNone/>
            </a:pPr>
            <a:endParaRPr lang="en-US" sz="11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58711815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CF7D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1DA2C4-D6E8-4DD3-9F9D-484EA2ABA657}"/>
              </a:ext>
            </a:extLst>
          </p:cNvPr>
          <p:cNvSpPr>
            <a:spLocks noGrp="1"/>
          </p:cNvSpPr>
          <p:nvPr>
            <p:ph type="title"/>
          </p:nvPr>
        </p:nvSpPr>
        <p:spPr>
          <a:xfrm>
            <a:off x="178350" y="142276"/>
            <a:ext cx="8520600" cy="572700"/>
          </a:xfrm>
        </p:spPr>
        <p:txBody>
          <a:bodyPr/>
          <a:lstStyle/>
          <a:p>
            <a:r>
              <a:rPr lang="en-US" sz="3200" dirty="0">
                <a:latin typeface="Calibri" panose="020F0502020204030204" pitchFamily="34" charset="0"/>
                <a:ea typeface="Calibri" panose="020F0502020204030204" pitchFamily="34" charset="0"/>
                <a:cs typeface="Calibri" panose="020F0502020204030204" pitchFamily="34" charset="0"/>
              </a:rPr>
              <a:t>Task 6: Shipment Tracking Analytics</a:t>
            </a:r>
          </a:p>
        </p:txBody>
      </p:sp>
      <p:sp>
        <p:nvSpPr>
          <p:cNvPr id="3" name="Text Placeholder 2">
            <a:extLst>
              <a:ext uri="{FF2B5EF4-FFF2-40B4-BE49-F238E27FC236}">
                <a16:creationId xmlns:a16="http://schemas.microsoft.com/office/drawing/2014/main" id="{F882E00E-6BE5-479A-8F5A-347E268CEA9F}"/>
              </a:ext>
            </a:extLst>
          </p:cNvPr>
          <p:cNvSpPr>
            <a:spLocks noGrp="1"/>
          </p:cNvSpPr>
          <p:nvPr>
            <p:ph type="body" idx="1"/>
          </p:nvPr>
        </p:nvSpPr>
        <p:spPr>
          <a:xfrm>
            <a:off x="121890" y="714976"/>
            <a:ext cx="9022110" cy="4542824"/>
          </a:xfrm>
        </p:spPr>
        <p:txBody>
          <a:bodyPr/>
          <a:lstStyle/>
          <a:p>
            <a:r>
              <a:rPr lang="en-US" sz="1200" b="1" dirty="0">
                <a:latin typeface="Calibri" panose="020F0502020204030204" pitchFamily="34" charset="0"/>
                <a:ea typeface="Calibri" panose="020F0502020204030204" pitchFamily="34" charset="0"/>
                <a:cs typeface="Calibri" panose="020F0502020204030204" pitchFamily="34" charset="0"/>
              </a:rPr>
              <a:t>OBJECTIVE</a:t>
            </a:r>
          </a:p>
          <a:p>
            <a:pPr>
              <a:buFont typeface="Arial" panose="020B0604020202020204" pitchFamily="34" charset="0"/>
              <a:buChar char="•"/>
            </a:pPr>
            <a:r>
              <a:rPr lang="en-US" sz="1200" dirty="0">
                <a:latin typeface="Calibri" panose="020F0502020204030204" pitchFamily="34" charset="0"/>
                <a:ea typeface="Calibri" panose="020F0502020204030204" pitchFamily="34" charset="0"/>
                <a:cs typeface="Calibri" panose="020F0502020204030204" pitchFamily="34" charset="0"/>
              </a:rPr>
              <a:t>Track the latest shipment status across the delivery lifecycle</a:t>
            </a:r>
          </a:p>
          <a:p>
            <a:pPr>
              <a:buFont typeface="Arial" panose="020B0604020202020204" pitchFamily="34" charset="0"/>
              <a:buChar char="•"/>
            </a:pPr>
            <a:r>
              <a:rPr lang="en-US" sz="1200" dirty="0">
                <a:latin typeface="Calibri" panose="020F0502020204030204" pitchFamily="34" charset="0"/>
                <a:ea typeface="Calibri" panose="020F0502020204030204" pitchFamily="34" charset="0"/>
                <a:cs typeface="Calibri" panose="020F0502020204030204" pitchFamily="34" charset="0"/>
              </a:rPr>
              <a:t>Identify routes with unresolved or returned shipments</a:t>
            </a:r>
          </a:p>
          <a:p>
            <a:pPr>
              <a:buFont typeface="Arial" panose="020B0604020202020204" pitchFamily="34" charset="0"/>
              <a:buChar char="•"/>
            </a:pPr>
            <a:r>
              <a:rPr lang="en-US" sz="1200" dirty="0">
                <a:latin typeface="Calibri" panose="020F0502020204030204" pitchFamily="34" charset="0"/>
                <a:ea typeface="Calibri" panose="020F0502020204030204" pitchFamily="34" charset="0"/>
                <a:cs typeface="Calibri" panose="020F0502020204030204" pitchFamily="34" charset="0"/>
              </a:rPr>
              <a:t>Detect severe delays to highlight operational bottlenecks</a:t>
            </a:r>
          </a:p>
          <a:p>
            <a:pPr marL="127000" indent="0">
              <a:buNone/>
            </a:pPr>
            <a:endParaRPr lang="en-US" sz="1200" dirty="0">
              <a:latin typeface="Calibri" panose="020F0502020204030204" pitchFamily="34" charset="0"/>
              <a:ea typeface="Calibri" panose="020F0502020204030204" pitchFamily="34" charset="0"/>
              <a:cs typeface="Calibri" panose="020F0502020204030204" pitchFamily="34" charset="0"/>
            </a:endParaRPr>
          </a:p>
          <a:p>
            <a:pPr marL="127000" indent="0">
              <a:buNone/>
            </a:pPr>
            <a:r>
              <a:rPr lang="en-US" sz="1400" b="1" dirty="0">
                <a:latin typeface="Calibri" panose="020F0502020204030204" pitchFamily="34" charset="0"/>
                <a:ea typeface="Calibri" panose="020F0502020204030204" pitchFamily="34" charset="0"/>
                <a:cs typeface="Calibri" panose="020F0502020204030204" pitchFamily="34" charset="0"/>
              </a:rPr>
              <a:t>TASKS:</a:t>
            </a:r>
          </a:p>
          <a:p>
            <a:pPr>
              <a:buFont typeface="Arial" panose="020B0604020202020204" pitchFamily="34" charset="0"/>
              <a:buChar char="•"/>
            </a:pPr>
            <a:r>
              <a:rPr lang="en-US" sz="1400" b="1" dirty="0">
                <a:latin typeface="Calibri" panose="020F0502020204030204" pitchFamily="34" charset="0"/>
                <a:ea typeface="Calibri" panose="020F0502020204030204" pitchFamily="34" charset="0"/>
                <a:cs typeface="Calibri" panose="020F0502020204030204" pitchFamily="34" charset="0"/>
              </a:rPr>
              <a:t>For each shipment, display the latest status (Delivered, In Transit, or Returned) along with the latest </a:t>
            </a:r>
            <a:r>
              <a:rPr lang="en-US" sz="1400" b="1" dirty="0" err="1">
                <a:latin typeface="Calibri" panose="020F0502020204030204" pitchFamily="34" charset="0"/>
                <a:ea typeface="Calibri" panose="020F0502020204030204" pitchFamily="34" charset="0"/>
                <a:cs typeface="Calibri" panose="020F0502020204030204" pitchFamily="34" charset="0"/>
              </a:rPr>
              <a:t>Delivery_Date</a:t>
            </a:r>
            <a:r>
              <a:rPr lang="en-US" sz="1400" b="1" dirty="0">
                <a:latin typeface="Calibri" panose="020F0502020204030204" pitchFamily="34" charset="0"/>
                <a:ea typeface="Calibri" panose="020F0502020204030204" pitchFamily="34" charset="0"/>
                <a:cs typeface="Calibri" panose="020F0502020204030204" pitchFamily="34" charset="0"/>
              </a:rPr>
              <a:t>.</a:t>
            </a:r>
          </a:p>
          <a:p>
            <a:pPr>
              <a:buFont typeface="Arial" panose="020B0604020202020204" pitchFamily="34" charset="0"/>
              <a:buChar char="•"/>
            </a:pPr>
            <a:endParaRPr lang="en-US" sz="1400" b="1" dirty="0">
              <a:latin typeface="Calibri" panose="020F0502020204030204" pitchFamily="34" charset="0"/>
              <a:ea typeface="Calibri" panose="020F0502020204030204" pitchFamily="34" charset="0"/>
              <a:cs typeface="Calibri" panose="020F0502020204030204" pitchFamily="34" charset="0"/>
            </a:endParaRPr>
          </a:p>
          <a:p>
            <a:pPr marL="127000" indent="0">
              <a:buNone/>
            </a:pPr>
            <a:r>
              <a:rPr lang="en-US" sz="1200" dirty="0">
                <a:solidFill>
                  <a:schemeClr val="accent1"/>
                </a:solidFill>
                <a:latin typeface="Calibri" panose="020F0502020204030204" pitchFamily="34" charset="0"/>
                <a:ea typeface="Calibri" panose="020F0502020204030204" pitchFamily="34" charset="0"/>
                <a:cs typeface="Calibri" panose="020F0502020204030204" pitchFamily="34" charset="0"/>
              </a:rPr>
              <a:t>SELECT</a:t>
            </a:r>
          </a:p>
          <a:p>
            <a:pPr marL="127000" indent="0">
              <a:buNone/>
            </a:pPr>
            <a:r>
              <a:rPr lang="en-US" sz="1200" dirty="0">
                <a:solidFill>
                  <a:schemeClr val="accent1"/>
                </a:solidFill>
                <a:latin typeface="Calibri" panose="020F0502020204030204" pitchFamily="34" charset="0"/>
                <a:ea typeface="Calibri" panose="020F0502020204030204" pitchFamily="34" charset="0"/>
                <a:cs typeface="Calibri" panose="020F0502020204030204" pitchFamily="34" charset="0"/>
              </a:rPr>
              <a:t>    </a:t>
            </a:r>
            <a:r>
              <a:rPr lang="en-US" sz="1200" dirty="0" err="1">
                <a:solidFill>
                  <a:schemeClr val="accent1"/>
                </a:solidFill>
                <a:latin typeface="Calibri" panose="020F0502020204030204" pitchFamily="34" charset="0"/>
                <a:ea typeface="Calibri" panose="020F0502020204030204" pitchFamily="34" charset="0"/>
                <a:cs typeface="Calibri" panose="020F0502020204030204" pitchFamily="34" charset="0"/>
              </a:rPr>
              <a:t>s.Shipment_ID</a:t>
            </a:r>
            <a:r>
              <a:rPr lang="en-US" sz="1200" dirty="0">
                <a:solidFill>
                  <a:schemeClr val="accent1"/>
                </a:solidFill>
                <a:latin typeface="Calibri" panose="020F0502020204030204" pitchFamily="34" charset="0"/>
                <a:ea typeface="Calibri" panose="020F0502020204030204" pitchFamily="34" charset="0"/>
                <a:cs typeface="Calibri" panose="020F0502020204030204" pitchFamily="34" charset="0"/>
              </a:rPr>
              <a:t>,</a:t>
            </a:r>
          </a:p>
          <a:p>
            <a:pPr marL="127000" indent="0">
              <a:buNone/>
            </a:pPr>
            <a:r>
              <a:rPr lang="en-US" sz="1200" dirty="0">
                <a:solidFill>
                  <a:schemeClr val="accent1"/>
                </a:solidFill>
                <a:latin typeface="Calibri" panose="020F0502020204030204" pitchFamily="34" charset="0"/>
                <a:ea typeface="Calibri" panose="020F0502020204030204" pitchFamily="34" charset="0"/>
                <a:cs typeface="Calibri" panose="020F0502020204030204" pitchFamily="34" charset="0"/>
              </a:rPr>
              <a:t>    </a:t>
            </a:r>
            <a:r>
              <a:rPr lang="en-US" sz="1200" dirty="0" err="1">
                <a:solidFill>
                  <a:schemeClr val="accent1"/>
                </a:solidFill>
                <a:latin typeface="Calibri" panose="020F0502020204030204" pitchFamily="34" charset="0"/>
                <a:ea typeface="Calibri" panose="020F0502020204030204" pitchFamily="34" charset="0"/>
                <a:cs typeface="Calibri" panose="020F0502020204030204" pitchFamily="34" charset="0"/>
              </a:rPr>
              <a:t>s.Status</a:t>
            </a:r>
            <a:r>
              <a:rPr lang="en-US" sz="1200" dirty="0">
                <a:solidFill>
                  <a:schemeClr val="accent1"/>
                </a:solidFill>
                <a:latin typeface="Calibri" panose="020F0502020204030204" pitchFamily="34" charset="0"/>
                <a:ea typeface="Calibri" panose="020F0502020204030204" pitchFamily="34" charset="0"/>
                <a:cs typeface="Calibri" panose="020F0502020204030204" pitchFamily="34" charset="0"/>
              </a:rPr>
              <a:t>,</a:t>
            </a:r>
          </a:p>
          <a:p>
            <a:pPr marL="127000" indent="0">
              <a:buNone/>
            </a:pPr>
            <a:r>
              <a:rPr lang="en-US" sz="1200" dirty="0">
                <a:solidFill>
                  <a:schemeClr val="accent1"/>
                </a:solidFill>
                <a:latin typeface="Calibri" panose="020F0502020204030204" pitchFamily="34" charset="0"/>
                <a:ea typeface="Calibri" panose="020F0502020204030204" pitchFamily="34" charset="0"/>
                <a:cs typeface="Calibri" panose="020F0502020204030204" pitchFamily="34" charset="0"/>
              </a:rPr>
              <a:t>    </a:t>
            </a:r>
            <a:r>
              <a:rPr lang="en-US" sz="1200" dirty="0" err="1">
                <a:solidFill>
                  <a:schemeClr val="accent1"/>
                </a:solidFill>
                <a:latin typeface="Calibri" panose="020F0502020204030204" pitchFamily="34" charset="0"/>
                <a:ea typeface="Calibri" panose="020F0502020204030204" pitchFamily="34" charset="0"/>
                <a:cs typeface="Calibri" panose="020F0502020204030204" pitchFamily="34" charset="0"/>
              </a:rPr>
              <a:t>s.Delivery_Date</a:t>
            </a:r>
            <a:endParaRPr lang="en-US" sz="1200" dirty="0">
              <a:solidFill>
                <a:schemeClr val="accent1"/>
              </a:solidFill>
              <a:latin typeface="Calibri" panose="020F0502020204030204" pitchFamily="34" charset="0"/>
              <a:ea typeface="Calibri" panose="020F0502020204030204" pitchFamily="34" charset="0"/>
              <a:cs typeface="Calibri" panose="020F0502020204030204" pitchFamily="34" charset="0"/>
            </a:endParaRPr>
          </a:p>
          <a:p>
            <a:pPr marL="127000" indent="0">
              <a:buNone/>
            </a:pPr>
            <a:r>
              <a:rPr lang="en-US" sz="1200" dirty="0">
                <a:solidFill>
                  <a:schemeClr val="accent1"/>
                </a:solidFill>
                <a:latin typeface="Calibri" panose="020F0502020204030204" pitchFamily="34" charset="0"/>
                <a:ea typeface="Calibri" panose="020F0502020204030204" pitchFamily="34" charset="0"/>
                <a:cs typeface="Calibri" panose="020F0502020204030204" pitchFamily="34" charset="0"/>
              </a:rPr>
              <a:t>FROM Shipments s</a:t>
            </a:r>
          </a:p>
          <a:p>
            <a:pPr marL="127000" indent="0">
              <a:buNone/>
            </a:pPr>
            <a:r>
              <a:rPr lang="en-US" sz="1200" dirty="0">
                <a:solidFill>
                  <a:schemeClr val="accent1"/>
                </a:solidFill>
                <a:latin typeface="Calibri" panose="020F0502020204030204" pitchFamily="34" charset="0"/>
                <a:ea typeface="Calibri" panose="020F0502020204030204" pitchFamily="34" charset="0"/>
                <a:cs typeface="Calibri" panose="020F0502020204030204" pitchFamily="34" charset="0"/>
              </a:rPr>
              <a:t>JOIN (</a:t>
            </a:r>
          </a:p>
          <a:p>
            <a:pPr marL="127000" indent="0">
              <a:buNone/>
            </a:pPr>
            <a:r>
              <a:rPr lang="en-US" sz="1200" dirty="0">
                <a:solidFill>
                  <a:schemeClr val="accent1"/>
                </a:solidFill>
                <a:latin typeface="Calibri" panose="020F0502020204030204" pitchFamily="34" charset="0"/>
                <a:ea typeface="Calibri" panose="020F0502020204030204" pitchFamily="34" charset="0"/>
                <a:cs typeface="Calibri" panose="020F0502020204030204" pitchFamily="34" charset="0"/>
              </a:rPr>
              <a:t>    SELECT</a:t>
            </a:r>
          </a:p>
          <a:p>
            <a:pPr marL="127000" indent="0">
              <a:buNone/>
            </a:pPr>
            <a:r>
              <a:rPr lang="en-US" sz="1200" dirty="0">
                <a:solidFill>
                  <a:schemeClr val="accent1"/>
                </a:solidFill>
                <a:latin typeface="Calibri" panose="020F0502020204030204" pitchFamily="34" charset="0"/>
                <a:ea typeface="Calibri" panose="020F0502020204030204" pitchFamily="34" charset="0"/>
                <a:cs typeface="Calibri" panose="020F0502020204030204" pitchFamily="34" charset="0"/>
              </a:rPr>
              <a:t>        </a:t>
            </a:r>
            <a:r>
              <a:rPr lang="en-US" sz="1200" dirty="0" err="1">
                <a:solidFill>
                  <a:schemeClr val="accent1"/>
                </a:solidFill>
                <a:latin typeface="Calibri" panose="020F0502020204030204" pitchFamily="34" charset="0"/>
                <a:ea typeface="Calibri" panose="020F0502020204030204" pitchFamily="34" charset="0"/>
                <a:cs typeface="Calibri" panose="020F0502020204030204" pitchFamily="34" charset="0"/>
              </a:rPr>
              <a:t>Shipment_ID</a:t>
            </a:r>
            <a:r>
              <a:rPr lang="en-US" sz="1200" dirty="0">
                <a:solidFill>
                  <a:schemeClr val="accent1"/>
                </a:solidFill>
                <a:latin typeface="Calibri" panose="020F0502020204030204" pitchFamily="34" charset="0"/>
                <a:ea typeface="Calibri" panose="020F0502020204030204" pitchFamily="34" charset="0"/>
                <a:cs typeface="Calibri" panose="020F0502020204030204" pitchFamily="34" charset="0"/>
              </a:rPr>
              <a:t>,</a:t>
            </a:r>
          </a:p>
          <a:p>
            <a:pPr marL="127000" indent="0">
              <a:buNone/>
            </a:pPr>
            <a:r>
              <a:rPr lang="en-US" sz="1200" dirty="0">
                <a:solidFill>
                  <a:schemeClr val="accent1"/>
                </a:solidFill>
                <a:latin typeface="Calibri" panose="020F0502020204030204" pitchFamily="34" charset="0"/>
                <a:ea typeface="Calibri" panose="020F0502020204030204" pitchFamily="34" charset="0"/>
                <a:cs typeface="Calibri" panose="020F0502020204030204" pitchFamily="34" charset="0"/>
              </a:rPr>
              <a:t>        MAX(</a:t>
            </a:r>
            <a:r>
              <a:rPr lang="en-US" sz="1200" dirty="0" err="1">
                <a:solidFill>
                  <a:schemeClr val="accent1"/>
                </a:solidFill>
                <a:latin typeface="Calibri" panose="020F0502020204030204" pitchFamily="34" charset="0"/>
                <a:ea typeface="Calibri" panose="020F0502020204030204" pitchFamily="34" charset="0"/>
                <a:cs typeface="Calibri" panose="020F0502020204030204" pitchFamily="34" charset="0"/>
              </a:rPr>
              <a:t>Delivery_Date</a:t>
            </a:r>
            <a:r>
              <a:rPr lang="en-US" sz="1200" dirty="0">
                <a:solidFill>
                  <a:schemeClr val="accent1"/>
                </a:solidFill>
                <a:latin typeface="Calibri" panose="020F0502020204030204" pitchFamily="34" charset="0"/>
                <a:ea typeface="Calibri" panose="020F0502020204030204" pitchFamily="34" charset="0"/>
                <a:cs typeface="Calibri" panose="020F0502020204030204" pitchFamily="34" charset="0"/>
              </a:rPr>
              <a:t>) AS </a:t>
            </a:r>
            <a:r>
              <a:rPr lang="en-US" sz="1200" dirty="0" err="1">
                <a:solidFill>
                  <a:schemeClr val="accent1"/>
                </a:solidFill>
                <a:latin typeface="Calibri" panose="020F0502020204030204" pitchFamily="34" charset="0"/>
                <a:ea typeface="Calibri" panose="020F0502020204030204" pitchFamily="34" charset="0"/>
                <a:cs typeface="Calibri" panose="020F0502020204030204" pitchFamily="34" charset="0"/>
              </a:rPr>
              <a:t>Latest_Delivery_Date</a:t>
            </a:r>
            <a:endParaRPr lang="en-US" sz="1200" dirty="0">
              <a:solidFill>
                <a:schemeClr val="accent1"/>
              </a:solidFill>
              <a:latin typeface="Calibri" panose="020F0502020204030204" pitchFamily="34" charset="0"/>
              <a:ea typeface="Calibri" panose="020F0502020204030204" pitchFamily="34" charset="0"/>
              <a:cs typeface="Calibri" panose="020F0502020204030204" pitchFamily="34" charset="0"/>
            </a:endParaRPr>
          </a:p>
          <a:p>
            <a:pPr marL="127000" indent="0">
              <a:buNone/>
            </a:pPr>
            <a:r>
              <a:rPr lang="en-US" sz="1200" dirty="0">
                <a:solidFill>
                  <a:schemeClr val="accent1"/>
                </a:solidFill>
                <a:latin typeface="Calibri" panose="020F0502020204030204" pitchFamily="34" charset="0"/>
                <a:ea typeface="Calibri" panose="020F0502020204030204" pitchFamily="34" charset="0"/>
                <a:cs typeface="Calibri" panose="020F0502020204030204" pitchFamily="34" charset="0"/>
              </a:rPr>
              <a:t>    FROM Shipments</a:t>
            </a:r>
          </a:p>
          <a:p>
            <a:pPr marL="127000" indent="0">
              <a:buNone/>
            </a:pPr>
            <a:r>
              <a:rPr lang="en-US" sz="1200" dirty="0">
                <a:solidFill>
                  <a:schemeClr val="accent1"/>
                </a:solidFill>
                <a:latin typeface="Calibri" panose="020F0502020204030204" pitchFamily="34" charset="0"/>
                <a:ea typeface="Calibri" panose="020F0502020204030204" pitchFamily="34" charset="0"/>
                <a:cs typeface="Calibri" panose="020F0502020204030204" pitchFamily="34" charset="0"/>
              </a:rPr>
              <a:t>    GROUP BY </a:t>
            </a:r>
            <a:r>
              <a:rPr lang="en-US" sz="1200" dirty="0" err="1">
                <a:solidFill>
                  <a:schemeClr val="accent1"/>
                </a:solidFill>
                <a:latin typeface="Calibri" panose="020F0502020204030204" pitchFamily="34" charset="0"/>
                <a:ea typeface="Calibri" panose="020F0502020204030204" pitchFamily="34" charset="0"/>
                <a:cs typeface="Calibri" panose="020F0502020204030204" pitchFamily="34" charset="0"/>
              </a:rPr>
              <a:t>Shipment_ID</a:t>
            </a:r>
            <a:endParaRPr lang="en-US" sz="1200" dirty="0">
              <a:solidFill>
                <a:schemeClr val="accent1"/>
              </a:solidFill>
              <a:latin typeface="Calibri" panose="020F0502020204030204" pitchFamily="34" charset="0"/>
              <a:ea typeface="Calibri" panose="020F0502020204030204" pitchFamily="34" charset="0"/>
              <a:cs typeface="Calibri" panose="020F0502020204030204" pitchFamily="34" charset="0"/>
            </a:endParaRPr>
          </a:p>
          <a:p>
            <a:pPr marL="127000" indent="0">
              <a:buNone/>
            </a:pPr>
            <a:r>
              <a:rPr lang="en-US" sz="1200" dirty="0">
                <a:solidFill>
                  <a:schemeClr val="accent1"/>
                </a:solidFill>
                <a:latin typeface="Calibri" panose="020F0502020204030204" pitchFamily="34" charset="0"/>
                <a:ea typeface="Calibri" panose="020F0502020204030204" pitchFamily="34" charset="0"/>
                <a:cs typeface="Calibri" panose="020F0502020204030204" pitchFamily="34" charset="0"/>
              </a:rPr>
              <a:t>) latest</a:t>
            </a:r>
          </a:p>
          <a:p>
            <a:pPr marL="127000" indent="0">
              <a:buNone/>
            </a:pPr>
            <a:r>
              <a:rPr lang="en-US" sz="1200" dirty="0">
                <a:solidFill>
                  <a:schemeClr val="accent1"/>
                </a:solidFill>
                <a:latin typeface="Calibri" panose="020F0502020204030204" pitchFamily="34" charset="0"/>
                <a:ea typeface="Calibri" panose="020F0502020204030204" pitchFamily="34" charset="0"/>
                <a:cs typeface="Calibri" panose="020F0502020204030204" pitchFamily="34" charset="0"/>
              </a:rPr>
              <a:t>ON </a:t>
            </a:r>
            <a:r>
              <a:rPr lang="en-US" sz="1200" dirty="0" err="1">
                <a:solidFill>
                  <a:schemeClr val="accent1"/>
                </a:solidFill>
                <a:latin typeface="Calibri" panose="020F0502020204030204" pitchFamily="34" charset="0"/>
                <a:ea typeface="Calibri" panose="020F0502020204030204" pitchFamily="34" charset="0"/>
                <a:cs typeface="Calibri" panose="020F0502020204030204" pitchFamily="34" charset="0"/>
              </a:rPr>
              <a:t>s.Shipment_ID</a:t>
            </a:r>
            <a:r>
              <a:rPr lang="en-US" sz="1200" dirty="0">
                <a:solidFill>
                  <a:schemeClr val="accent1"/>
                </a:solidFill>
                <a:latin typeface="Calibri" panose="020F0502020204030204" pitchFamily="34" charset="0"/>
                <a:ea typeface="Calibri" panose="020F0502020204030204" pitchFamily="34" charset="0"/>
                <a:cs typeface="Calibri" panose="020F0502020204030204" pitchFamily="34" charset="0"/>
              </a:rPr>
              <a:t> = </a:t>
            </a:r>
            <a:r>
              <a:rPr lang="en-US" sz="1200" dirty="0" err="1">
                <a:solidFill>
                  <a:schemeClr val="accent1"/>
                </a:solidFill>
                <a:latin typeface="Calibri" panose="020F0502020204030204" pitchFamily="34" charset="0"/>
                <a:ea typeface="Calibri" panose="020F0502020204030204" pitchFamily="34" charset="0"/>
                <a:cs typeface="Calibri" panose="020F0502020204030204" pitchFamily="34" charset="0"/>
              </a:rPr>
              <a:t>latest.Shipment_ID</a:t>
            </a:r>
            <a:endParaRPr lang="en-US" sz="1200" dirty="0">
              <a:solidFill>
                <a:schemeClr val="accent1"/>
              </a:solidFill>
              <a:latin typeface="Calibri" panose="020F0502020204030204" pitchFamily="34" charset="0"/>
              <a:ea typeface="Calibri" panose="020F0502020204030204" pitchFamily="34" charset="0"/>
              <a:cs typeface="Calibri" panose="020F0502020204030204" pitchFamily="34" charset="0"/>
            </a:endParaRPr>
          </a:p>
          <a:p>
            <a:pPr marL="127000" indent="0">
              <a:buNone/>
            </a:pPr>
            <a:r>
              <a:rPr lang="en-US" sz="1200" dirty="0">
                <a:solidFill>
                  <a:schemeClr val="accent1"/>
                </a:solidFill>
                <a:latin typeface="Calibri" panose="020F0502020204030204" pitchFamily="34" charset="0"/>
                <a:ea typeface="Calibri" panose="020F0502020204030204" pitchFamily="34" charset="0"/>
                <a:cs typeface="Calibri" panose="020F0502020204030204" pitchFamily="34" charset="0"/>
              </a:rPr>
              <a:t>AND </a:t>
            </a:r>
            <a:r>
              <a:rPr lang="en-US" sz="1200" dirty="0" err="1">
                <a:solidFill>
                  <a:schemeClr val="accent1"/>
                </a:solidFill>
                <a:latin typeface="Calibri" panose="020F0502020204030204" pitchFamily="34" charset="0"/>
                <a:ea typeface="Calibri" panose="020F0502020204030204" pitchFamily="34" charset="0"/>
                <a:cs typeface="Calibri" panose="020F0502020204030204" pitchFamily="34" charset="0"/>
              </a:rPr>
              <a:t>s.Delivery_Date</a:t>
            </a:r>
            <a:r>
              <a:rPr lang="en-US" sz="1200" dirty="0">
                <a:solidFill>
                  <a:schemeClr val="accent1"/>
                </a:solidFill>
                <a:latin typeface="Calibri" panose="020F0502020204030204" pitchFamily="34" charset="0"/>
                <a:ea typeface="Calibri" panose="020F0502020204030204" pitchFamily="34" charset="0"/>
                <a:cs typeface="Calibri" panose="020F0502020204030204" pitchFamily="34" charset="0"/>
              </a:rPr>
              <a:t> = </a:t>
            </a:r>
            <a:r>
              <a:rPr lang="en-US" sz="1200" dirty="0" err="1">
                <a:solidFill>
                  <a:schemeClr val="accent1"/>
                </a:solidFill>
                <a:latin typeface="Calibri" panose="020F0502020204030204" pitchFamily="34" charset="0"/>
                <a:ea typeface="Calibri" panose="020F0502020204030204" pitchFamily="34" charset="0"/>
                <a:cs typeface="Calibri" panose="020F0502020204030204" pitchFamily="34" charset="0"/>
              </a:rPr>
              <a:t>latest.Latest_Delivery_Date</a:t>
            </a:r>
            <a:r>
              <a:rPr lang="en-US" sz="1200" dirty="0">
                <a:solidFill>
                  <a:schemeClr val="accent1"/>
                </a:solidFill>
                <a:latin typeface="Calibri" panose="020F0502020204030204" pitchFamily="34" charset="0"/>
                <a:ea typeface="Calibri" panose="020F0502020204030204" pitchFamily="34" charset="0"/>
                <a:cs typeface="Calibri" panose="020F0502020204030204" pitchFamily="34" charset="0"/>
              </a:rPr>
              <a:t>;</a:t>
            </a:r>
          </a:p>
          <a:p>
            <a:pPr marL="127000" indent="0">
              <a:buNone/>
            </a:pPr>
            <a:endParaRPr lang="en-US" sz="1100" dirty="0">
              <a:latin typeface="Calibri" panose="020F0502020204030204" pitchFamily="34" charset="0"/>
              <a:ea typeface="Calibri" panose="020F0502020204030204" pitchFamily="34" charset="0"/>
              <a:cs typeface="Calibri" panose="020F0502020204030204" pitchFamily="34" charset="0"/>
            </a:endParaRPr>
          </a:p>
        </p:txBody>
      </p:sp>
      <p:pic>
        <p:nvPicPr>
          <p:cNvPr id="5" name="Picture 4">
            <a:extLst>
              <a:ext uri="{FF2B5EF4-FFF2-40B4-BE49-F238E27FC236}">
                <a16:creationId xmlns:a16="http://schemas.microsoft.com/office/drawing/2014/main" id="{15AF901A-E24F-4661-AE0E-1B4443397373}"/>
              </a:ext>
            </a:extLst>
          </p:cNvPr>
          <p:cNvPicPr>
            <a:picLocks noChangeAspect="1"/>
          </p:cNvPicPr>
          <p:nvPr/>
        </p:nvPicPr>
        <p:blipFill>
          <a:blip r:embed="rId2"/>
          <a:stretch>
            <a:fillRect/>
          </a:stretch>
        </p:blipFill>
        <p:spPr>
          <a:xfrm>
            <a:off x="3531840" y="2571751"/>
            <a:ext cx="2945366" cy="2327790"/>
          </a:xfrm>
          <a:prstGeom prst="rect">
            <a:avLst/>
          </a:prstGeom>
        </p:spPr>
      </p:pic>
      <p:sp>
        <p:nvSpPr>
          <p:cNvPr id="7" name="TextBox 6">
            <a:extLst>
              <a:ext uri="{FF2B5EF4-FFF2-40B4-BE49-F238E27FC236}">
                <a16:creationId xmlns:a16="http://schemas.microsoft.com/office/drawing/2014/main" id="{77A804E3-97FB-4574-AEE3-91CB50264C6F}"/>
              </a:ext>
            </a:extLst>
          </p:cNvPr>
          <p:cNvSpPr txBox="1"/>
          <p:nvPr/>
        </p:nvSpPr>
        <p:spPr>
          <a:xfrm>
            <a:off x="6648656" y="2775882"/>
            <a:ext cx="2221744" cy="2123658"/>
          </a:xfrm>
          <a:prstGeom prst="rect">
            <a:avLst/>
          </a:prstGeom>
          <a:noFill/>
        </p:spPr>
        <p:txBody>
          <a:bodyPr wrap="square">
            <a:spAutoFit/>
          </a:bodyPr>
          <a:lstStyle/>
          <a:p>
            <a:r>
              <a:rPr lang="en-US" sz="1200" b="1" u="sng" dirty="0">
                <a:latin typeface="Calibri" panose="020F0502020204030204" pitchFamily="34" charset="0"/>
                <a:ea typeface="Calibri" panose="020F0502020204030204" pitchFamily="34" charset="0"/>
                <a:cs typeface="Calibri" panose="020F0502020204030204" pitchFamily="34" charset="0"/>
              </a:rPr>
              <a:t>What was calculated:</a:t>
            </a:r>
            <a:br>
              <a:rPr lang="en-US" sz="1200" dirty="0">
                <a:latin typeface="Calibri" panose="020F0502020204030204" pitchFamily="34" charset="0"/>
                <a:ea typeface="Calibri" panose="020F0502020204030204" pitchFamily="34" charset="0"/>
                <a:cs typeface="Calibri" panose="020F0502020204030204" pitchFamily="34" charset="0"/>
              </a:rPr>
            </a:br>
            <a:r>
              <a:rPr lang="en-US" sz="1200" dirty="0">
                <a:latin typeface="Calibri" panose="020F0502020204030204" pitchFamily="34" charset="0"/>
                <a:ea typeface="Calibri" panose="020F0502020204030204" pitchFamily="34" charset="0"/>
                <a:cs typeface="Calibri" panose="020F0502020204030204" pitchFamily="34" charset="0"/>
              </a:rPr>
              <a:t>The most recent delivery date for every shipment along with its latest status.</a:t>
            </a:r>
          </a:p>
          <a:p>
            <a:endParaRPr lang="en-US" sz="1200" dirty="0">
              <a:latin typeface="Calibri" panose="020F0502020204030204" pitchFamily="34" charset="0"/>
              <a:ea typeface="Calibri" panose="020F0502020204030204" pitchFamily="34" charset="0"/>
              <a:cs typeface="Calibri" panose="020F0502020204030204" pitchFamily="34" charset="0"/>
            </a:endParaRPr>
          </a:p>
          <a:p>
            <a:r>
              <a:rPr lang="en-US" sz="1200" b="1" u="sng" dirty="0">
                <a:latin typeface="Calibri" panose="020F0502020204030204" pitchFamily="34" charset="0"/>
                <a:ea typeface="Calibri" panose="020F0502020204030204" pitchFamily="34" charset="0"/>
                <a:cs typeface="Calibri" panose="020F0502020204030204" pitchFamily="34" charset="0"/>
              </a:rPr>
              <a:t>What we got:</a:t>
            </a:r>
            <a:br>
              <a:rPr lang="en-US" sz="1200" dirty="0">
                <a:latin typeface="Calibri" panose="020F0502020204030204" pitchFamily="34" charset="0"/>
                <a:ea typeface="Calibri" panose="020F0502020204030204" pitchFamily="34" charset="0"/>
                <a:cs typeface="Calibri" panose="020F0502020204030204" pitchFamily="34" charset="0"/>
              </a:rPr>
            </a:br>
            <a:r>
              <a:rPr lang="en-US" sz="1200" dirty="0">
                <a:latin typeface="Calibri" panose="020F0502020204030204" pitchFamily="34" charset="0"/>
                <a:ea typeface="Calibri" panose="020F0502020204030204" pitchFamily="34" charset="0"/>
                <a:cs typeface="Calibri" panose="020F0502020204030204" pitchFamily="34" charset="0"/>
              </a:rPr>
              <a:t>This shows the current state of each shipment (Delivered, In Transit, or Returned), enabling real-time tracking and monitoring.</a:t>
            </a:r>
          </a:p>
        </p:txBody>
      </p:sp>
    </p:spTree>
    <p:extLst>
      <p:ext uri="{BB962C8B-B14F-4D97-AF65-F5344CB8AC3E}">
        <p14:creationId xmlns:p14="http://schemas.microsoft.com/office/powerpoint/2010/main" val="12847854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CF7D0"/>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882E00E-6BE5-479A-8F5A-347E268CEA9F}"/>
              </a:ext>
            </a:extLst>
          </p:cNvPr>
          <p:cNvSpPr>
            <a:spLocks noGrp="1"/>
          </p:cNvSpPr>
          <p:nvPr>
            <p:ph type="body" idx="1"/>
          </p:nvPr>
        </p:nvSpPr>
        <p:spPr>
          <a:xfrm>
            <a:off x="104775" y="177749"/>
            <a:ext cx="8613225" cy="3946575"/>
          </a:xfrm>
        </p:spPr>
        <p:txBody>
          <a:bodyPr/>
          <a:lstStyle/>
          <a:p>
            <a:pPr marL="127000" indent="0">
              <a:buNone/>
            </a:pPr>
            <a:endParaRPr lang="en-US" sz="1100" dirty="0">
              <a:latin typeface="Calibri" panose="020F0502020204030204" pitchFamily="34" charset="0"/>
              <a:ea typeface="Calibri" panose="020F0502020204030204" pitchFamily="34" charset="0"/>
              <a:cs typeface="Calibri" panose="020F0502020204030204" pitchFamily="34" charset="0"/>
            </a:endParaRPr>
          </a:p>
          <a:p>
            <a:r>
              <a:rPr lang="en-US" sz="1400" b="1" dirty="0">
                <a:latin typeface="Calibri" panose="020F0502020204030204" pitchFamily="34" charset="0"/>
                <a:ea typeface="Calibri" panose="020F0502020204030204" pitchFamily="34" charset="0"/>
                <a:cs typeface="Calibri" panose="020F0502020204030204" pitchFamily="34" charset="0"/>
              </a:rPr>
              <a:t>Identify routes where the majority of shipments are still “In Transit” or “Returned”.</a:t>
            </a:r>
          </a:p>
          <a:p>
            <a:pPr marL="127000" indent="0">
              <a:buNone/>
            </a:pPr>
            <a:endParaRPr lang="en-US" sz="1100" dirty="0">
              <a:latin typeface="Calibri" panose="020F0502020204030204" pitchFamily="34" charset="0"/>
              <a:ea typeface="Calibri" panose="020F0502020204030204" pitchFamily="34" charset="0"/>
              <a:cs typeface="Calibri" panose="020F0502020204030204" pitchFamily="34" charset="0"/>
            </a:endParaRPr>
          </a:p>
        </p:txBody>
      </p:sp>
      <p:sp>
        <p:nvSpPr>
          <p:cNvPr id="9" name="TextBox 8">
            <a:extLst>
              <a:ext uri="{FF2B5EF4-FFF2-40B4-BE49-F238E27FC236}">
                <a16:creationId xmlns:a16="http://schemas.microsoft.com/office/drawing/2014/main" id="{E055B152-C370-4B53-BA63-A3D13B7AC95C}"/>
              </a:ext>
            </a:extLst>
          </p:cNvPr>
          <p:cNvSpPr txBox="1"/>
          <p:nvPr/>
        </p:nvSpPr>
        <p:spPr>
          <a:xfrm>
            <a:off x="4411387" y="3514278"/>
            <a:ext cx="4572000" cy="1384995"/>
          </a:xfrm>
          <a:prstGeom prst="rect">
            <a:avLst/>
          </a:prstGeom>
          <a:noFill/>
        </p:spPr>
        <p:txBody>
          <a:bodyPr wrap="square">
            <a:spAutoFit/>
          </a:bodyPr>
          <a:lstStyle/>
          <a:p>
            <a:r>
              <a:rPr lang="en-US" sz="1200" b="1" u="sng" dirty="0">
                <a:latin typeface="Calibri" panose="020F0502020204030204" pitchFamily="34" charset="0"/>
                <a:ea typeface="Calibri" panose="020F0502020204030204" pitchFamily="34" charset="0"/>
                <a:cs typeface="Calibri" panose="020F0502020204030204" pitchFamily="34" charset="0"/>
              </a:rPr>
              <a:t>What was calculated:</a:t>
            </a:r>
            <a:br>
              <a:rPr lang="en-US" sz="1200" dirty="0">
                <a:latin typeface="Calibri" panose="020F0502020204030204" pitchFamily="34" charset="0"/>
                <a:ea typeface="Calibri" panose="020F0502020204030204" pitchFamily="34" charset="0"/>
                <a:cs typeface="Calibri" panose="020F0502020204030204" pitchFamily="34" charset="0"/>
              </a:rPr>
            </a:br>
            <a:r>
              <a:rPr lang="en-US" sz="1200" dirty="0">
                <a:latin typeface="Calibri" panose="020F0502020204030204" pitchFamily="34" charset="0"/>
                <a:ea typeface="Calibri" panose="020F0502020204030204" pitchFamily="34" charset="0"/>
                <a:cs typeface="Calibri" panose="020F0502020204030204" pitchFamily="34" charset="0"/>
              </a:rPr>
              <a:t>The number of shipments per route that are still In Transit or Returned and compared against total shipments.</a:t>
            </a:r>
          </a:p>
          <a:p>
            <a:endParaRPr lang="en-US" sz="1200" dirty="0">
              <a:latin typeface="Calibri" panose="020F0502020204030204" pitchFamily="34" charset="0"/>
              <a:ea typeface="Calibri" panose="020F0502020204030204" pitchFamily="34" charset="0"/>
              <a:cs typeface="Calibri" panose="020F0502020204030204" pitchFamily="34" charset="0"/>
            </a:endParaRPr>
          </a:p>
          <a:p>
            <a:r>
              <a:rPr lang="en-US" sz="1200" b="1" u="sng" dirty="0">
                <a:latin typeface="Calibri" panose="020F0502020204030204" pitchFamily="34" charset="0"/>
                <a:ea typeface="Calibri" panose="020F0502020204030204" pitchFamily="34" charset="0"/>
                <a:cs typeface="Calibri" panose="020F0502020204030204" pitchFamily="34" charset="0"/>
              </a:rPr>
              <a:t>What we got:</a:t>
            </a:r>
            <a:br>
              <a:rPr lang="en-US" sz="1200" dirty="0">
                <a:latin typeface="Calibri" panose="020F0502020204030204" pitchFamily="34" charset="0"/>
                <a:ea typeface="Calibri" panose="020F0502020204030204" pitchFamily="34" charset="0"/>
                <a:cs typeface="Calibri" panose="020F0502020204030204" pitchFamily="34" charset="0"/>
              </a:rPr>
            </a:br>
            <a:r>
              <a:rPr lang="en-US" sz="1200" dirty="0">
                <a:latin typeface="Calibri" panose="020F0502020204030204" pitchFamily="34" charset="0"/>
                <a:ea typeface="Calibri" panose="020F0502020204030204" pitchFamily="34" charset="0"/>
                <a:cs typeface="Calibri" panose="020F0502020204030204" pitchFamily="34" charset="0"/>
              </a:rPr>
              <a:t>Routes where more than half the shipments are problematic were identified, highlighting routes with serious delivery issues.</a:t>
            </a:r>
          </a:p>
        </p:txBody>
      </p:sp>
      <p:sp>
        <p:nvSpPr>
          <p:cNvPr id="11" name="TextBox 10">
            <a:extLst>
              <a:ext uri="{FF2B5EF4-FFF2-40B4-BE49-F238E27FC236}">
                <a16:creationId xmlns:a16="http://schemas.microsoft.com/office/drawing/2014/main" id="{47A9CB34-4738-486B-BB06-46ADEF0A017E}"/>
              </a:ext>
            </a:extLst>
          </p:cNvPr>
          <p:cNvSpPr txBox="1"/>
          <p:nvPr/>
        </p:nvSpPr>
        <p:spPr>
          <a:xfrm>
            <a:off x="216450" y="872906"/>
            <a:ext cx="4288631" cy="3416320"/>
          </a:xfrm>
          <a:prstGeom prst="rect">
            <a:avLst/>
          </a:prstGeom>
          <a:noFill/>
        </p:spPr>
        <p:txBody>
          <a:bodyPr wrap="square">
            <a:spAutoFit/>
          </a:bodyPr>
          <a:lstStyle/>
          <a:p>
            <a:r>
              <a:rPr lang="en-US" sz="1200" dirty="0">
                <a:solidFill>
                  <a:schemeClr val="accent1"/>
                </a:solidFill>
                <a:latin typeface="Calibri" panose="020F0502020204030204" pitchFamily="34" charset="0"/>
                <a:ea typeface="Calibri" panose="020F0502020204030204" pitchFamily="34" charset="0"/>
                <a:cs typeface="Calibri" panose="020F0502020204030204" pitchFamily="34" charset="0"/>
              </a:rPr>
              <a:t>SELECT</a:t>
            </a:r>
          </a:p>
          <a:p>
            <a:r>
              <a:rPr lang="en-US" sz="1200" dirty="0">
                <a:solidFill>
                  <a:schemeClr val="accent1"/>
                </a:solidFill>
                <a:latin typeface="Calibri" panose="020F0502020204030204" pitchFamily="34" charset="0"/>
                <a:ea typeface="Calibri" panose="020F0502020204030204" pitchFamily="34" charset="0"/>
                <a:cs typeface="Calibri" panose="020F0502020204030204" pitchFamily="34" charset="0"/>
              </a:rPr>
              <a:t>    </a:t>
            </a:r>
            <a:r>
              <a:rPr lang="en-US" sz="1200" dirty="0" err="1">
                <a:solidFill>
                  <a:schemeClr val="accent1"/>
                </a:solidFill>
                <a:latin typeface="Calibri" panose="020F0502020204030204" pitchFamily="34" charset="0"/>
                <a:ea typeface="Calibri" panose="020F0502020204030204" pitchFamily="34" charset="0"/>
                <a:cs typeface="Calibri" panose="020F0502020204030204" pitchFamily="34" charset="0"/>
              </a:rPr>
              <a:t>Route_ID</a:t>
            </a:r>
            <a:r>
              <a:rPr lang="en-US" sz="1200" dirty="0">
                <a:solidFill>
                  <a:schemeClr val="accent1"/>
                </a:solidFill>
                <a:latin typeface="Calibri" panose="020F0502020204030204" pitchFamily="34" charset="0"/>
                <a:ea typeface="Calibri" panose="020F0502020204030204" pitchFamily="34" charset="0"/>
                <a:cs typeface="Calibri" panose="020F0502020204030204" pitchFamily="34" charset="0"/>
              </a:rPr>
              <a:t>,</a:t>
            </a:r>
          </a:p>
          <a:p>
            <a:r>
              <a:rPr lang="en-US" sz="1200" dirty="0">
                <a:solidFill>
                  <a:schemeClr val="accent1"/>
                </a:solidFill>
                <a:latin typeface="Calibri" panose="020F0502020204030204" pitchFamily="34" charset="0"/>
                <a:ea typeface="Calibri" panose="020F0502020204030204" pitchFamily="34" charset="0"/>
                <a:cs typeface="Calibri" panose="020F0502020204030204" pitchFamily="34" charset="0"/>
              </a:rPr>
              <a:t>    COUNT(*) AS </a:t>
            </a:r>
            <a:r>
              <a:rPr lang="en-US" sz="1200" dirty="0" err="1">
                <a:solidFill>
                  <a:schemeClr val="accent1"/>
                </a:solidFill>
                <a:latin typeface="Calibri" panose="020F0502020204030204" pitchFamily="34" charset="0"/>
                <a:ea typeface="Calibri" panose="020F0502020204030204" pitchFamily="34" charset="0"/>
                <a:cs typeface="Calibri" panose="020F0502020204030204" pitchFamily="34" charset="0"/>
              </a:rPr>
              <a:t>Total_Shipments</a:t>
            </a:r>
            <a:r>
              <a:rPr lang="en-US" sz="1200" dirty="0">
                <a:solidFill>
                  <a:schemeClr val="accent1"/>
                </a:solidFill>
                <a:latin typeface="Calibri" panose="020F0502020204030204" pitchFamily="34" charset="0"/>
                <a:ea typeface="Calibri" panose="020F0502020204030204" pitchFamily="34" charset="0"/>
                <a:cs typeface="Calibri" panose="020F0502020204030204" pitchFamily="34" charset="0"/>
              </a:rPr>
              <a:t>,</a:t>
            </a:r>
          </a:p>
          <a:p>
            <a:r>
              <a:rPr lang="en-US" sz="1200" dirty="0">
                <a:solidFill>
                  <a:schemeClr val="accent1"/>
                </a:solidFill>
                <a:latin typeface="Calibri" panose="020F0502020204030204" pitchFamily="34" charset="0"/>
                <a:ea typeface="Calibri" panose="020F0502020204030204" pitchFamily="34" charset="0"/>
                <a:cs typeface="Calibri" panose="020F0502020204030204" pitchFamily="34" charset="0"/>
              </a:rPr>
              <a:t>    SUM(</a:t>
            </a:r>
          </a:p>
          <a:p>
            <a:r>
              <a:rPr lang="en-US" sz="1200" dirty="0">
                <a:solidFill>
                  <a:schemeClr val="accent1"/>
                </a:solidFill>
                <a:latin typeface="Calibri" panose="020F0502020204030204" pitchFamily="34" charset="0"/>
                <a:ea typeface="Calibri" panose="020F0502020204030204" pitchFamily="34" charset="0"/>
                <a:cs typeface="Calibri" panose="020F0502020204030204" pitchFamily="34" charset="0"/>
              </a:rPr>
              <a:t>        CASE</a:t>
            </a:r>
          </a:p>
          <a:p>
            <a:r>
              <a:rPr lang="en-US" sz="1200" dirty="0">
                <a:solidFill>
                  <a:schemeClr val="accent1"/>
                </a:solidFill>
                <a:latin typeface="Calibri" panose="020F0502020204030204" pitchFamily="34" charset="0"/>
                <a:ea typeface="Calibri" panose="020F0502020204030204" pitchFamily="34" charset="0"/>
                <a:cs typeface="Calibri" panose="020F0502020204030204" pitchFamily="34" charset="0"/>
              </a:rPr>
              <a:t>            WHEN </a:t>
            </a:r>
            <a:r>
              <a:rPr lang="en-US" sz="1200" dirty="0" err="1">
                <a:solidFill>
                  <a:schemeClr val="accent1"/>
                </a:solidFill>
                <a:latin typeface="Calibri" panose="020F0502020204030204" pitchFamily="34" charset="0"/>
                <a:ea typeface="Calibri" panose="020F0502020204030204" pitchFamily="34" charset="0"/>
                <a:cs typeface="Calibri" panose="020F0502020204030204" pitchFamily="34" charset="0"/>
              </a:rPr>
              <a:t>Delivery_Status</a:t>
            </a:r>
            <a:r>
              <a:rPr lang="en-US" sz="1200" dirty="0">
                <a:solidFill>
                  <a:schemeClr val="accent1"/>
                </a:solidFill>
                <a:latin typeface="Calibri" panose="020F0502020204030204" pitchFamily="34" charset="0"/>
                <a:ea typeface="Calibri" panose="020F0502020204030204" pitchFamily="34" charset="0"/>
                <a:cs typeface="Calibri" panose="020F0502020204030204" pitchFamily="34" charset="0"/>
              </a:rPr>
              <a:t> IN ('In Transit', 'Returned') THEN 1</a:t>
            </a:r>
          </a:p>
          <a:p>
            <a:r>
              <a:rPr lang="en-US" sz="1200" dirty="0">
                <a:solidFill>
                  <a:schemeClr val="accent1"/>
                </a:solidFill>
                <a:latin typeface="Calibri" panose="020F0502020204030204" pitchFamily="34" charset="0"/>
                <a:ea typeface="Calibri" panose="020F0502020204030204" pitchFamily="34" charset="0"/>
                <a:cs typeface="Calibri" panose="020F0502020204030204" pitchFamily="34" charset="0"/>
              </a:rPr>
              <a:t>            ELSE 0</a:t>
            </a:r>
          </a:p>
          <a:p>
            <a:r>
              <a:rPr lang="en-US" sz="1200" dirty="0">
                <a:solidFill>
                  <a:schemeClr val="accent1"/>
                </a:solidFill>
                <a:latin typeface="Calibri" panose="020F0502020204030204" pitchFamily="34" charset="0"/>
                <a:ea typeface="Calibri" panose="020F0502020204030204" pitchFamily="34" charset="0"/>
                <a:cs typeface="Calibri" panose="020F0502020204030204" pitchFamily="34" charset="0"/>
              </a:rPr>
              <a:t>        END</a:t>
            </a:r>
          </a:p>
          <a:p>
            <a:r>
              <a:rPr lang="en-US" sz="1200" dirty="0">
                <a:solidFill>
                  <a:schemeClr val="accent1"/>
                </a:solidFill>
                <a:latin typeface="Calibri" panose="020F0502020204030204" pitchFamily="34" charset="0"/>
                <a:ea typeface="Calibri" panose="020F0502020204030204" pitchFamily="34" charset="0"/>
                <a:cs typeface="Calibri" panose="020F0502020204030204" pitchFamily="34" charset="0"/>
              </a:rPr>
              <a:t>    ) AS </a:t>
            </a:r>
            <a:r>
              <a:rPr lang="en-US" sz="1200" dirty="0" err="1">
                <a:solidFill>
                  <a:schemeClr val="accent1"/>
                </a:solidFill>
                <a:latin typeface="Calibri" panose="020F0502020204030204" pitchFamily="34" charset="0"/>
                <a:ea typeface="Calibri" panose="020F0502020204030204" pitchFamily="34" charset="0"/>
                <a:cs typeface="Calibri" panose="020F0502020204030204" pitchFamily="34" charset="0"/>
              </a:rPr>
              <a:t>Problem_Shipments</a:t>
            </a:r>
            <a:endParaRPr lang="en-US" sz="1200" dirty="0">
              <a:solidFill>
                <a:schemeClr val="accent1"/>
              </a:solidFill>
              <a:latin typeface="Calibri" panose="020F0502020204030204" pitchFamily="34" charset="0"/>
              <a:ea typeface="Calibri" panose="020F0502020204030204" pitchFamily="34" charset="0"/>
              <a:cs typeface="Calibri" panose="020F0502020204030204" pitchFamily="34" charset="0"/>
            </a:endParaRPr>
          </a:p>
          <a:p>
            <a:r>
              <a:rPr lang="en-US" sz="1200" dirty="0">
                <a:solidFill>
                  <a:schemeClr val="accent1"/>
                </a:solidFill>
                <a:latin typeface="Calibri" panose="020F0502020204030204" pitchFamily="34" charset="0"/>
                <a:ea typeface="Calibri" panose="020F0502020204030204" pitchFamily="34" charset="0"/>
                <a:cs typeface="Calibri" panose="020F0502020204030204" pitchFamily="34" charset="0"/>
              </a:rPr>
              <a:t>FROM Shipments</a:t>
            </a:r>
          </a:p>
          <a:p>
            <a:r>
              <a:rPr lang="en-US" sz="1200" dirty="0">
                <a:solidFill>
                  <a:schemeClr val="accent1"/>
                </a:solidFill>
                <a:latin typeface="Calibri" panose="020F0502020204030204" pitchFamily="34" charset="0"/>
                <a:ea typeface="Calibri" panose="020F0502020204030204" pitchFamily="34" charset="0"/>
                <a:cs typeface="Calibri" panose="020F0502020204030204" pitchFamily="34" charset="0"/>
              </a:rPr>
              <a:t>GROUP BY </a:t>
            </a:r>
            <a:r>
              <a:rPr lang="en-US" sz="1200" dirty="0" err="1">
                <a:solidFill>
                  <a:schemeClr val="accent1"/>
                </a:solidFill>
                <a:latin typeface="Calibri" panose="020F0502020204030204" pitchFamily="34" charset="0"/>
                <a:ea typeface="Calibri" panose="020F0502020204030204" pitchFamily="34" charset="0"/>
                <a:cs typeface="Calibri" panose="020F0502020204030204" pitchFamily="34" charset="0"/>
              </a:rPr>
              <a:t>Route_ID</a:t>
            </a:r>
            <a:endParaRPr lang="en-US" sz="1200" dirty="0">
              <a:solidFill>
                <a:schemeClr val="accent1"/>
              </a:solidFill>
              <a:latin typeface="Calibri" panose="020F0502020204030204" pitchFamily="34" charset="0"/>
              <a:ea typeface="Calibri" panose="020F0502020204030204" pitchFamily="34" charset="0"/>
              <a:cs typeface="Calibri" panose="020F0502020204030204" pitchFamily="34" charset="0"/>
            </a:endParaRPr>
          </a:p>
          <a:p>
            <a:r>
              <a:rPr lang="en-US" sz="1200" dirty="0">
                <a:solidFill>
                  <a:schemeClr val="accent1"/>
                </a:solidFill>
                <a:latin typeface="Calibri" panose="020F0502020204030204" pitchFamily="34" charset="0"/>
                <a:ea typeface="Calibri" panose="020F0502020204030204" pitchFamily="34" charset="0"/>
                <a:cs typeface="Calibri" panose="020F0502020204030204" pitchFamily="34" charset="0"/>
              </a:rPr>
              <a:t>HAVING</a:t>
            </a:r>
          </a:p>
          <a:p>
            <a:r>
              <a:rPr lang="en-US" sz="1200" dirty="0">
                <a:solidFill>
                  <a:schemeClr val="accent1"/>
                </a:solidFill>
                <a:latin typeface="Calibri" panose="020F0502020204030204" pitchFamily="34" charset="0"/>
                <a:ea typeface="Calibri" panose="020F0502020204030204" pitchFamily="34" charset="0"/>
                <a:cs typeface="Calibri" panose="020F0502020204030204" pitchFamily="34" charset="0"/>
              </a:rPr>
              <a:t>    SUM(</a:t>
            </a:r>
          </a:p>
          <a:p>
            <a:r>
              <a:rPr lang="en-US" sz="1200" dirty="0">
                <a:solidFill>
                  <a:schemeClr val="accent1"/>
                </a:solidFill>
                <a:latin typeface="Calibri" panose="020F0502020204030204" pitchFamily="34" charset="0"/>
                <a:ea typeface="Calibri" panose="020F0502020204030204" pitchFamily="34" charset="0"/>
                <a:cs typeface="Calibri" panose="020F0502020204030204" pitchFamily="34" charset="0"/>
              </a:rPr>
              <a:t>        CASE</a:t>
            </a:r>
          </a:p>
          <a:p>
            <a:r>
              <a:rPr lang="en-US" sz="1200" dirty="0">
                <a:solidFill>
                  <a:schemeClr val="accent1"/>
                </a:solidFill>
                <a:latin typeface="Calibri" panose="020F0502020204030204" pitchFamily="34" charset="0"/>
                <a:ea typeface="Calibri" panose="020F0502020204030204" pitchFamily="34" charset="0"/>
                <a:cs typeface="Calibri" panose="020F0502020204030204" pitchFamily="34" charset="0"/>
              </a:rPr>
              <a:t>            WHEN </a:t>
            </a:r>
            <a:r>
              <a:rPr lang="en-US" sz="1200" dirty="0" err="1">
                <a:solidFill>
                  <a:schemeClr val="accent1"/>
                </a:solidFill>
                <a:latin typeface="Calibri" panose="020F0502020204030204" pitchFamily="34" charset="0"/>
                <a:ea typeface="Calibri" panose="020F0502020204030204" pitchFamily="34" charset="0"/>
                <a:cs typeface="Calibri" panose="020F0502020204030204" pitchFamily="34" charset="0"/>
              </a:rPr>
              <a:t>Delivery_Status</a:t>
            </a:r>
            <a:r>
              <a:rPr lang="en-US" sz="1200" dirty="0">
                <a:solidFill>
                  <a:schemeClr val="accent1"/>
                </a:solidFill>
                <a:latin typeface="Calibri" panose="020F0502020204030204" pitchFamily="34" charset="0"/>
                <a:ea typeface="Calibri" panose="020F0502020204030204" pitchFamily="34" charset="0"/>
                <a:cs typeface="Calibri" panose="020F0502020204030204" pitchFamily="34" charset="0"/>
              </a:rPr>
              <a:t> IN ('In Transit', 'Returned') THEN 1</a:t>
            </a:r>
          </a:p>
          <a:p>
            <a:r>
              <a:rPr lang="en-US" sz="1200" dirty="0">
                <a:solidFill>
                  <a:schemeClr val="accent1"/>
                </a:solidFill>
                <a:latin typeface="Calibri" panose="020F0502020204030204" pitchFamily="34" charset="0"/>
                <a:ea typeface="Calibri" panose="020F0502020204030204" pitchFamily="34" charset="0"/>
                <a:cs typeface="Calibri" panose="020F0502020204030204" pitchFamily="34" charset="0"/>
              </a:rPr>
              <a:t>            ELSE 0</a:t>
            </a:r>
          </a:p>
          <a:p>
            <a:r>
              <a:rPr lang="en-US" sz="1200" dirty="0">
                <a:solidFill>
                  <a:schemeClr val="accent1"/>
                </a:solidFill>
                <a:latin typeface="Calibri" panose="020F0502020204030204" pitchFamily="34" charset="0"/>
                <a:ea typeface="Calibri" panose="020F0502020204030204" pitchFamily="34" charset="0"/>
                <a:cs typeface="Calibri" panose="020F0502020204030204" pitchFamily="34" charset="0"/>
              </a:rPr>
              <a:t>        END</a:t>
            </a:r>
          </a:p>
          <a:p>
            <a:r>
              <a:rPr lang="en-US" sz="1200" dirty="0">
                <a:solidFill>
                  <a:schemeClr val="accent1"/>
                </a:solidFill>
                <a:latin typeface="Calibri" panose="020F0502020204030204" pitchFamily="34" charset="0"/>
                <a:ea typeface="Calibri" panose="020F0502020204030204" pitchFamily="34" charset="0"/>
                <a:cs typeface="Calibri" panose="020F0502020204030204" pitchFamily="34" charset="0"/>
              </a:rPr>
              <a:t>    ) &gt; COUNT(*) / 2;</a:t>
            </a:r>
          </a:p>
        </p:txBody>
      </p:sp>
      <p:pic>
        <p:nvPicPr>
          <p:cNvPr id="13" name="Picture 12">
            <a:extLst>
              <a:ext uri="{FF2B5EF4-FFF2-40B4-BE49-F238E27FC236}">
                <a16:creationId xmlns:a16="http://schemas.microsoft.com/office/drawing/2014/main" id="{3185EBF1-9C9F-44EF-A4C4-3756F630ED87}"/>
              </a:ext>
            </a:extLst>
          </p:cNvPr>
          <p:cNvPicPr>
            <a:picLocks noChangeAspect="1"/>
          </p:cNvPicPr>
          <p:nvPr/>
        </p:nvPicPr>
        <p:blipFill>
          <a:blip r:embed="rId2"/>
          <a:stretch>
            <a:fillRect/>
          </a:stretch>
        </p:blipFill>
        <p:spPr>
          <a:xfrm>
            <a:off x="5262357" y="1328689"/>
            <a:ext cx="2943636" cy="695422"/>
          </a:xfrm>
          <a:prstGeom prst="rect">
            <a:avLst/>
          </a:prstGeom>
        </p:spPr>
      </p:pic>
    </p:spTree>
    <p:extLst>
      <p:ext uri="{BB962C8B-B14F-4D97-AF65-F5344CB8AC3E}">
        <p14:creationId xmlns:p14="http://schemas.microsoft.com/office/powerpoint/2010/main" val="292096162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CF7D0"/>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882E00E-6BE5-479A-8F5A-347E268CEA9F}"/>
              </a:ext>
            </a:extLst>
          </p:cNvPr>
          <p:cNvSpPr>
            <a:spLocks noGrp="1"/>
          </p:cNvSpPr>
          <p:nvPr>
            <p:ph type="body" idx="1"/>
          </p:nvPr>
        </p:nvSpPr>
        <p:spPr>
          <a:xfrm>
            <a:off x="104775" y="177749"/>
            <a:ext cx="8613225" cy="3946575"/>
          </a:xfrm>
        </p:spPr>
        <p:txBody>
          <a:bodyPr/>
          <a:lstStyle/>
          <a:p>
            <a:pPr marL="127000" indent="0">
              <a:buNone/>
            </a:pPr>
            <a:endParaRPr lang="en-US" sz="1400" b="1" dirty="0">
              <a:latin typeface="Calibri" panose="020F0502020204030204" pitchFamily="34" charset="0"/>
              <a:ea typeface="Calibri" panose="020F0502020204030204" pitchFamily="34" charset="0"/>
              <a:cs typeface="Calibri" panose="020F0502020204030204" pitchFamily="34" charset="0"/>
            </a:endParaRPr>
          </a:p>
          <a:p>
            <a:r>
              <a:rPr lang="en-US" sz="1400" b="1" dirty="0">
                <a:latin typeface="Calibri" panose="020F0502020204030204" pitchFamily="34" charset="0"/>
                <a:ea typeface="Calibri" panose="020F0502020204030204" pitchFamily="34" charset="0"/>
                <a:cs typeface="Calibri" panose="020F0502020204030204" pitchFamily="34" charset="0"/>
              </a:rPr>
              <a:t>Find the most frequent delay reasons (if available in delay-related columns or flags). </a:t>
            </a:r>
          </a:p>
          <a:p>
            <a:pPr marL="127000" indent="0">
              <a:buNone/>
            </a:pPr>
            <a:endParaRPr lang="en-US" sz="1200" dirty="0">
              <a:latin typeface="Calibri" panose="020F0502020204030204" pitchFamily="34" charset="0"/>
              <a:ea typeface="Calibri" panose="020F0502020204030204" pitchFamily="34" charset="0"/>
              <a:cs typeface="Calibri" panose="020F0502020204030204" pitchFamily="34" charset="0"/>
            </a:endParaRPr>
          </a:p>
          <a:p>
            <a:pPr marL="127000" indent="0">
              <a:buNone/>
            </a:pPr>
            <a:r>
              <a:rPr lang="en-US" sz="1200" dirty="0">
                <a:solidFill>
                  <a:schemeClr val="accent1"/>
                </a:solidFill>
                <a:latin typeface="Calibri" panose="020F0502020204030204" pitchFamily="34" charset="0"/>
                <a:ea typeface="Calibri" panose="020F0502020204030204" pitchFamily="34" charset="0"/>
                <a:cs typeface="Calibri" panose="020F0502020204030204" pitchFamily="34" charset="0"/>
              </a:rPr>
              <a:t>SELECT</a:t>
            </a:r>
          </a:p>
          <a:p>
            <a:pPr marL="127000" indent="0">
              <a:buNone/>
            </a:pPr>
            <a:r>
              <a:rPr lang="en-US" sz="1200" dirty="0">
                <a:solidFill>
                  <a:schemeClr val="accent1"/>
                </a:solidFill>
                <a:latin typeface="Calibri" panose="020F0502020204030204" pitchFamily="34" charset="0"/>
                <a:ea typeface="Calibri" panose="020F0502020204030204" pitchFamily="34" charset="0"/>
                <a:cs typeface="Calibri" panose="020F0502020204030204" pitchFamily="34" charset="0"/>
              </a:rPr>
              <a:t>    </a:t>
            </a:r>
            <a:r>
              <a:rPr lang="en-US" sz="1200" dirty="0" err="1">
                <a:solidFill>
                  <a:schemeClr val="accent1"/>
                </a:solidFill>
                <a:latin typeface="Calibri" panose="020F0502020204030204" pitchFamily="34" charset="0"/>
                <a:ea typeface="Calibri" panose="020F0502020204030204" pitchFamily="34" charset="0"/>
                <a:cs typeface="Calibri" panose="020F0502020204030204" pitchFamily="34" charset="0"/>
              </a:rPr>
              <a:t>Delay_Reason</a:t>
            </a:r>
            <a:r>
              <a:rPr lang="en-US" sz="1200" dirty="0">
                <a:solidFill>
                  <a:schemeClr val="accent1"/>
                </a:solidFill>
                <a:latin typeface="Calibri" panose="020F0502020204030204" pitchFamily="34" charset="0"/>
                <a:ea typeface="Calibri" panose="020F0502020204030204" pitchFamily="34" charset="0"/>
                <a:cs typeface="Calibri" panose="020F0502020204030204" pitchFamily="34" charset="0"/>
              </a:rPr>
              <a:t>,</a:t>
            </a:r>
          </a:p>
          <a:p>
            <a:pPr marL="127000" indent="0">
              <a:buNone/>
            </a:pPr>
            <a:r>
              <a:rPr lang="en-US" sz="1200" dirty="0">
                <a:solidFill>
                  <a:schemeClr val="accent1"/>
                </a:solidFill>
                <a:latin typeface="Calibri" panose="020F0502020204030204" pitchFamily="34" charset="0"/>
                <a:ea typeface="Calibri" panose="020F0502020204030204" pitchFamily="34" charset="0"/>
                <a:cs typeface="Calibri" panose="020F0502020204030204" pitchFamily="34" charset="0"/>
              </a:rPr>
              <a:t>    COUNT(*) AS Frequency</a:t>
            </a:r>
          </a:p>
          <a:p>
            <a:pPr marL="127000" indent="0">
              <a:buNone/>
            </a:pPr>
            <a:r>
              <a:rPr lang="en-US" sz="1200" dirty="0">
                <a:solidFill>
                  <a:schemeClr val="accent1"/>
                </a:solidFill>
                <a:latin typeface="Calibri" panose="020F0502020204030204" pitchFamily="34" charset="0"/>
                <a:ea typeface="Calibri" panose="020F0502020204030204" pitchFamily="34" charset="0"/>
                <a:cs typeface="Calibri" panose="020F0502020204030204" pitchFamily="34" charset="0"/>
              </a:rPr>
              <a:t>FROM Shipments</a:t>
            </a:r>
          </a:p>
          <a:p>
            <a:pPr marL="127000" indent="0">
              <a:buNone/>
            </a:pPr>
            <a:r>
              <a:rPr lang="en-US" sz="1200" dirty="0">
                <a:solidFill>
                  <a:schemeClr val="accent1"/>
                </a:solidFill>
                <a:latin typeface="Calibri" panose="020F0502020204030204" pitchFamily="34" charset="0"/>
                <a:ea typeface="Calibri" panose="020F0502020204030204" pitchFamily="34" charset="0"/>
                <a:cs typeface="Calibri" panose="020F0502020204030204" pitchFamily="34" charset="0"/>
              </a:rPr>
              <a:t>WHERE </a:t>
            </a:r>
            <a:r>
              <a:rPr lang="en-US" sz="1200" dirty="0" err="1">
                <a:solidFill>
                  <a:schemeClr val="accent1"/>
                </a:solidFill>
                <a:latin typeface="Calibri" panose="020F0502020204030204" pitchFamily="34" charset="0"/>
                <a:ea typeface="Calibri" panose="020F0502020204030204" pitchFamily="34" charset="0"/>
                <a:cs typeface="Calibri" panose="020F0502020204030204" pitchFamily="34" charset="0"/>
              </a:rPr>
              <a:t>Delay_Reason</a:t>
            </a:r>
            <a:r>
              <a:rPr lang="en-US" sz="1200" dirty="0">
                <a:solidFill>
                  <a:schemeClr val="accent1"/>
                </a:solidFill>
                <a:latin typeface="Calibri" panose="020F0502020204030204" pitchFamily="34" charset="0"/>
                <a:ea typeface="Calibri" panose="020F0502020204030204" pitchFamily="34" charset="0"/>
                <a:cs typeface="Calibri" panose="020F0502020204030204" pitchFamily="34" charset="0"/>
              </a:rPr>
              <a:t> IS NOT NULL</a:t>
            </a:r>
          </a:p>
          <a:p>
            <a:pPr marL="127000" indent="0">
              <a:buNone/>
            </a:pPr>
            <a:r>
              <a:rPr lang="en-US" sz="1200" dirty="0">
                <a:solidFill>
                  <a:schemeClr val="accent1"/>
                </a:solidFill>
                <a:latin typeface="Calibri" panose="020F0502020204030204" pitchFamily="34" charset="0"/>
                <a:ea typeface="Calibri" panose="020F0502020204030204" pitchFamily="34" charset="0"/>
                <a:cs typeface="Calibri" panose="020F0502020204030204" pitchFamily="34" charset="0"/>
              </a:rPr>
              <a:t>GROUP BY </a:t>
            </a:r>
            <a:r>
              <a:rPr lang="en-US" sz="1200" dirty="0" err="1">
                <a:solidFill>
                  <a:schemeClr val="accent1"/>
                </a:solidFill>
                <a:latin typeface="Calibri" panose="020F0502020204030204" pitchFamily="34" charset="0"/>
                <a:ea typeface="Calibri" panose="020F0502020204030204" pitchFamily="34" charset="0"/>
                <a:cs typeface="Calibri" panose="020F0502020204030204" pitchFamily="34" charset="0"/>
              </a:rPr>
              <a:t>Delay_Reason</a:t>
            </a:r>
            <a:endParaRPr lang="en-US" sz="1200" dirty="0">
              <a:solidFill>
                <a:schemeClr val="accent1"/>
              </a:solidFill>
              <a:latin typeface="Calibri" panose="020F0502020204030204" pitchFamily="34" charset="0"/>
              <a:ea typeface="Calibri" panose="020F0502020204030204" pitchFamily="34" charset="0"/>
              <a:cs typeface="Calibri" panose="020F0502020204030204" pitchFamily="34" charset="0"/>
            </a:endParaRPr>
          </a:p>
          <a:p>
            <a:pPr marL="127000" indent="0">
              <a:buNone/>
            </a:pPr>
            <a:r>
              <a:rPr lang="en-US" sz="1200" dirty="0">
                <a:solidFill>
                  <a:schemeClr val="accent1"/>
                </a:solidFill>
                <a:latin typeface="Calibri" panose="020F0502020204030204" pitchFamily="34" charset="0"/>
                <a:ea typeface="Calibri" panose="020F0502020204030204" pitchFamily="34" charset="0"/>
                <a:cs typeface="Calibri" panose="020F0502020204030204" pitchFamily="34" charset="0"/>
              </a:rPr>
              <a:t>ORDER BY Frequency DESC;</a:t>
            </a:r>
          </a:p>
          <a:p>
            <a:pPr marL="127000" indent="0">
              <a:buNone/>
            </a:pPr>
            <a:endParaRPr lang="en-US" sz="1200" dirty="0">
              <a:solidFill>
                <a:schemeClr val="accent1"/>
              </a:solidFill>
              <a:latin typeface="Calibri" panose="020F0502020204030204" pitchFamily="34" charset="0"/>
              <a:ea typeface="Calibri" panose="020F0502020204030204" pitchFamily="34" charset="0"/>
              <a:cs typeface="Calibri" panose="020F0502020204030204" pitchFamily="34" charset="0"/>
            </a:endParaRPr>
          </a:p>
          <a:p>
            <a:pPr marL="127000" indent="0">
              <a:buNone/>
            </a:pPr>
            <a:endParaRPr lang="en-US" sz="1100" dirty="0">
              <a:latin typeface="Calibri" panose="020F0502020204030204" pitchFamily="34" charset="0"/>
              <a:ea typeface="Calibri" panose="020F0502020204030204" pitchFamily="34" charset="0"/>
              <a:cs typeface="Calibri" panose="020F0502020204030204" pitchFamily="34" charset="0"/>
            </a:endParaRPr>
          </a:p>
        </p:txBody>
      </p:sp>
      <p:pic>
        <p:nvPicPr>
          <p:cNvPr id="4" name="Picture 3">
            <a:extLst>
              <a:ext uri="{FF2B5EF4-FFF2-40B4-BE49-F238E27FC236}">
                <a16:creationId xmlns:a16="http://schemas.microsoft.com/office/drawing/2014/main" id="{7BBAE0AE-F0D3-4358-9B45-2EA0D6658278}"/>
              </a:ext>
            </a:extLst>
          </p:cNvPr>
          <p:cNvPicPr>
            <a:picLocks noChangeAspect="1"/>
          </p:cNvPicPr>
          <p:nvPr/>
        </p:nvPicPr>
        <p:blipFill>
          <a:blip r:embed="rId2"/>
          <a:stretch>
            <a:fillRect/>
          </a:stretch>
        </p:blipFill>
        <p:spPr>
          <a:xfrm>
            <a:off x="3243121" y="987381"/>
            <a:ext cx="2029108" cy="1047896"/>
          </a:xfrm>
          <a:prstGeom prst="rect">
            <a:avLst/>
          </a:prstGeom>
        </p:spPr>
      </p:pic>
      <p:sp>
        <p:nvSpPr>
          <p:cNvPr id="10" name="TextBox 9">
            <a:extLst>
              <a:ext uri="{FF2B5EF4-FFF2-40B4-BE49-F238E27FC236}">
                <a16:creationId xmlns:a16="http://schemas.microsoft.com/office/drawing/2014/main" id="{38CCCE6D-D79C-41F0-B31C-3BED54B95D0A}"/>
              </a:ext>
            </a:extLst>
          </p:cNvPr>
          <p:cNvSpPr txBox="1"/>
          <p:nvPr/>
        </p:nvSpPr>
        <p:spPr>
          <a:xfrm>
            <a:off x="221457" y="2571750"/>
            <a:ext cx="4776786" cy="1200329"/>
          </a:xfrm>
          <a:prstGeom prst="rect">
            <a:avLst/>
          </a:prstGeom>
          <a:noFill/>
        </p:spPr>
        <p:txBody>
          <a:bodyPr wrap="square">
            <a:spAutoFit/>
          </a:bodyPr>
          <a:lstStyle/>
          <a:p>
            <a:r>
              <a:rPr lang="en-US" sz="1200" b="1" u="sng" dirty="0">
                <a:latin typeface="Calibri" panose="020F0502020204030204" pitchFamily="34" charset="0"/>
                <a:ea typeface="Calibri" panose="020F0502020204030204" pitchFamily="34" charset="0"/>
                <a:cs typeface="Calibri" panose="020F0502020204030204" pitchFamily="34" charset="0"/>
              </a:rPr>
              <a:t>What was calculated:</a:t>
            </a:r>
            <a:br>
              <a:rPr lang="en-US" sz="1200" dirty="0">
                <a:latin typeface="Calibri" panose="020F0502020204030204" pitchFamily="34" charset="0"/>
                <a:ea typeface="Calibri" panose="020F0502020204030204" pitchFamily="34" charset="0"/>
                <a:cs typeface="Calibri" panose="020F0502020204030204" pitchFamily="34" charset="0"/>
              </a:rPr>
            </a:br>
            <a:r>
              <a:rPr lang="en-US" sz="1200" dirty="0">
                <a:latin typeface="Calibri" panose="020F0502020204030204" pitchFamily="34" charset="0"/>
                <a:ea typeface="Calibri" panose="020F0502020204030204" pitchFamily="34" charset="0"/>
                <a:cs typeface="Calibri" panose="020F0502020204030204" pitchFamily="34" charset="0"/>
              </a:rPr>
              <a:t>The frequency of each delay reason across all shipments.</a:t>
            </a:r>
          </a:p>
          <a:p>
            <a:endParaRPr lang="en-US" sz="1200" dirty="0">
              <a:latin typeface="Calibri" panose="020F0502020204030204" pitchFamily="34" charset="0"/>
              <a:ea typeface="Calibri" panose="020F0502020204030204" pitchFamily="34" charset="0"/>
              <a:cs typeface="Calibri" panose="020F0502020204030204" pitchFamily="34" charset="0"/>
            </a:endParaRPr>
          </a:p>
          <a:p>
            <a:r>
              <a:rPr lang="en-US" sz="1200" b="1" u="sng" dirty="0">
                <a:latin typeface="Calibri" panose="020F0502020204030204" pitchFamily="34" charset="0"/>
                <a:ea typeface="Calibri" panose="020F0502020204030204" pitchFamily="34" charset="0"/>
                <a:cs typeface="Calibri" panose="020F0502020204030204" pitchFamily="34" charset="0"/>
              </a:rPr>
              <a:t>What we got:</a:t>
            </a:r>
            <a:br>
              <a:rPr lang="en-US" sz="1200" dirty="0">
                <a:latin typeface="Calibri" panose="020F0502020204030204" pitchFamily="34" charset="0"/>
                <a:ea typeface="Calibri" panose="020F0502020204030204" pitchFamily="34" charset="0"/>
                <a:cs typeface="Calibri" panose="020F0502020204030204" pitchFamily="34" charset="0"/>
              </a:rPr>
            </a:br>
            <a:r>
              <a:rPr lang="en-US" sz="1200" dirty="0">
                <a:latin typeface="Calibri" panose="020F0502020204030204" pitchFamily="34" charset="0"/>
                <a:ea typeface="Calibri" panose="020F0502020204030204" pitchFamily="34" charset="0"/>
                <a:cs typeface="Calibri" panose="020F0502020204030204" pitchFamily="34" charset="0"/>
              </a:rPr>
              <a:t>The most common causes of delays were identified, helping prioritize which operational issues need immediate attention.</a:t>
            </a:r>
          </a:p>
        </p:txBody>
      </p:sp>
    </p:spTree>
    <p:extLst>
      <p:ext uri="{BB962C8B-B14F-4D97-AF65-F5344CB8AC3E}">
        <p14:creationId xmlns:p14="http://schemas.microsoft.com/office/powerpoint/2010/main" val="88673128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CF7D0"/>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882E00E-6BE5-479A-8F5A-347E268CEA9F}"/>
              </a:ext>
            </a:extLst>
          </p:cNvPr>
          <p:cNvSpPr>
            <a:spLocks noGrp="1"/>
          </p:cNvSpPr>
          <p:nvPr>
            <p:ph type="body" idx="1"/>
          </p:nvPr>
        </p:nvSpPr>
        <p:spPr>
          <a:xfrm>
            <a:off x="104775" y="177749"/>
            <a:ext cx="8613225" cy="3946575"/>
          </a:xfrm>
        </p:spPr>
        <p:txBody>
          <a:bodyPr/>
          <a:lstStyle/>
          <a:p>
            <a:r>
              <a:rPr lang="en-US" sz="1400" b="1" dirty="0">
                <a:latin typeface="Calibri" panose="020F0502020204030204" pitchFamily="34" charset="0"/>
                <a:ea typeface="Calibri" panose="020F0502020204030204" pitchFamily="34" charset="0"/>
                <a:cs typeface="Calibri" panose="020F0502020204030204" pitchFamily="34" charset="0"/>
              </a:rPr>
              <a:t>Identify orders with exceptionally high delay (&gt;120 hours) to investigate potential bottlenecks.</a:t>
            </a:r>
          </a:p>
          <a:p>
            <a:pPr marL="127000" indent="0">
              <a:buNone/>
            </a:pPr>
            <a:endParaRPr lang="en-US" sz="1200" dirty="0">
              <a:latin typeface="Calibri" panose="020F0502020204030204" pitchFamily="34" charset="0"/>
              <a:ea typeface="Calibri" panose="020F0502020204030204" pitchFamily="34" charset="0"/>
              <a:cs typeface="Calibri" panose="020F0502020204030204" pitchFamily="34" charset="0"/>
            </a:endParaRPr>
          </a:p>
          <a:p>
            <a:pPr marL="127000" indent="0">
              <a:buNone/>
            </a:pPr>
            <a:r>
              <a:rPr lang="en-US" sz="1100" dirty="0">
                <a:solidFill>
                  <a:schemeClr val="accent1"/>
                </a:solidFill>
                <a:latin typeface="Calibri" panose="020F0502020204030204" pitchFamily="34" charset="0"/>
                <a:ea typeface="Calibri" panose="020F0502020204030204" pitchFamily="34" charset="0"/>
                <a:cs typeface="Calibri" panose="020F0502020204030204" pitchFamily="34" charset="0"/>
              </a:rPr>
              <a:t>SELECT</a:t>
            </a:r>
          </a:p>
          <a:p>
            <a:pPr marL="127000" indent="0">
              <a:buNone/>
            </a:pPr>
            <a:r>
              <a:rPr lang="en-US" sz="1100" dirty="0">
                <a:solidFill>
                  <a:schemeClr val="accent1"/>
                </a:solidFill>
                <a:latin typeface="Calibri" panose="020F0502020204030204" pitchFamily="34" charset="0"/>
                <a:ea typeface="Calibri" panose="020F0502020204030204" pitchFamily="34" charset="0"/>
                <a:cs typeface="Calibri" panose="020F0502020204030204" pitchFamily="34" charset="0"/>
              </a:rPr>
              <a:t>    </a:t>
            </a:r>
            <a:r>
              <a:rPr lang="en-US" sz="1100" dirty="0" err="1">
                <a:solidFill>
                  <a:schemeClr val="accent1"/>
                </a:solidFill>
                <a:latin typeface="Calibri" panose="020F0502020204030204" pitchFamily="34" charset="0"/>
                <a:ea typeface="Calibri" panose="020F0502020204030204" pitchFamily="34" charset="0"/>
                <a:cs typeface="Calibri" panose="020F0502020204030204" pitchFamily="34" charset="0"/>
              </a:rPr>
              <a:t>Shipment_ID</a:t>
            </a:r>
            <a:r>
              <a:rPr lang="en-US" sz="1100" dirty="0">
                <a:solidFill>
                  <a:schemeClr val="accent1"/>
                </a:solidFill>
                <a:latin typeface="Calibri" panose="020F0502020204030204" pitchFamily="34" charset="0"/>
                <a:ea typeface="Calibri" panose="020F0502020204030204" pitchFamily="34" charset="0"/>
                <a:cs typeface="Calibri" panose="020F0502020204030204" pitchFamily="34" charset="0"/>
              </a:rPr>
              <a:t>,</a:t>
            </a:r>
          </a:p>
          <a:p>
            <a:pPr marL="127000" indent="0">
              <a:buNone/>
            </a:pPr>
            <a:r>
              <a:rPr lang="en-US" sz="1100" dirty="0">
                <a:solidFill>
                  <a:schemeClr val="accent1"/>
                </a:solidFill>
                <a:latin typeface="Calibri" panose="020F0502020204030204" pitchFamily="34" charset="0"/>
                <a:ea typeface="Calibri" panose="020F0502020204030204" pitchFamily="34" charset="0"/>
                <a:cs typeface="Calibri" panose="020F0502020204030204" pitchFamily="34" charset="0"/>
              </a:rPr>
              <a:t>    </a:t>
            </a:r>
            <a:r>
              <a:rPr lang="en-US" sz="1100" dirty="0" err="1">
                <a:solidFill>
                  <a:schemeClr val="accent1"/>
                </a:solidFill>
                <a:latin typeface="Calibri" panose="020F0502020204030204" pitchFamily="34" charset="0"/>
                <a:ea typeface="Calibri" panose="020F0502020204030204" pitchFamily="34" charset="0"/>
                <a:cs typeface="Calibri" panose="020F0502020204030204" pitchFamily="34" charset="0"/>
              </a:rPr>
              <a:t>Route_ID</a:t>
            </a:r>
            <a:r>
              <a:rPr lang="en-US" sz="1100" dirty="0">
                <a:solidFill>
                  <a:schemeClr val="accent1"/>
                </a:solidFill>
                <a:latin typeface="Calibri" panose="020F0502020204030204" pitchFamily="34" charset="0"/>
                <a:ea typeface="Calibri" panose="020F0502020204030204" pitchFamily="34" charset="0"/>
                <a:cs typeface="Calibri" panose="020F0502020204030204" pitchFamily="34" charset="0"/>
              </a:rPr>
              <a:t>,</a:t>
            </a:r>
          </a:p>
          <a:p>
            <a:pPr marL="127000" indent="0">
              <a:buNone/>
            </a:pPr>
            <a:r>
              <a:rPr lang="en-US" sz="1100" dirty="0">
                <a:solidFill>
                  <a:schemeClr val="accent1"/>
                </a:solidFill>
                <a:latin typeface="Calibri" panose="020F0502020204030204" pitchFamily="34" charset="0"/>
                <a:ea typeface="Calibri" panose="020F0502020204030204" pitchFamily="34" charset="0"/>
                <a:cs typeface="Calibri" panose="020F0502020204030204" pitchFamily="34" charset="0"/>
              </a:rPr>
              <a:t>    </a:t>
            </a:r>
            <a:r>
              <a:rPr lang="en-US" sz="1100" dirty="0" err="1">
                <a:solidFill>
                  <a:schemeClr val="accent1"/>
                </a:solidFill>
                <a:latin typeface="Calibri" panose="020F0502020204030204" pitchFamily="34" charset="0"/>
                <a:ea typeface="Calibri" panose="020F0502020204030204" pitchFamily="34" charset="0"/>
                <a:cs typeface="Calibri" panose="020F0502020204030204" pitchFamily="34" charset="0"/>
              </a:rPr>
              <a:t>Pickup_Date</a:t>
            </a:r>
            <a:r>
              <a:rPr lang="en-US" sz="1100" dirty="0">
                <a:solidFill>
                  <a:schemeClr val="accent1"/>
                </a:solidFill>
                <a:latin typeface="Calibri" panose="020F0502020204030204" pitchFamily="34" charset="0"/>
                <a:ea typeface="Calibri" panose="020F0502020204030204" pitchFamily="34" charset="0"/>
                <a:cs typeface="Calibri" panose="020F0502020204030204" pitchFamily="34" charset="0"/>
              </a:rPr>
              <a:t>,</a:t>
            </a:r>
          </a:p>
          <a:p>
            <a:pPr marL="127000" indent="0">
              <a:buNone/>
            </a:pPr>
            <a:r>
              <a:rPr lang="en-US" sz="1100" dirty="0">
                <a:solidFill>
                  <a:schemeClr val="accent1"/>
                </a:solidFill>
                <a:latin typeface="Calibri" panose="020F0502020204030204" pitchFamily="34" charset="0"/>
                <a:ea typeface="Calibri" panose="020F0502020204030204" pitchFamily="34" charset="0"/>
                <a:cs typeface="Calibri" panose="020F0502020204030204" pitchFamily="34" charset="0"/>
              </a:rPr>
              <a:t>    </a:t>
            </a:r>
            <a:r>
              <a:rPr lang="en-US" sz="1100" dirty="0" err="1">
                <a:solidFill>
                  <a:schemeClr val="accent1"/>
                </a:solidFill>
                <a:latin typeface="Calibri" panose="020F0502020204030204" pitchFamily="34" charset="0"/>
                <a:ea typeface="Calibri" panose="020F0502020204030204" pitchFamily="34" charset="0"/>
                <a:cs typeface="Calibri" panose="020F0502020204030204" pitchFamily="34" charset="0"/>
              </a:rPr>
              <a:t>Delivery_Date</a:t>
            </a:r>
            <a:r>
              <a:rPr lang="en-US" sz="1100" dirty="0">
                <a:solidFill>
                  <a:schemeClr val="accent1"/>
                </a:solidFill>
                <a:latin typeface="Calibri" panose="020F0502020204030204" pitchFamily="34" charset="0"/>
                <a:ea typeface="Calibri" panose="020F0502020204030204" pitchFamily="34" charset="0"/>
                <a:cs typeface="Calibri" panose="020F0502020204030204" pitchFamily="34" charset="0"/>
              </a:rPr>
              <a:t>,</a:t>
            </a:r>
          </a:p>
          <a:p>
            <a:pPr marL="127000" indent="0">
              <a:buNone/>
            </a:pPr>
            <a:r>
              <a:rPr lang="en-US" sz="1100" dirty="0">
                <a:solidFill>
                  <a:schemeClr val="accent1"/>
                </a:solidFill>
                <a:latin typeface="Calibri" panose="020F0502020204030204" pitchFamily="34" charset="0"/>
                <a:ea typeface="Calibri" panose="020F0502020204030204" pitchFamily="34" charset="0"/>
                <a:cs typeface="Calibri" panose="020F0502020204030204" pitchFamily="34" charset="0"/>
              </a:rPr>
              <a:t>    TIMESTAMPDIFF(HOUR, </a:t>
            </a:r>
            <a:r>
              <a:rPr lang="en-US" sz="1100" dirty="0" err="1">
                <a:solidFill>
                  <a:schemeClr val="accent1"/>
                </a:solidFill>
                <a:latin typeface="Calibri" panose="020F0502020204030204" pitchFamily="34" charset="0"/>
                <a:ea typeface="Calibri" panose="020F0502020204030204" pitchFamily="34" charset="0"/>
                <a:cs typeface="Calibri" panose="020F0502020204030204" pitchFamily="34" charset="0"/>
              </a:rPr>
              <a:t>Pickup_Date</a:t>
            </a:r>
            <a:r>
              <a:rPr lang="en-US" sz="1100" dirty="0">
                <a:solidFill>
                  <a:schemeClr val="accent1"/>
                </a:solidFill>
                <a:latin typeface="Calibri" panose="020F0502020204030204" pitchFamily="34" charset="0"/>
                <a:ea typeface="Calibri" panose="020F0502020204030204" pitchFamily="34" charset="0"/>
                <a:cs typeface="Calibri" panose="020F0502020204030204" pitchFamily="34" charset="0"/>
              </a:rPr>
              <a:t>, </a:t>
            </a:r>
            <a:r>
              <a:rPr lang="en-US" sz="1100" dirty="0" err="1">
                <a:solidFill>
                  <a:schemeClr val="accent1"/>
                </a:solidFill>
                <a:latin typeface="Calibri" panose="020F0502020204030204" pitchFamily="34" charset="0"/>
                <a:ea typeface="Calibri" panose="020F0502020204030204" pitchFamily="34" charset="0"/>
                <a:cs typeface="Calibri" panose="020F0502020204030204" pitchFamily="34" charset="0"/>
              </a:rPr>
              <a:t>Delivery_Date</a:t>
            </a:r>
            <a:r>
              <a:rPr lang="en-US" sz="1100" dirty="0">
                <a:solidFill>
                  <a:schemeClr val="accent1"/>
                </a:solidFill>
                <a:latin typeface="Calibri" panose="020F0502020204030204" pitchFamily="34" charset="0"/>
                <a:ea typeface="Calibri" panose="020F0502020204030204" pitchFamily="34" charset="0"/>
                <a:cs typeface="Calibri" panose="020F0502020204030204" pitchFamily="34" charset="0"/>
              </a:rPr>
              <a:t>) AS </a:t>
            </a:r>
            <a:r>
              <a:rPr lang="en-US" sz="1100" dirty="0" err="1">
                <a:solidFill>
                  <a:schemeClr val="accent1"/>
                </a:solidFill>
                <a:latin typeface="Calibri" panose="020F0502020204030204" pitchFamily="34" charset="0"/>
                <a:ea typeface="Calibri" panose="020F0502020204030204" pitchFamily="34" charset="0"/>
                <a:cs typeface="Calibri" panose="020F0502020204030204" pitchFamily="34" charset="0"/>
              </a:rPr>
              <a:t>Delay_Hours</a:t>
            </a:r>
            <a:endParaRPr lang="en-US" sz="1100" dirty="0">
              <a:solidFill>
                <a:schemeClr val="accent1"/>
              </a:solidFill>
              <a:latin typeface="Calibri" panose="020F0502020204030204" pitchFamily="34" charset="0"/>
              <a:ea typeface="Calibri" panose="020F0502020204030204" pitchFamily="34" charset="0"/>
              <a:cs typeface="Calibri" panose="020F0502020204030204" pitchFamily="34" charset="0"/>
            </a:endParaRPr>
          </a:p>
          <a:p>
            <a:pPr marL="127000" indent="0">
              <a:buNone/>
            </a:pPr>
            <a:r>
              <a:rPr lang="en-US" sz="1100" dirty="0">
                <a:solidFill>
                  <a:schemeClr val="accent1"/>
                </a:solidFill>
                <a:latin typeface="Calibri" panose="020F0502020204030204" pitchFamily="34" charset="0"/>
                <a:ea typeface="Calibri" panose="020F0502020204030204" pitchFamily="34" charset="0"/>
                <a:cs typeface="Calibri" panose="020F0502020204030204" pitchFamily="34" charset="0"/>
              </a:rPr>
              <a:t>FROM Shipments</a:t>
            </a:r>
          </a:p>
          <a:p>
            <a:pPr marL="127000" indent="0">
              <a:buNone/>
            </a:pPr>
            <a:r>
              <a:rPr lang="en-US" sz="1100" dirty="0">
                <a:solidFill>
                  <a:schemeClr val="accent1"/>
                </a:solidFill>
                <a:latin typeface="Calibri" panose="020F0502020204030204" pitchFamily="34" charset="0"/>
                <a:ea typeface="Calibri" panose="020F0502020204030204" pitchFamily="34" charset="0"/>
                <a:cs typeface="Calibri" panose="020F0502020204030204" pitchFamily="34" charset="0"/>
              </a:rPr>
              <a:t>WHERE TIMESTAMPDIFF(HOUR, </a:t>
            </a:r>
            <a:r>
              <a:rPr lang="en-US" sz="1100" dirty="0" err="1">
                <a:solidFill>
                  <a:schemeClr val="accent1"/>
                </a:solidFill>
                <a:latin typeface="Calibri" panose="020F0502020204030204" pitchFamily="34" charset="0"/>
                <a:ea typeface="Calibri" panose="020F0502020204030204" pitchFamily="34" charset="0"/>
                <a:cs typeface="Calibri" panose="020F0502020204030204" pitchFamily="34" charset="0"/>
              </a:rPr>
              <a:t>Pickup_Date</a:t>
            </a:r>
            <a:r>
              <a:rPr lang="en-US" sz="1100" dirty="0">
                <a:solidFill>
                  <a:schemeClr val="accent1"/>
                </a:solidFill>
                <a:latin typeface="Calibri" panose="020F0502020204030204" pitchFamily="34" charset="0"/>
                <a:ea typeface="Calibri" panose="020F0502020204030204" pitchFamily="34" charset="0"/>
                <a:cs typeface="Calibri" panose="020F0502020204030204" pitchFamily="34" charset="0"/>
              </a:rPr>
              <a:t>, </a:t>
            </a:r>
            <a:r>
              <a:rPr lang="en-US" sz="1100" dirty="0" err="1">
                <a:solidFill>
                  <a:schemeClr val="accent1"/>
                </a:solidFill>
                <a:latin typeface="Calibri" panose="020F0502020204030204" pitchFamily="34" charset="0"/>
                <a:ea typeface="Calibri" panose="020F0502020204030204" pitchFamily="34" charset="0"/>
                <a:cs typeface="Calibri" panose="020F0502020204030204" pitchFamily="34" charset="0"/>
              </a:rPr>
              <a:t>Delivery_Date</a:t>
            </a:r>
            <a:r>
              <a:rPr lang="en-US" sz="1100" dirty="0">
                <a:solidFill>
                  <a:schemeClr val="accent1"/>
                </a:solidFill>
                <a:latin typeface="Calibri" panose="020F0502020204030204" pitchFamily="34" charset="0"/>
                <a:ea typeface="Calibri" panose="020F0502020204030204" pitchFamily="34" charset="0"/>
                <a:cs typeface="Calibri" panose="020F0502020204030204" pitchFamily="34" charset="0"/>
              </a:rPr>
              <a:t>) &gt; 120;</a:t>
            </a:r>
          </a:p>
          <a:p>
            <a:pPr marL="127000" indent="0">
              <a:buNone/>
            </a:pPr>
            <a:endParaRPr lang="en-US" sz="1100" dirty="0">
              <a:latin typeface="Calibri" panose="020F0502020204030204" pitchFamily="34" charset="0"/>
              <a:ea typeface="Calibri" panose="020F0502020204030204" pitchFamily="34" charset="0"/>
              <a:cs typeface="Calibri" panose="020F0502020204030204" pitchFamily="34" charset="0"/>
            </a:endParaRPr>
          </a:p>
          <a:p>
            <a:pPr marL="127000" indent="0">
              <a:buNone/>
            </a:pPr>
            <a:endParaRPr lang="en-US" sz="1100" dirty="0">
              <a:latin typeface="Calibri" panose="020F0502020204030204" pitchFamily="34" charset="0"/>
              <a:ea typeface="Calibri" panose="020F0502020204030204" pitchFamily="34" charset="0"/>
              <a:cs typeface="Calibri" panose="020F0502020204030204" pitchFamily="34" charset="0"/>
            </a:endParaRPr>
          </a:p>
          <a:p>
            <a:pPr marL="127000" indent="0">
              <a:buNone/>
            </a:pPr>
            <a:r>
              <a:rPr lang="en-US" sz="1200" b="1" u="sng" dirty="0">
                <a:latin typeface="Calibri" panose="020F0502020204030204" pitchFamily="34" charset="0"/>
                <a:ea typeface="Calibri" panose="020F0502020204030204" pitchFamily="34" charset="0"/>
                <a:cs typeface="Calibri" panose="020F0502020204030204" pitchFamily="34" charset="0"/>
              </a:rPr>
              <a:t>What was calculated:</a:t>
            </a:r>
            <a:br>
              <a:rPr lang="en-US" sz="1200" dirty="0">
                <a:latin typeface="Calibri" panose="020F0502020204030204" pitchFamily="34" charset="0"/>
                <a:ea typeface="Calibri" panose="020F0502020204030204" pitchFamily="34" charset="0"/>
                <a:cs typeface="Calibri" panose="020F0502020204030204" pitchFamily="34" charset="0"/>
              </a:rPr>
            </a:br>
            <a:r>
              <a:rPr lang="en-US" sz="1200" dirty="0">
                <a:latin typeface="Calibri" panose="020F0502020204030204" pitchFamily="34" charset="0"/>
                <a:ea typeface="Calibri" panose="020F0502020204030204" pitchFamily="34" charset="0"/>
                <a:cs typeface="Calibri" panose="020F0502020204030204" pitchFamily="34" charset="0"/>
              </a:rPr>
              <a:t>Total delivery delay in hours and filtered for</a:t>
            </a:r>
          </a:p>
          <a:p>
            <a:pPr marL="127000" indent="0">
              <a:buNone/>
            </a:pPr>
            <a:r>
              <a:rPr lang="en-US" sz="1200" dirty="0">
                <a:latin typeface="Calibri" panose="020F0502020204030204" pitchFamily="34" charset="0"/>
                <a:ea typeface="Calibri" panose="020F0502020204030204" pitchFamily="34" charset="0"/>
                <a:cs typeface="Calibri" panose="020F0502020204030204" pitchFamily="34" charset="0"/>
              </a:rPr>
              <a:t> shipments delayed more than 120 hours.</a:t>
            </a:r>
          </a:p>
          <a:p>
            <a:pPr marL="127000" indent="0">
              <a:buNone/>
            </a:pPr>
            <a:endParaRPr lang="en-US" sz="1200" dirty="0">
              <a:latin typeface="Calibri" panose="020F0502020204030204" pitchFamily="34" charset="0"/>
              <a:ea typeface="Calibri" panose="020F0502020204030204" pitchFamily="34" charset="0"/>
              <a:cs typeface="Calibri" panose="020F0502020204030204" pitchFamily="34" charset="0"/>
            </a:endParaRPr>
          </a:p>
          <a:p>
            <a:pPr marL="127000" indent="0">
              <a:buNone/>
            </a:pPr>
            <a:r>
              <a:rPr lang="en-US" sz="1200" b="1" u="sng" dirty="0">
                <a:latin typeface="Calibri" panose="020F0502020204030204" pitchFamily="34" charset="0"/>
                <a:ea typeface="Calibri" panose="020F0502020204030204" pitchFamily="34" charset="0"/>
                <a:cs typeface="Calibri" panose="020F0502020204030204" pitchFamily="34" charset="0"/>
              </a:rPr>
              <a:t>What we got:</a:t>
            </a:r>
            <a:br>
              <a:rPr lang="en-US" sz="1200" dirty="0">
                <a:latin typeface="Calibri" panose="020F0502020204030204" pitchFamily="34" charset="0"/>
                <a:ea typeface="Calibri" panose="020F0502020204030204" pitchFamily="34" charset="0"/>
                <a:cs typeface="Calibri" panose="020F0502020204030204" pitchFamily="34" charset="0"/>
              </a:rPr>
            </a:br>
            <a:r>
              <a:rPr lang="en-US" sz="1200" dirty="0">
                <a:latin typeface="Calibri" panose="020F0502020204030204" pitchFamily="34" charset="0"/>
                <a:ea typeface="Calibri" panose="020F0502020204030204" pitchFamily="34" charset="0"/>
                <a:cs typeface="Calibri" panose="020F0502020204030204" pitchFamily="34" charset="0"/>
              </a:rPr>
              <a:t>Severely delayed shipments were flagged,</a:t>
            </a:r>
          </a:p>
          <a:p>
            <a:pPr marL="127000" indent="0">
              <a:buNone/>
            </a:pPr>
            <a:r>
              <a:rPr lang="en-US" sz="1200" dirty="0">
                <a:latin typeface="Calibri" panose="020F0502020204030204" pitchFamily="34" charset="0"/>
                <a:ea typeface="Calibri" panose="020F0502020204030204" pitchFamily="34" charset="0"/>
                <a:cs typeface="Calibri" panose="020F0502020204030204" pitchFamily="34" charset="0"/>
              </a:rPr>
              <a:t> indicating potential bottlenecks, escalation cases, or operational failures.</a:t>
            </a:r>
          </a:p>
          <a:p>
            <a:pPr marL="127000" indent="0">
              <a:buNone/>
            </a:pPr>
            <a:endParaRPr lang="en-US" sz="1100" dirty="0">
              <a:latin typeface="Calibri" panose="020F0502020204030204" pitchFamily="34" charset="0"/>
              <a:ea typeface="Calibri" panose="020F0502020204030204" pitchFamily="34" charset="0"/>
              <a:cs typeface="Calibri" panose="020F0502020204030204" pitchFamily="34" charset="0"/>
            </a:endParaRPr>
          </a:p>
        </p:txBody>
      </p:sp>
      <p:pic>
        <p:nvPicPr>
          <p:cNvPr id="5" name="Picture 4">
            <a:extLst>
              <a:ext uri="{FF2B5EF4-FFF2-40B4-BE49-F238E27FC236}">
                <a16:creationId xmlns:a16="http://schemas.microsoft.com/office/drawing/2014/main" id="{519ED36B-88AB-4A01-A8A8-FD47C591B629}"/>
              </a:ext>
            </a:extLst>
          </p:cNvPr>
          <p:cNvPicPr>
            <a:picLocks noChangeAspect="1"/>
          </p:cNvPicPr>
          <p:nvPr/>
        </p:nvPicPr>
        <p:blipFill>
          <a:blip r:embed="rId2"/>
          <a:stretch>
            <a:fillRect/>
          </a:stretch>
        </p:blipFill>
        <p:spPr>
          <a:xfrm>
            <a:off x="4688925" y="1019176"/>
            <a:ext cx="4029075" cy="2055819"/>
          </a:xfrm>
          <a:prstGeom prst="rect">
            <a:avLst/>
          </a:prstGeom>
        </p:spPr>
      </p:pic>
    </p:spTree>
    <p:extLst>
      <p:ext uri="{BB962C8B-B14F-4D97-AF65-F5344CB8AC3E}">
        <p14:creationId xmlns:p14="http://schemas.microsoft.com/office/powerpoint/2010/main" val="253233167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EFA7D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6858ED-3B3A-4145-92F1-7773F334C8DD}"/>
              </a:ext>
            </a:extLst>
          </p:cNvPr>
          <p:cNvSpPr>
            <a:spLocks noGrp="1"/>
          </p:cNvSpPr>
          <p:nvPr>
            <p:ph type="title"/>
          </p:nvPr>
        </p:nvSpPr>
        <p:spPr>
          <a:xfrm>
            <a:off x="311700" y="288275"/>
            <a:ext cx="8520600" cy="572700"/>
          </a:xfrm>
        </p:spPr>
        <p:txBody>
          <a:bodyPr/>
          <a:lstStyle/>
          <a:p>
            <a:r>
              <a:rPr lang="en-US" sz="3200" dirty="0">
                <a:latin typeface="Calibri" panose="020F0502020204030204" pitchFamily="34" charset="0"/>
                <a:ea typeface="Calibri" panose="020F0502020204030204" pitchFamily="34" charset="0"/>
                <a:cs typeface="Calibri" panose="020F0502020204030204" pitchFamily="34" charset="0"/>
              </a:rPr>
              <a:t>Task 7: Advanced KPI Reporting</a:t>
            </a:r>
          </a:p>
        </p:txBody>
      </p:sp>
      <p:sp>
        <p:nvSpPr>
          <p:cNvPr id="3" name="Text Placeholder 2">
            <a:extLst>
              <a:ext uri="{FF2B5EF4-FFF2-40B4-BE49-F238E27FC236}">
                <a16:creationId xmlns:a16="http://schemas.microsoft.com/office/drawing/2014/main" id="{5A65E5D9-634F-4FA7-B37A-E46696EDD7B2}"/>
              </a:ext>
            </a:extLst>
          </p:cNvPr>
          <p:cNvSpPr>
            <a:spLocks noGrp="1"/>
          </p:cNvSpPr>
          <p:nvPr>
            <p:ph type="body" idx="1"/>
          </p:nvPr>
        </p:nvSpPr>
        <p:spPr>
          <a:xfrm>
            <a:off x="225974" y="860975"/>
            <a:ext cx="8453925" cy="4282525"/>
          </a:xfrm>
        </p:spPr>
        <p:txBody>
          <a:bodyPr/>
          <a:lstStyle/>
          <a:p>
            <a:r>
              <a:rPr lang="en-US" sz="1400" b="1" dirty="0">
                <a:latin typeface="Calibri" panose="020F0502020204030204" pitchFamily="34" charset="0"/>
                <a:ea typeface="Calibri" panose="020F0502020204030204" pitchFamily="34" charset="0"/>
                <a:cs typeface="Calibri" panose="020F0502020204030204" pitchFamily="34" charset="0"/>
              </a:rPr>
              <a:t>Objective</a:t>
            </a:r>
          </a:p>
          <a:p>
            <a:pPr>
              <a:buFont typeface="Arial" panose="020B0604020202020204" pitchFamily="34" charset="0"/>
              <a:buChar char="•"/>
            </a:pPr>
            <a:r>
              <a:rPr lang="en-US" sz="1200" dirty="0">
                <a:latin typeface="Calibri" panose="020F0502020204030204" pitchFamily="34" charset="0"/>
                <a:ea typeface="Calibri" panose="020F0502020204030204" pitchFamily="34" charset="0"/>
                <a:cs typeface="Calibri" panose="020F0502020204030204" pitchFamily="34" charset="0"/>
              </a:rPr>
              <a:t>Summarize key logistics performance indicators across the network</a:t>
            </a:r>
          </a:p>
          <a:p>
            <a:pPr>
              <a:buFont typeface="Arial" panose="020B0604020202020204" pitchFamily="34" charset="0"/>
              <a:buChar char="•"/>
            </a:pPr>
            <a:r>
              <a:rPr lang="en-US" sz="1200" dirty="0">
                <a:latin typeface="Calibri" panose="020F0502020204030204" pitchFamily="34" charset="0"/>
                <a:ea typeface="Calibri" panose="020F0502020204030204" pitchFamily="34" charset="0"/>
                <a:cs typeface="Calibri" panose="020F0502020204030204" pitchFamily="34" charset="0"/>
              </a:rPr>
              <a:t>Measure delivery reliability, delay patterns, and warehouse capacity usage</a:t>
            </a:r>
          </a:p>
          <a:p>
            <a:pPr>
              <a:buFont typeface="Arial" panose="020B0604020202020204" pitchFamily="34" charset="0"/>
              <a:buChar char="•"/>
            </a:pPr>
            <a:r>
              <a:rPr lang="en-US" sz="1200" dirty="0">
                <a:latin typeface="Calibri" panose="020F0502020204030204" pitchFamily="34" charset="0"/>
                <a:ea typeface="Calibri" panose="020F0502020204030204" pitchFamily="34" charset="0"/>
                <a:cs typeface="Calibri" panose="020F0502020204030204" pitchFamily="34" charset="0"/>
              </a:rPr>
              <a:t>Provide high-level KPIs to support strategic decision-making.</a:t>
            </a:r>
          </a:p>
          <a:p>
            <a:pPr marL="127000" indent="0">
              <a:buNone/>
            </a:pPr>
            <a:endParaRPr lang="en-US" sz="1200" dirty="0">
              <a:latin typeface="Calibri" panose="020F0502020204030204" pitchFamily="34" charset="0"/>
              <a:ea typeface="Calibri" panose="020F0502020204030204" pitchFamily="34" charset="0"/>
              <a:cs typeface="Calibri" panose="020F0502020204030204" pitchFamily="34" charset="0"/>
            </a:endParaRPr>
          </a:p>
          <a:p>
            <a:pPr marL="127000" indent="0">
              <a:buNone/>
            </a:pPr>
            <a:r>
              <a:rPr lang="en-US" sz="1400" b="1" u="sng" dirty="0">
                <a:latin typeface="Calibri" panose="020F0502020204030204" pitchFamily="34" charset="0"/>
                <a:ea typeface="Calibri" panose="020F0502020204030204" pitchFamily="34" charset="0"/>
                <a:cs typeface="Calibri" panose="020F0502020204030204" pitchFamily="34" charset="0"/>
              </a:rPr>
              <a:t>TASKS: </a:t>
            </a:r>
          </a:p>
          <a:p>
            <a:r>
              <a:rPr lang="en-US" sz="1400" dirty="0">
                <a:latin typeface="Calibri" panose="020F0502020204030204" pitchFamily="34" charset="0"/>
                <a:ea typeface="Calibri" panose="020F0502020204030204" pitchFamily="34" charset="0"/>
                <a:cs typeface="Calibri" panose="020F0502020204030204" pitchFamily="34" charset="0"/>
              </a:rPr>
              <a:t>Average Delivery Delay per </a:t>
            </a:r>
            <a:r>
              <a:rPr lang="en-US" sz="1400" dirty="0" err="1">
                <a:latin typeface="Calibri" panose="020F0502020204030204" pitchFamily="34" charset="0"/>
                <a:ea typeface="Calibri" panose="020F0502020204030204" pitchFamily="34" charset="0"/>
                <a:cs typeface="Calibri" panose="020F0502020204030204" pitchFamily="34" charset="0"/>
              </a:rPr>
              <a:t>Source_Country</a:t>
            </a:r>
            <a:r>
              <a:rPr lang="en-US" sz="1400" dirty="0">
                <a:latin typeface="Calibri" panose="020F0502020204030204" pitchFamily="34" charset="0"/>
                <a:ea typeface="Calibri" panose="020F0502020204030204" pitchFamily="34" charset="0"/>
                <a:cs typeface="Calibri" panose="020F0502020204030204" pitchFamily="34" charset="0"/>
              </a:rPr>
              <a:t>.</a:t>
            </a:r>
          </a:p>
          <a:p>
            <a:endParaRPr lang="en-US" sz="1200" dirty="0">
              <a:latin typeface="Calibri" panose="020F0502020204030204" pitchFamily="34" charset="0"/>
              <a:ea typeface="Calibri" panose="020F0502020204030204" pitchFamily="34" charset="0"/>
              <a:cs typeface="Calibri" panose="020F0502020204030204" pitchFamily="34" charset="0"/>
            </a:endParaRPr>
          </a:p>
          <a:p>
            <a:pPr marL="127000" indent="0">
              <a:buNone/>
            </a:pPr>
            <a:r>
              <a:rPr lang="en-US" sz="1200" dirty="0">
                <a:solidFill>
                  <a:srgbClr val="C00000"/>
                </a:solidFill>
                <a:latin typeface="Calibri" panose="020F0502020204030204" pitchFamily="34" charset="0"/>
                <a:ea typeface="Calibri" panose="020F0502020204030204" pitchFamily="34" charset="0"/>
                <a:cs typeface="Calibri" panose="020F0502020204030204" pitchFamily="34" charset="0"/>
              </a:rPr>
              <a:t>SELECT</a:t>
            </a:r>
          </a:p>
          <a:p>
            <a:pPr marL="127000" indent="0">
              <a:buNone/>
            </a:pPr>
            <a:r>
              <a:rPr lang="en-US" sz="1200" dirty="0">
                <a:solidFill>
                  <a:srgbClr val="C00000"/>
                </a:solidFill>
                <a:latin typeface="Calibri" panose="020F0502020204030204" pitchFamily="34" charset="0"/>
                <a:ea typeface="Calibri" panose="020F0502020204030204" pitchFamily="34" charset="0"/>
                <a:cs typeface="Calibri" panose="020F0502020204030204" pitchFamily="34" charset="0"/>
              </a:rPr>
              <a:t>    </a:t>
            </a:r>
            <a:r>
              <a:rPr lang="en-US" sz="1200" dirty="0" err="1">
                <a:solidFill>
                  <a:srgbClr val="C00000"/>
                </a:solidFill>
                <a:latin typeface="Calibri" panose="020F0502020204030204" pitchFamily="34" charset="0"/>
                <a:ea typeface="Calibri" panose="020F0502020204030204" pitchFamily="34" charset="0"/>
                <a:cs typeface="Calibri" panose="020F0502020204030204" pitchFamily="34" charset="0"/>
              </a:rPr>
              <a:t>r.Source_Country</a:t>
            </a:r>
            <a:r>
              <a:rPr lang="en-US" sz="1200" dirty="0">
                <a:solidFill>
                  <a:srgbClr val="C00000"/>
                </a:solidFill>
                <a:latin typeface="Calibri" panose="020F0502020204030204" pitchFamily="34" charset="0"/>
                <a:ea typeface="Calibri" panose="020F0502020204030204" pitchFamily="34" charset="0"/>
                <a:cs typeface="Calibri" panose="020F0502020204030204" pitchFamily="34" charset="0"/>
              </a:rPr>
              <a:t>,</a:t>
            </a:r>
          </a:p>
          <a:p>
            <a:pPr marL="127000" indent="0">
              <a:buNone/>
            </a:pPr>
            <a:r>
              <a:rPr lang="en-US" sz="1200" dirty="0">
                <a:solidFill>
                  <a:srgbClr val="C00000"/>
                </a:solidFill>
                <a:latin typeface="Calibri" panose="020F0502020204030204" pitchFamily="34" charset="0"/>
                <a:ea typeface="Calibri" panose="020F0502020204030204" pitchFamily="34" charset="0"/>
                <a:cs typeface="Calibri" panose="020F0502020204030204" pitchFamily="34" charset="0"/>
              </a:rPr>
              <a:t>    ROUND(AVG(</a:t>
            </a:r>
            <a:r>
              <a:rPr lang="en-US" sz="1200" dirty="0" err="1">
                <a:solidFill>
                  <a:srgbClr val="C00000"/>
                </a:solidFill>
                <a:latin typeface="Calibri" panose="020F0502020204030204" pitchFamily="34" charset="0"/>
                <a:ea typeface="Calibri" panose="020F0502020204030204" pitchFamily="34" charset="0"/>
                <a:cs typeface="Calibri" panose="020F0502020204030204" pitchFamily="34" charset="0"/>
              </a:rPr>
              <a:t>s.Delay_Hours</a:t>
            </a:r>
            <a:r>
              <a:rPr lang="en-US" sz="1200" dirty="0">
                <a:solidFill>
                  <a:srgbClr val="C00000"/>
                </a:solidFill>
                <a:latin typeface="Calibri" panose="020F0502020204030204" pitchFamily="34" charset="0"/>
                <a:ea typeface="Calibri" panose="020F0502020204030204" pitchFamily="34" charset="0"/>
                <a:cs typeface="Calibri" panose="020F0502020204030204" pitchFamily="34" charset="0"/>
              </a:rPr>
              <a:t>), 2) AS </a:t>
            </a:r>
            <a:r>
              <a:rPr lang="en-US" sz="1200" dirty="0" err="1">
                <a:solidFill>
                  <a:srgbClr val="C00000"/>
                </a:solidFill>
                <a:latin typeface="Calibri" panose="020F0502020204030204" pitchFamily="34" charset="0"/>
                <a:ea typeface="Calibri" panose="020F0502020204030204" pitchFamily="34" charset="0"/>
                <a:cs typeface="Calibri" panose="020F0502020204030204" pitchFamily="34" charset="0"/>
              </a:rPr>
              <a:t>Avg_Delivery_Delay_Hours</a:t>
            </a:r>
            <a:endParaRPr lang="en-US" sz="1200" dirty="0">
              <a:solidFill>
                <a:srgbClr val="C00000"/>
              </a:solidFill>
              <a:latin typeface="Calibri" panose="020F0502020204030204" pitchFamily="34" charset="0"/>
              <a:ea typeface="Calibri" panose="020F0502020204030204" pitchFamily="34" charset="0"/>
              <a:cs typeface="Calibri" panose="020F0502020204030204" pitchFamily="34" charset="0"/>
            </a:endParaRPr>
          </a:p>
          <a:p>
            <a:pPr marL="127000" indent="0">
              <a:buNone/>
            </a:pPr>
            <a:r>
              <a:rPr lang="en-US" sz="1200" dirty="0">
                <a:solidFill>
                  <a:srgbClr val="C00000"/>
                </a:solidFill>
                <a:latin typeface="Calibri" panose="020F0502020204030204" pitchFamily="34" charset="0"/>
                <a:ea typeface="Calibri" panose="020F0502020204030204" pitchFamily="34" charset="0"/>
                <a:cs typeface="Calibri" panose="020F0502020204030204" pitchFamily="34" charset="0"/>
              </a:rPr>
              <a:t>FROM Shipments s</a:t>
            </a:r>
          </a:p>
          <a:p>
            <a:pPr marL="127000" indent="0">
              <a:buNone/>
            </a:pPr>
            <a:r>
              <a:rPr lang="en-US" sz="1200" dirty="0">
                <a:solidFill>
                  <a:srgbClr val="C00000"/>
                </a:solidFill>
                <a:latin typeface="Calibri" panose="020F0502020204030204" pitchFamily="34" charset="0"/>
                <a:ea typeface="Calibri" panose="020F0502020204030204" pitchFamily="34" charset="0"/>
                <a:cs typeface="Calibri" panose="020F0502020204030204" pitchFamily="34" charset="0"/>
              </a:rPr>
              <a:t>JOIN Routes r</a:t>
            </a:r>
          </a:p>
          <a:p>
            <a:pPr marL="127000" indent="0">
              <a:buNone/>
            </a:pPr>
            <a:r>
              <a:rPr lang="en-US" sz="1200" dirty="0">
                <a:solidFill>
                  <a:srgbClr val="C00000"/>
                </a:solidFill>
                <a:latin typeface="Calibri" panose="020F0502020204030204" pitchFamily="34" charset="0"/>
                <a:ea typeface="Calibri" panose="020F0502020204030204" pitchFamily="34" charset="0"/>
                <a:cs typeface="Calibri" panose="020F0502020204030204" pitchFamily="34" charset="0"/>
              </a:rPr>
              <a:t>    ON </a:t>
            </a:r>
            <a:r>
              <a:rPr lang="en-US" sz="1200" dirty="0" err="1">
                <a:solidFill>
                  <a:srgbClr val="C00000"/>
                </a:solidFill>
                <a:latin typeface="Calibri" panose="020F0502020204030204" pitchFamily="34" charset="0"/>
                <a:ea typeface="Calibri" panose="020F0502020204030204" pitchFamily="34" charset="0"/>
                <a:cs typeface="Calibri" panose="020F0502020204030204" pitchFamily="34" charset="0"/>
              </a:rPr>
              <a:t>s.Route_ID</a:t>
            </a:r>
            <a:r>
              <a:rPr lang="en-US" sz="1200" dirty="0">
                <a:solidFill>
                  <a:srgbClr val="C00000"/>
                </a:solidFill>
                <a:latin typeface="Calibri" panose="020F0502020204030204" pitchFamily="34" charset="0"/>
                <a:ea typeface="Calibri" panose="020F0502020204030204" pitchFamily="34" charset="0"/>
                <a:cs typeface="Calibri" panose="020F0502020204030204" pitchFamily="34" charset="0"/>
              </a:rPr>
              <a:t> = </a:t>
            </a:r>
            <a:r>
              <a:rPr lang="en-US" sz="1200" dirty="0" err="1">
                <a:solidFill>
                  <a:srgbClr val="C00000"/>
                </a:solidFill>
                <a:latin typeface="Calibri" panose="020F0502020204030204" pitchFamily="34" charset="0"/>
                <a:ea typeface="Calibri" panose="020F0502020204030204" pitchFamily="34" charset="0"/>
                <a:cs typeface="Calibri" panose="020F0502020204030204" pitchFamily="34" charset="0"/>
              </a:rPr>
              <a:t>r.Route_ID</a:t>
            </a:r>
            <a:endParaRPr lang="en-US" sz="1200" dirty="0">
              <a:solidFill>
                <a:srgbClr val="C00000"/>
              </a:solidFill>
              <a:latin typeface="Calibri" panose="020F0502020204030204" pitchFamily="34" charset="0"/>
              <a:ea typeface="Calibri" panose="020F0502020204030204" pitchFamily="34" charset="0"/>
              <a:cs typeface="Calibri" panose="020F0502020204030204" pitchFamily="34" charset="0"/>
            </a:endParaRPr>
          </a:p>
          <a:p>
            <a:pPr marL="127000" indent="0">
              <a:buNone/>
            </a:pPr>
            <a:r>
              <a:rPr lang="en-US" sz="1200" dirty="0">
                <a:solidFill>
                  <a:srgbClr val="C00000"/>
                </a:solidFill>
                <a:latin typeface="Calibri" panose="020F0502020204030204" pitchFamily="34" charset="0"/>
                <a:ea typeface="Calibri" panose="020F0502020204030204" pitchFamily="34" charset="0"/>
                <a:cs typeface="Calibri" panose="020F0502020204030204" pitchFamily="34" charset="0"/>
              </a:rPr>
              <a:t>GROUP BY </a:t>
            </a:r>
            <a:r>
              <a:rPr lang="en-US" sz="1200" dirty="0" err="1">
                <a:solidFill>
                  <a:srgbClr val="C00000"/>
                </a:solidFill>
                <a:latin typeface="Calibri" panose="020F0502020204030204" pitchFamily="34" charset="0"/>
                <a:ea typeface="Calibri" panose="020F0502020204030204" pitchFamily="34" charset="0"/>
                <a:cs typeface="Calibri" panose="020F0502020204030204" pitchFamily="34" charset="0"/>
              </a:rPr>
              <a:t>r.Source_Country</a:t>
            </a:r>
            <a:r>
              <a:rPr lang="en-US" sz="1200" dirty="0">
                <a:solidFill>
                  <a:srgbClr val="C00000"/>
                </a:solidFill>
                <a:latin typeface="Calibri" panose="020F0502020204030204" pitchFamily="34" charset="0"/>
                <a:ea typeface="Calibri" panose="020F0502020204030204" pitchFamily="34" charset="0"/>
                <a:cs typeface="Calibri" panose="020F0502020204030204" pitchFamily="34" charset="0"/>
              </a:rPr>
              <a:t>;</a:t>
            </a:r>
          </a:p>
          <a:p>
            <a:pPr marL="127000" indent="0">
              <a:buNone/>
            </a:pPr>
            <a:endParaRPr lang="en-US" sz="1200" dirty="0">
              <a:latin typeface="Calibri" panose="020F0502020204030204" pitchFamily="34" charset="0"/>
              <a:ea typeface="Calibri" panose="020F0502020204030204" pitchFamily="34" charset="0"/>
              <a:cs typeface="Calibri" panose="020F0502020204030204" pitchFamily="34" charset="0"/>
            </a:endParaRPr>
          </a:p>
          <a:p>
            <a:pPr marL="127000" indent="0">
              <a:buNone/>
            </a:pPr>
            <a:endParaRPr lang="en-US" sz="1200" dirty="0">
              <a:latin typeface="Calibri" panose="020F0502020204030204" pitchFamily="34" charset="0"/>
              <a:ea typeface="Calibri" panose="020F0502020204030204" pitchFamily="34" charset="0"/>
              <a:cs typeface="Calibri" panose="020F0502020204030204" pitchFamily="34" charset="0"/>
            </a:endParaRPr>
          </a:p>
          <a:p>
            <a:pPr marL="127000" indent="0">
              <a:buNone/>
            </a:pPr>
            <a:r>
              <a:rPr lang="en-US" sz="1200" b="1" u="sng" dirty="0">
                <a:latin typeface="Calibri" panose="020F0502020204030204" pitchFamily="34" charset="0"/>
                <a:ea typeface="Calibri" panose="020F0502020204030204" pitchFamily="34" charset="0"/>
                <a:cs typeface="Calibri" panose="020F0502020204030204" pitchFamily="34" charset="0"/>
              </a:rPr>
              <a:t>What was calculated:</a:t>
            </a:r>
            <a:br>
              <a:rPr lang="en-US" sz="1200" dirty="0">
                <a:latin typeface="Calibri" panose="020F0502020204030204" pitchFamily="34" charset="0"/>
                <a:ea typeface="Calibri" panose="020F0502020204030204" pitchFamily="34" charset="0"/>
                <a:cs typeface="Calibri" panose="020F0502020204030204" pitchFamily="34" charset="0"/>
              </a:rPr>
            </a:br>
            <a:r>
              <a:rPr lang="en-US" sz="1200" dirty="0">
                <a:latin typeface="Calibri" panose="020F0502020204030204" pitchFamily="34" charset="0"/>
                <a:ea typeface="Calibri" panose="020F0502020204030204" pitchFamily="34" charset="0"/>
                <a:cs typeface="Calibri" panose="020F0502020204030204" pitchFamily="34" charset="0"/>
              </a:rPr>
              <a:t>The average delivery delay (in hours) for shipments originating from each source country.</a:t>
            </a:r>
          </a:p>
          <a:p>
            <a:pPr marL="127000" indent="0">
              <a:buNone/>
            </a:pPr>
            <a:endParaRPr lang="en-US" sz="1200" dirty="0">
              <a:latin typeface="Calibri" panose="020F0502020204030204" pitchFamily="34" charset="0"/>
              <a:ea typeface="Calibri" panose="020F0502020204030204" pitchFamily="34" charset="0"/>
              <a:cs typeface="Calibri" panose="020F0502020204030204" pitchFamily="34" charset="0"/>
            </a:endParaRPr>
          </a:p>
          <a:p>
            <a:pPr marL="127000" indent="0">
              <a:buNone/>
            </a:pPr>
            <a:r>
              <a:rPr lang="en-US" sz="1200" b="1" u="sng" dirty="0">
                <a:latin typeface="Calibri" panose="020F0502020204030204" pitchFamily="34" charset="0"/>
                <a:ea typeface="Calibri" panose="020F0502020204030204" pitchFamily="34" charset="0"/>
                <a:cs typeface="Calibri" panose="020F0502020204030204" pitchFamily="34" charset="0"/>
              </a:rPr>
              <a:t>What we got:</a:t>
            </a:r>
            <a:br>
              <a:rPr lang="en-US" sz="1200" dirty="0">
                <a:latin typeface="Calibri" panose="020F0502020204030204" pitchFamily="34" charset="0"/>
                <a:ea typeface="Calibri" panose="020F0502020204030204" pitchFamily="34" charset="0"/>
                <a:cs typeface="Calibri" panose="020F0502020204030204" pitchFamily="34" charset="0"/>
              </a:rPr>
            </a:br>
            <a:r>
              <a:rPr lang="en-US" sz="1200" dirty="0">
                <a:latin typeface="Calibri" panose="020F0502020204030204" pitchFamily="34" charset="0"/>
                <a:ea typeface="Calibri" panose="020F0502020204030204" pitchFamily="34" charset="0"/>
                <a:cs typeface="Calibri" panose="020F0502020204030204" pitchFamily="34" charset="0"/>
              </a:rPr>
              <a:t>Countries with higher average delays were identified, helping compare cross-border performance and regional efficiency.</a:t>
            </a:r>
          </a:p>
          <a:p>
            <a:pPr marL="127000" indent="0">
              <a:buNone/>
            </a:pPr>
            <a:endParaRPr lang="en-US" dirty="0"/>
          </a:p>
        </p:txBody>
      </p:sp>
      <p:pic>
        <p:nvPicPr>
          <p:cNvPr id="5" name="Picture 4">
            <a:extLst>
              <a:ext uri="{FF2B5EF4-FFF2-40B4-BE49-F238E27FC236}">
                <a16:creationId xmlns:a16="http://schemas.microsoft.com/office/drawing/2014/main" id="{661025CA-6E4A-45D4-A9C7-A53BE4491DA9}"/>
              </a:ext>
            </a:extLst>
          </p:cNvPr>
          <p:cNvPicPr>
            <a:picLocks noChangeAspect="1"/>
          </p:cNvPicPr>
          <p:nvPr/>
        </p:nvPicPr>
        <p:blipFill>
          <a:blip r:embed="rId2"/>
          <a:stretch>
            <a:fillRect/>
          </a:stretch>
        </p:blipFill>
        <p:spPr>
          <a:xfrm>
            <a:off x="5962469" y="1814373"/>
            <a:ext cx="2591162" cy="1991003"/>
          </a:xfrm>
          <a:prstGeom prst="rect">
            <a:avLst/>
          </a:prstGeom>
        </p:spPr>
      </p:pic>
    </p:spTree>
    <p:extLst>
      <p:ext uri="{BB962C8B-B14F-4D97-AF65-F5344CB8AC3E}">
        <p14:creationId xmlns:p14="http://schemas.microsoft.com/office/powerpoint/2010/main" val="177832580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EFA7DA"/>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5A65E5D9-634F-4FA7-B37A-E46696EDD7B2}"/>
              </a:ext>
            </a:extLst>
          </p:cNvPr>
          <p:cNvSpPr>
            <a:spLocks noGrp="1"/>
          </p:cNvSpPr>
          <p:nvPr>
            <p:ph type="body" idx="1"/>
          </p:nvPr>
        </p:nvSpPr>
        <p:spPr>
          <a:xfrm>
            <a:off x="238125" y="180924"/>
            <a:ext cx="8413199" cy="4648251"/>
          </a:xfrm>
        </p:spPr>
        <p:txBody>
          <a:bodyPr/>
          <a:lstStyle/>
          <a:p>
            <a:r>
              <a:rPr lang="en-US" sz="1400" b="1" dirty="0">
                <a:latin typeface="Calibri" panose="020F0502020204030204" pitchFamily="34" charset="0"/>
                <a:ea typeface="Calibri" panose="020F0502020204030204" pitchFamily="34" charset="0"/>
                <a:cs typeface="Calibri" panose="020F0502020204030204" pitchFamily="34" charset="0"/>
              </a:rPr>
              <a:t>On-Time Delivery % = (Total On-Time Deliveries / Total Deliveries) * 100. </a:t>
            </a:r>
          </a:p>
          <a:p>
            <a:pPr marL="127000" indent="0">
              <a:buNone/>
            </a:pPr>
            <a:endParaRPr lang="en-US" sz="1400" b="1" dirty="0">
              <a:latin typeface="Calibri" panose="020F0502020204030204" pitchFamily="34" charset="0"/>
              <a:ea typeface="Calibri" panose="020F0502020204030204" pitchFamily="34" charset="0"/>
              <a:cs typeface="Calibri" panose="020F0502020204030204" pitchFamily="34" charset="0"/>
            </a:endParaRPr>
          </a:p>
          <a:p>
            <a:pPr marL="127000" indent="0">
              <a:buNone/>
            </a:pPr>
            <a:r>
              <a:rPr lang="en-US" sz="1200" dirty="0">
                <a:solidFill>
                  <a:srgbClr val="C00000"/>
                </a:solidFill>
                <a:latin typeface="Calibri" panose="020F0502020204030204" pitchFamily="34" charset="0"/>
                <a:ea typeface="Calibri" panose="020F0502020204030204" pitchFamily="34" charset="0"/>
                <a:cs typeface="Calibri" panose="020F0502020204030204" pitchFamily="34" charset="0"/>
              </a:rPr>
              <a:t>SELECT</a:t>
            </a:r>
          </a:p>
          <a:p>
            <a:pPr marL="127000" indent="0">
              <a:buNone/>
            </a:pPr>
            <a:r>
              <a:rPr lang="en-US" sz="1200" dirty="0">
                <a:solidFill>
                  <a:srgbClr val="C00000"/>
                </a:solidFill>
                <a:latin typeface="Calibri" panose="020F0502020204030204" pitchFamily="34" charset="0"/>
                <a:ea typeface="Calibri" panose="020F0502020204030204" pitchFamily="34" charset="0"/>
                <a:cs typeface="Calibri" panose="020F0502020204030204" pitchFamily="34" charset="0"/>
              </a:rPr>
              <a:t>    ROUND(</a:t>
            </a:r>
          </a:p>
          <a:p>
            <a:pPr marL="127000" indent="0">
              <a:buNone/>
            </a:pPr>
            <a:r>
              <a:rPr lang="en-US" sz="1200" dirty="0">
                <a:solidFill>
                  <a:srgbClr val="C00000"/>
                </a:solidFill>
                <a:latin typeface="Calibri" panose="020F0502020204030204" pitchFamily="34" charset="0"/>
                <a:ea typeface="Calibri" panose="020F0502020204030204" pitchFamily="34" charset="0"/>
                <a:cs typeface="Calibri" panose="020F0502020204030204" pitchFamily="34" charset="0"/>
              </a:rPr>
              <a:t>        100 * AVG(</a:t>
            </a:r>
          </a:p>
          <a:p>
            <a:pPr marL="127000" indent="0">
              <a:buNone/>
            </a:pPr>
            <a:r>
              <a:rPr lang="en-US" sz="1200" dirty="0">
                <a:solidFill>
                  <a:srgbClr val="C00000"/>
                </a:solidFill>
                <a:latin typeface="Calibri" panose="020F0502020204030204" pitchFamily="34" charset="0"/>
                <a:ea typeface="Calibri" panose="020F0502020204030204" pitchFamily="34" charset="0"/>
                <a:cs typeface="Calibri" panose="020F0502020204030204" pitchFamily="34" charset="0"/>
              </a:rPr>
              <a:t>            CASE</a:t>
            </a:r>
          </a:p>
          <a:p>
            <a:pPr marL="127000" indent="0">
              <a:buNone/>
            </a:pPr>
            <a:r>
              <a:rPr lang="en-US" sz="1200" dirty="0">
                <a:solidFill>
                  <a:srgbClr val="C00000"/>
                </a:solidFill>
                <a:latin typeface="Calibri" panose="020F0502020204030204" pitchFamily="34" charset="0"/>
                <a:ea typeface="Calibri" panose="020F0502020204030204" pitchFamily="34" charset="0"/>
                <a:cs typeface="Calibri" panose="020F0502020204030204" pitchFamily="34" charset="0"/>
              </a:rPr>
              <a:t>                WHEN TIMESTAMPDIFF(HOUR, </a:t>
            </a:r>
            <a:r>
              <a:rPr lang="en-US" sz="1200" dirty="0" err="1">
                <a:solidFill>
                  <a:srgbClr val="C00000"/>
                </a:solidFill>
                <a:latin typeface="Calibri" panose="020F0502020204030204" pitchFamily="34" charset="0"/>
                <a:ea typeface="Calibri" panose="020F0502020204030204" pitchFamily="34" charset="0"/>
                <a:cs typeface="Calibri" panose="020F0502020204030204" pitchFamily="34" charset="0"/>
              </a:rPr>
              <a:t>s.Pickup_Date</a:t>
            </a:r>
            <a:r>
              <a:rPr lang="en-US" sz="1200" dirty="0">
                <a:solidFill>
                  <a:srgbClr val="C00000"/>
                </a:solidFill>
                <a:latin typeface="Calibri" panose="020F0502020204030204" pitchFamily="34" charset="0"/>
                <a:ea typeface="Calibri" panose="020F0502020204030204" pitchFamily="34" charset="0"/>
                <a:cs typeface="Calibri" panose="020F0502020204030204" pitchFamily="34" charset="0"/>
              </a:rPr>
              <a:t>, </a:t>
            </a:r>
            <a:r>
              <a:rPr lang="en-US" sz="1200" dirty="0" err="1">
                <a:solidFill>
                  <a:srgbClr val="C00000"/>
                </a:solidFill>
                <a:latin typeface="Calibri" panose="020F0502020204030204" pitchFamily="34" charset="0"/>
                <a:ea typeface="Calibri" panose="020F0502020204030204" pitchFamily="34" charset="0"/>
                <a:cs typeface="Calibri" panose="020F0502020204030204" pitchFamily="34" charset="0"/>
              </a:rPr>
              <a:t>s.Delivery_Date</a:t>
            </a:r>
            <a:r>
              <a:rPr lang="en-US" sz="1200" dirty="0">
                <a:solidFill>
                  <a:srgbClr val="C00000"/>
                </a:solidFill>
                <a:latin typeface="Calibri" panose="020F0502020204030204" pitchFamily="34" charset="0"/>
                <a:ea typeface="Calibri" panose="020F0502020204030204" pitchFamily="34" charset="0"/>
                <a:cs typeface="Calibri" panose="020F0502020204030204" pitchFamily="34" charset="0"/>
              </a:rPr>
              <a:t>)</a:t>
            </a:r>
          </a:p>
          <a:p>
            <a:pPr marL="127000" indent="0">
              <a:buNone/>
            </a:pPr>
            <a:r>
              <a:rPr lang="en-US" sz="1200" dirty="0">
                <a:solidFill>
                  <a:srgbClr val="C00000"/>
                </a:solidFill>
                <a:latin typeface="Calibri" panose="020F0502020204030204" pitchFamily="34" charset="0"/>
                <a:ea typeface="Calibri" panose="020F0502020204030204" pitchFamily="34" charset="0"/>
                <a:cs typeface="Calibri" panose="020F0502020204030204" pitchFamily="34" charset="0"/>
              </a:rPr>
              <a:t>                     &lt;= </a:t>
            </a:r>
            <a:r>
              <a:rPr lang="en-US" sz="1200" dirty="0" err="1">
                <a:solidFill>
                  <a:srgbClr val="C00000"/>
                </a:solidFill>
                <a:latin typeface="Calibri" panose="020F0502020204030204" pitchFamily="34" charset="0"/>
                <a:ea typeface="Calibri" panose="020F0502020204030204" pitchFamily="34" charset="0"/>
                <a:cs typeface="Calibri" panose="020F0502020204030204" pitchFamily="34" charset="0"/>
              </a:rPr>
              <a:t>r.Avg_Transit_Time_Hours</a:t>
            </a:r>
            <a:endParaRPr lang="en-US" sz="1200" dirty="0">
              <a:solidFill>
                <a:srgbClr val="C00000"/>
              </a:solidFill>
              <a:latin typeface="Calibri" panose="020F0502020204030204" pitchFamily="34" charset="0"/>
              <a:ea typeface="Calibri" panose="020F0502020204030204" pitchFamily="34" charset="0"/>
              <a:cs typeface="Calibri" panose="020F0502020204030204" pitchFamily="34" charset="0"/>
            </a:endParaRPr>
          </a:p>
          <a:p>
            <a:pPr marL="127000" indent="0">
              <a:buNone/>
            </a:pPr>
            <a:r>
              <a:rPr lang="en-US" sz="1200" dirty="0">
                <a:solidFill>
                  <a:srgbClr val="C00000"/>
                </a:solidFill>
                <a:latin typeface="Calibri" panose="020F0502020204030204" pitchFamily="34" charset="0"/>
                <a:ea typeface="Calibri" panose="020F0502020204030204" pitchFamily="34" charset="0"/>
                <a:cs typeface="Calibri" panose="020F0502020204030204" pitchFamily="34" charset="0"/>
              </a:rPr>
              <a:t>                THEN 1</a:t>
            </a:r>
          </a:p>
          <a:p>
            <a:pPr marL="127000" indent="0">
              <a:buNone/>
            </a:pPr>
            <a:r>
              <a:rPr lang="en-US" sz="1200" dirty="0">
                <a:solidFill>
                  <a:srgbClr val="C00000"/>
                </a:solidFill>
                <a:latin typeface="Calibri" panose="020F0502020204030204" pitchFamily="34" charset="0"/>
                <a:ea typeface="Calibri" panose="020F0502020204030204" pitchFamily="34" charset="0"/>
                <a:cs typeface="Calibri" panose="020F0502020204030204" pitchFamily="34" charset="0"/>
              </a:rPr>
              <a:t>                ELSE 0</a:t>
            </a:r>
          </a:p>
          <a:p>
            <a:pPr marL="127000" indent="0">
              <a:buNone/>
            </a:pPr>
            <a:r>
              <a:rPr lang="en-US" sz="1200" dirty="0">
                <a:solidFill>
                  <a:srgbClr val="C00000"/>
                </a:solidFill>
                <a:latin typeface="Calibri" panose="020F0502020204030204" pitchFamily="34" charset="0"/>
                <a:ea typeface="Calibri" panose="020F0502020204030204" pitchFamily="34" charset="0"/>
                <a:cs typeface="Calibri" panose="020F0502020204030204" pitchFamily="34" charset="0"/>
              </a:rPr>
              <a:t>            END</a:t>
            </a:r>
          </a:p>
          <a:p>
            <a:pPr marL="127000" indent="0">
              <a:buNone/>
            </a:pPr>
            <a:r>
              <a:rPr lang="en-US" sz="1200" dirty="0">
                <a:solidFill>
                  <a:srgbClr val="C00000"/>
                </a:solidFill>
                <a:latin typeface="Calibri" panose="020F0502020204030204" pitchFamily="34" charset="0"/>
                <a:ea typeface="Calibri" panose="020F0502020204030204" pitchFamily="34" charset="0"/>
                <a:cs typeface="Calibri" panose="020F0502020204030204" pitchFamily="34" charset="0"/>
              </a:rPr>
              <a:t>        ),</a:t>
            </a:r>
          </a:p>
          <a:p>
            <a:pPr marL="127000" indent="0">
              <a:buNone/>
            </a:pPr>
            <a:r>
              <a:rPr lang="en-US" sz="1200" dirty="0">
                <a:solidFill>
                  <a:srgbClr val="C00000"/>
                </a:solidFill>
                <a:latin typeface="Calibri" panose="020F0502020204030204" pitchFamily="34" charset="0"/>
                <a:ea typeface="Calibri" panose="020F0502020204030204" pitchFamily="34" charset="0"/>
                <a:cs typeface="Calibri" panose="020F0502020204030204" pitchFamily="34" charset="0"/>
              </a:rPr>
              <a:t>        2</a:t>
            </a:r>
          </a:p>
          <a:p>
            <a:pPr marL="127000" indent="0">
              <a:buNone/>
            </a:pPr>
            <a:r>
              <a:rPr lang="en-US" sz="1200" dirty="0">
                <a:solidFill>
                  <a:srgbClr val="C00000"/>
                </a:solidFill>
                <a:latin typeface="Calibri" panose="020F0502020204030204" pitchFamily="34" charset="0"/>
                <a:ea typeface="Calibri" panose="020F0502020204030204" pitchFamily="34" charset="0"/>
                <a:cs typeface="Calibri" panose="020F0502020204030204" pitchFamily="34" charset="0"/>
              </a:rPr>
              <a:t>    ) AS </a:t>
            </a:r>
            <a:r>
              <a:rPr lang="en-US" sz="1200" dirty="0" err="1">
                <a:solidFill>
                  <a:srgbClr val="C00000"/>
                </a:solidFill>
                <a:latin typeface="Calibri" panose="020F0502020204030204" pitchFamily="34" charset="0"/>
                <a:ea typeface="Calibri" panose="020F0502020204030204" pitchFamily="34" charset="0"/>
                <a:cs typeface="Calibri" panose="020F0502020204030204" pitchFamily="34" charset="0"/>
              </a:rPr>
              <a:t>On_Time_Delivery_Percentage</a:t>
            </a:r>
            <a:endParaRPr lang="en-US" sz="1200" dirty="0">
              <a:solidFill>
                <a:srgbClr val="C00000"/>
              </a:solidFill>
              <a:latin typeface="Calibri" panose="020F0502020204030204" pitchFamily="34" charset="0"/>
              <a:ea typeface="Calibri" panose="020F0502020204030204" pitchFamily="34" charset="0"/>
              <a:cs typeface="Calibri" panose="020F0502020204030204" pitchFamily="34" charset="0"/>
            </a:endParaRPr>
          </a:p>
          <a:p>
            <a:pPr marL="127000" indent="0">
              <a:buNone/>
            </a:pPr>
            <a:r>
              <a:rPr lang="en-US" sz="1200" dirty="0">
                <a:solidFill>
                  <a:srgbClr val="C00000"/>
                </a:solidFill>
                <a:latin typeface="Calibri" panose="020F0502020204030204" pitchFamily="34" charset="0"/>
                <a:ea typeface="Calibri" panose="020F0502020204030204" pitchFamily="34" charset="0"/>
                <a:cs typeface="Calibri" panose="020F0502020204030204" pitchFamily="34" charset="0"/>
              </a:rPr>
              <a:t>FROM Shipments s</a:t>
            </a:r>
          </a:p>
          <a:p>
            <a:pPr marL="127000" indent="0">
              <a:buNone/>
            </a:pPr>
            <a:r>
              <a:rPr lang="en-US" sz="1200" dirty="0">
                <a:solidFill>
                  <a:srgbClr val="C00000"/>
                </a:solidFill>
                <a:latin typeface="Calibri" panose="020F0502020204030204" pitchFamily="34" charset="0"/>
                <a:ea typeface="Calibri" panose="020F0502020204030204" pitchFamily="34" charset="0"/>
                <a:cs typeface="Calibri" panose="020F0502020204030204" pitchFamily="34" charset="0"/>
              </a:rPr>
              <a:t>JOIN Routes r</a:t>
            </a:r>
          </a:p>
          <a:p>
            <a:pPr marL="127000" indent="0">
              <a:buNone/>
            </a:pPr>
            <a:r>
              <a:rPr lang="en-US" sz="1200" dirty="0">
                <a:solidFill>
                  <a:srgbClr val="C00000"/>
                </a:solidFill>
                <a:latin typeface="Calibri" panose="020F0502020204030204" pitchFamily="34" charset="0"/>
                <a:ea typeface="Calibri" panose="020F0502020204030204" pitchFamily="34" charset="0"/>
                <a:cs typeface="Calibri" panose="020F0502020204030204" pitchFamily="34" charset="0"/>
              </a:rPr>
              <a:t>    ON </a:t>
            </a:r>
            <a:r>
              <a:rPr lang="en-US" sz="1200" dirty="0" err="1">
                <a:solidFill>
                  <a:srgbClr val="C00000"/>
                </a:solidFill>
                <a:latin typeface="Calibri" panose="020F0502020204030204" pitchFamily="34" charset="0"/>
                <a:ea typeface="Calibri" panose="020F0502020204030204" pitchFamily="34" charset="0"/>
                <a:cs typeface="Calibri" panose="020F0502020204030204" pitchFamily="34" charset="0"/>
              </a:rPr>
              <a:t>s.Route_ID</a:t>
            </a:r>
            <a:r>
              <a:rPr lang="en-US" sz="1200" dirty="0">
                <a:solidFill>
                  <a:srgbClr val="C00000"/>
                </a:solidFill>
                <a:latin typeface="Calibri" panose="020F0502020204030204" pitchFamily="34" charset="0"/>
                <a:ea typeface="Calibri" panose="020F0502020204030204" pitchFamily="34" charset="0"/>
                <a:cs typeface="Calibri" panose="020F0502020204030204" pitchFamily="34" charset="0"/>
              </a:rPr>
              <a:t> = </a:t>
            </a:r>
            <a:r>
              <a:rPr lang="en-US" sz="1200" dirty="0" err="1">
                <a:solidFill>
                  <a:srgbClr val="C00000"/>
                </a:solidFill>
                <a:latin typeface="Calibri" panose="020F0502020204030204" pitchFamily="34" charset="0"/>
                <a:ea typeface="Calibri" panose="020F0502020204030204" pitchFamily="34" charset="0"/>
                <a:cs typeface="Calibri" panose="020F0502020204030204" pitchFamily="34" charset="0"/>
              </a:rPr>
              <a:t>r.Route_ID</a:t>
            </a:r>
            <a:r>
              <a:rPr lang="en-US" sz="1200" dirty="0">
                <a:solidFill>
                  <a:srgbClr val="C00000"/>
                </a:solidFill>
                <a:latin typeface="Calibri" panose="020F0502020204030204" pitchFamily="34" charset="0"/>
                <a:ea typeface="Calibri" panose="020F0502020204030204" pitchFamily="34" charset="0"/>
                <a:cs typeface="Calibri" panose="020F0502020204030204" pitchFamily="34" charset="0"/>
              </a:rPr>
              <a:t>;</a:t>
            </a:r>
          </a:p>
          <a:p>
            <a:pPr marL="127000" indent="0">
              <a:buNone/>
            </a:pPr>
            <a:endParaRPr lang="en-US" sz="1200" dirty="0">
              <a:latin typeface="Calibri" panose="020F0502020204030204" pitchFamily="34" charset="0"/>
              <a:ea typeface="Calibri" panose="020F0502020204030204" pitchFamily="34" charset="0"/>
              <a:cs typeface="Calibri" panose="020F0502020204030204" pitchFamily="34" charset="0"/>
            </a:endParaRPr>
          </a:p>
          <a:p>
            <a:pPr marL="127000" indent="0">
              <a:buNone/>
            </a:pPr>
            <a:endParaRPr lang="en-US" sz="1200" dirty="0">
              <a:latin typeface="Calibri" panose="020F0502020204030204" pitchFamily="34" charset="0"/>
              <a:ea typeface="Calibri" panose="020F0502020204030204" pitchFamily="34" charset="0"/>
              <a:cs typeface="Calibri" panose="020F0502020204030204" pitchFamily="34" charset="0"/>
            </a:endParaRPr>
          </a:p>
          <a:p>
            <a:pPr marL="127000" indent="0">
              <a:buNone/>
            </a:pPr>
            <a:endParaRPr lang="en-US" sz="1200" b="1" u="sng" dirty="0">
              <a:latin typeface="Calibri" panose="020F0502020204030204" pitchFamily="34" charset="0"/>
              <a:ea typeface="Calibri" panose="020F0502020204030204" pitchFamily="34" charset="0"/>
              <a:cs typeface="Calibri" panose="020F0502020204030204" pitchFamily="34" charset="0"/>
            </a:endParaRPr>
          </a:p>
          <a:p>
            <a:pPr marL="127000" indent="0">
              <a:buNone/>
            </a:pPr>
            <a:r>
              <a:rPr lang="en-US" sz="1200" b="1" u="sng" dirty="0">
                <a:latin typeface="Calibri" panose="020F0502020204030204" pitchFamily="34" charset="0"/>
                <a:ea typeface="Calibri" panose="020F0502020204030204" pitchFamily="34" charset="0"/>
                <a:cs typeface="Calibri" panose="020F0502020204030204" pitchFamily="34" charset="0"/>
              </a:rPr>
              <a:t>What was calculated:</a:t>
            </a:r>
            <a:br>
              <a:rPr lang="en-US" sz="1200" dirty="0">
                <a:latin typeface="Calibri" panose="020F0502020204030204" pitchFamily="34" charset="0"/>
                <a:ea typeface="Calibri" panose="020F0502020204030204" pitchFamily="34" charset="0"/>
                <a:cs typeface="Calibri" panose="020F0502020204030204" pitchFamily="34" charset="0"/>
              </a:rPr>
            </a:br>
            <a:r>
              <a:rPr lang="en-US" sz="1200" dirty="0">
                <a:latin typeface="Calibri" panose="020F0502020204030204" pitchFamily="34" charset="0"/>
                <a:ea typeface="Calibri" panose="020F0502020204030204" pitchFamily="34" charset="0"/>
                <a:cs typeface="Calibri" panose="020F0502020204030204" pitchFamily="34" charset="0"/>
              </a:rPr>
              <a:t>The percentage of shipments delivered on or before the expected transit time.</a:t>
            </a:r>
          </a:p>
          <a:p>
            <a:pPr marL="127000" indent="0">
              <a:buNone/>
            </a:pPr>
            <a:endParaRPr lang="en-US" sz="1200" dirty="0">
              <a:latin typeface="Calibri" panose="020F0502020204030204" pitchFamily="34" charset="0"/>
              <a:ea typeface="Calibri" panose="020F0502020204030204" pitchFamily="34" charset="0"/>
              <a:cs typeface="Calibri" panose="020F0502020204030204" pitchFamily="34" charset="0"/>
            </a:endParaRPr>
          </a:p>
          <a:p>
            <a:pPr marL="127000" indent="0">
              <a:buNone/>
            </a:pPr>
            <a:r>
              <a:rPr lang="en-US" sz="1200" b="1" u="sng" dirty="0">
                <a:latin typeface="Calibri" panose="020F0502020204030204" pitchFamily="34" charset="0"/>
                <a:ea typeface="Calibri" panose="020F0502020204030204" pitchFamily="34" charset="0"/>
                <a:cs typeface="Calibri" panose="020F0502020204030204" pitchFamily="34" charset="0"/>
              </a:rPr>
              <a:t>What we got:</a:t>
            </a:r>
            <a:br>
              <a:rPr lang="en-US" sz="1200" dirty="0">
                <a:latin typeface="Calibri" panose="020F0502020204030204" pitchFamily="34" charset="0"/>
                <a:ea typeface="Calibri" panose="020F0502020204030204" pitchFamily="34" charset="0"/>
                <a:cs typeface="Calibri" panose="020F0502020204030204" pitchFamily="34" charset="0"/>
              </a:rPr>
            </a:br>
            <a:r>
              <a:rPr lang="en-US" sz="1200" dirty="0">
                <a:latin typeface="Calibri" panose="020F0502020204030204" pitchFamily="34" charset="0"/>
                <a:ea typeface="Calibri" panose="020F0502020204030204" pitchFamily="34" charset="0"/>
                <a:cs typeface="Calibri" panose="020F0502020204030204" pitchFamily="34" charset="0"/>
              </a:rPr>
              <a:t>A single KPI showing overall delivery reliability across the network.</a:t>
            </a:r>
          </a:p>
          <a:p>
            <a:pPr marL="127000" indent="0">
              <a:buNone/>
            </a:pPr>
            <a:endParaRPr lang="en-US" dirty="0"/>
          </a:p>
        </p:txBody>
      </p:sp>
      <p:pic>
        <p:nvPicPr>
          <p:cNvPr id="8" name="Picture 7">
            <a:extLst>
              <a:ext uri="{FF2B5EF4-FFF2-40B4-BE49-F238E27FC236}">
                <a16:creationId xmlns:a16="http://schemas.microsoft.com/office/drawing/2014/main" id="{3B31A510-08E7-4D94-9D7B-B4F70265BEDA}"/>
              </a:ext>
            </a:extLst>
          </p:cNvPr>
          <p:cNvPicPr>
            <a:picLocks noChangeAspect="1"/>
          </p:cNvPicPr>
          <p:nvPr/>
        </p:nvPicPr>
        <p:blipFill>
          <a:blip r:embed="rId2"/>
          <a:stretch>
            <a:fillRect/>
          </a:stretch>
        </p:blipFill>
        <p:spPr>
          <a:xfrm>
            <a:off x="4886175" y="2181154"/>
            <a:ext cx="2152950" cy="647790"/>
          </a:xfrm>
          <a:prstGeom prst="rect">
            <a:avLst/>
          </a:prstGeom>
        </p:spPr>
      </p:pic>
    </p:spTree>
    <p:extLst>
      <p:ext uri="{BB962C8B-B14F-4D97-AF65-F5344CB8AC3E}">
        <p14:creationId xmlns:p14="http://schemas.microsoft.com/office/powerpoint/2010/main" val="274803052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EFA7DA"/>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5A65E5D9-634F-4FA7-B37A-E46696EDD7B2}"/>
              </a:ext>
            </a:extLst>
          </p:cNvPr>
          <p:cNvSpPr>
            <a:spLocks noGrp="1"/>
          </p:cNvSpPr>
          <p:nvPr>
            <p:ph type="body" idx="1"/>
          </p:nvPr>
        </p:nvSpPr>
        <p:spPr>
          <a:xfrm>
            <a:off x="238125" y="180924"/>
            <a:ext cx="8413199" cy="4648251"/>
          </a:xfrm>
        </p:spPr>
        <p:txBody>
          <a:bodyPr/>
          <a:lstStyle/>
          <a:p>
            <a:r>
              <a:rPr lang="en-US" sz="1400" b="1" dirty="0">
                <a:latin typeface="Calibri" panose="020F0502020204030204" pitchFamily="34" charset="0"/>
                <a:ea typeface="Calibri" panose="020F0502020204030204" pitchFamily="34" charset="0"/>
                <a:cs typeface="Calibri" panose="020F0502020204030204" pitchFamily="34" charset="0"/>
              </a:rPr>
              <a:t>Average Delay (in hours) per </a:t>
            </a:r>
            <a:r>
              <a:rPr lang="en-US" sz="1400" b="1" dirty="0" err="1">
                <a:latin typeface="Calibri" panose="020F0502020204030204" pitchFamily="34" charset="0"/>
                <a:ea typeface="Calibri" panose="020F0502020204030204" pitchFamily="34" charset="0"/>
                <a:cs typeface="Calibri" panose="020F0502020204030204" pitchFamily="34" charset="0"/>
              </a:rPr>
              <a:t>Route_ID</a:t>
            </a:r>
            <a:r>
              <a:rPr lang="en-US" sz="1400" b="1" dirty="0">
                <a:latin typeface="Calibri" panose="020F0502020204030204" pitchFamily="34" charset="0"/>
                <a:ea typeface="Calibri" panose="020F0502020204030204" pitchFamily="34" charset="0"/>
                <a:cs typeface="Calibri" panose="020F0502020204030204" pitchFamily="34" charset="0"/>
              </a:rPr>
              <a:t>.</a:t>
            </a:r>
          </a:p>
          <a:p>
            <a:pPr marL="127000" indent="0">
              <a:buNone/>
            </a:pPr>
            <a:endParaRPr lang="en-US" sz="1200" dirty="0">
              <a:latin typeface="Calibri" panose="020F0502020204030204" pitchFamily="34" charset="0"/>
              <a:ea typeface="Calibri" panose="020F0502020204030204" pitchFamily="34" charset="0"/>
              <a:cs typeface="Calibri" panose="020F0502020204030204" pitchFamily="34" charset="0"/>
            </a:endParaRPr>
          </a:p>
          <a:p>
            <a:pPr marL="127000" indent="0">
              <a:buNone/>
            </a:pPr>
            <a:r>
              <a:rPr lang="en-US" sz="1200" dirty="0">
                <a:solidFill>
                  <a:srgbClr val="C00000"/>
                </a:solidFill>
                <a:latin typeface="Calibri" panose="020F0502020204030204" pitchFamily="34" charset="0"/>
                <a:ea typeface="Calibri" panose="020F0502020204030204" pitchFamily="34" charset="0"/>
                <a:cs typeface="Calibri" panose="020F0502020204030204" pitchFamily="34" charset="0"/>
              </a:rPr>
              <a:t>SELECT</a:t>
            </a:r>
          </a:p>
          <a:p>
            <a:pPr marL="127000" indent="0">
              <a:buNone/>
            </a:pPr>
            <a:r>
              <a:rPr lang="en-US" sz="1200" dirty="0">
                <a:solidFill>
                  <a:srgbClr val="C00000"/>
                </a:solidFill>
                <a:latin typeface="Calibri" panose="020F0502020204030204" pitchFamily="34" charset="0"/>
                <a:ea typeface="Calibri" panose="020F0502020204030204" pitchFamily="34" charset="0"/>
                <a:cs typeface="Calibri" panose="020F0502020204030204" pitchFamily="34" charset="0"/>
              </a:rPr>
              <a:t>    </a:t>
            </a:r>
            <a:r>
              <a:rPr lang="en-US" sz="1200" dirty="0" err="1">
                <a:solidFill>
                  <a:srgbClr val="C00000"/>
                </a:solidFill>
                <a:latin typeface="Calibri" panose="020F0502020204030204" pitchFamily="34" charset="0"/>
                <a:ea typeface="Calibri" panose="020F0502020204030204" pitchFamily="34" charset="0"/>
                <a:cs typeface="Calibri" panose="020F0502020204030204" pitchFamily="34" charset="0"/>
              </a:rPr>
              <a:t>Route_ID</a:t>
            </a:r>
            <a:r>
              <a:rPr lang="en-US" sz="1200" dirty="0">
                <a:solidFill>
                  <a:srgbClr val="C00000"/>
                </a:solidFill>
                <a:latin typeface="Calibri" panose="020F0502020204030204" pitchFamily="34" charset="0"/>
                <a:ea typeface="Calibri" panose="020F0502020204030204" pitchFamily="34" charset="0"/>
                <a:cs typeface="Calibri" panose="020F0502020204030204" pitchFamily="34" charset="0"/>
              </a:rPr>
              <a:t>,</a:t>
            </a:r>
          </a:p>
          <a:p>
            <a:pPr marL="127000" indent="0">
              <a:buNone/>
            </a:pPr>
            <a:r>
              <a:rPr lang="en-US" sz="1200" dirty="0">
                <a:solidFill>
                  <a:srgbClr val="C00000"/>
                </a:solidFill>
                <a:latin typeface="Calibri" panose="020F0502020204030204" pitchFamily="34" charset="0"/>
                <a:ea typeface="Calibri" panose="020F0502020204030204" pitchFamily="34" charset="0"/>
                <a:cs typeface="Calibri" panose="020F0502020204030204" pitchFamily="34" charset="0"/>
              </a:rPr>
              <a:t>    ROUND(</a:t>
            </a:r>
          </a:p>
          <a:p>
            <a:pPr marL="127000" indent="0">
              <a:buNone/>
            </a:pPr>
            <a:r>
              <a:rPr lang="en-US" sz="1200" dirty="0">
                <a:solidFill>
                  <a:srgbClr val="C00000"/>
                </a:solidFill>
                <a:latin typeface="Calibri" panose="020F0502020204030204" pitchFamily="34" charset="0"/>
                <a:ea typeface="Calibri" panose="020F0502020204030204" pitchFamily="34" charset="0"/>
                <a:cs typeface="Calibri" panose="020F0502020204030204" pitchFamily="34" charset="0"/>
              </a:rPr>
              <a:t>        AVG(</a:t>
            </a:r>
          </a:p>
          <a:p>
            <a:pPr marL="127000" indent="0">
              <a:buNone/>
            </a:pPr>
            <a:r>
              <a:rPr lang="en-US" sz="1200" dirty="0">
                <a:solidFill>
                  <a:srgbClr val="C00000"/>
                </a:solidFill>
                <a:latin typeface="Calibri" panose="020F0502020204030204" pitchFamily="34" charset="0"/>
                <a:ea typeface="Calibri" panose="020F0502020204030204" pitchFamily="34" charset="0"/>
                <a:cs typeface="Calibri" panose="020F0502020204030204" pitchFamily="34" charset="0"/>
              </a:rPr>
              <a:t>            CASE</a:t>
            </a:r>
          </a:p>
          <a:p>
            <a:pPr marL="127000" indent="0">
              <a:buNone/>
            </a:pPr>
            <a:r>
              <a:rPr lang="en-US" sz="1200" dirty="0">
                <a:solidFill>
                  <a:srgbClr val="C00000"/>
                </a:solidFill>
                <a:latin typeface="Calibri" panose="020F0502020204030204" pitchFamily="34" charset="0"/>
                <a:ea typeface="Calibri" panose="020F0502020204030204" pitchFamily="34" charset="0"/>
                <a:cs typeface="Calibri" panose="020F0502020204030204" pitchFamily="34" charset="0"/>
              </a:rPr>
              <a:t>                WHEN </a:t>
            </a:r>
            <a:r>
              <a:rPr lang="en-US" sz="1200" dirty="0" err="1">
                <a:solidFill>
                  <a:srgbClr val="C00000"/>
                </a:solidFill>
                <a:latin typeface="Calibri" panose="020F0502020204030204" pitchFamily="34" charset="0"/>
                <a:ea typeface="Calibri" panose="020F0502020204030204" pitchFamily="34" charset="0"/>
                <a:cs typeface="Calibri" panose="020F0502020204030204" pitchFamily="34" charset="0"/>
              </a:rPr>
              <a:t>Delay_Hours</a:t>
            </a:r>
            <a:r>
              <a:rPr lang="en-US" sz="1200" dirty="0">
                <a:solidFill>
                  <a:srgbClr val="C00000"/>
                </a:solidFill>
                <a:latin typeface="Calibri" panose="020F0502020204030204" pitchFamily="34" charset="0"/>
                <a:ea typeface="Calibri" panose="020F0502020204030204" pitchFamily="34" charset="0"/>
                <a:cs typeface="Calibri" panose="020F0502020204030204" pitchFamily="34" charset="0"/>
              </a:rPr>
              <a:t> &gt; 0</a:t>
            </a:r>
          </a:p>
          <a:p>
            <a:pPr marL="127000" indent="0">
              <a:buNone/>
            </a:pPr>
            <a:r>
              <a:rPr lang="en-US" sz="1200" dirty="0">
                <a:solidFill>
                  <a:srgbClr val="C00000"/>
                </a:solidFill>
                <a:latin typeface="Calibri" panose="020F0502020204030204" pitchFamily="34" charset="0"/>
                <a:ea typeface="Calibri" panose="020F0502020204030204" pitchFamily="34" charset="0"/>
                <a:cs typeface="Calibri" panose="020F0502020204030204" pitchFamily="34" charset="0"/>
              </a:rPr>
              <a:t>                THEN </a:t>
            </a:r>
            <a:r>
              <a:rPr lang="en-US" sz="1200" dirty="0" err="1">
                <a:solidFill>
                  <a:srgbClr val="C00000"/>
                </a:solidFill>
                <a:latin typeface="Calibri" panose="020F0502020204030204" pitchFamily="34" charset="0"/>
                <a:ea typeface="Calibri" panose="020F0502020204030204" pitchFamily="34" charset="0"/>
                <a:cs typeface="Calibri" panose="020F0502020204030204" pitchFamily="34" charset="0"/>
              </a:rPr>
              <a:t>Delay_Hours</a:t>
            </a:r>
            <a:endParaRPr lang="en-US" sz="1200" dirty="0">
              <a:solidFill>
                <a:srgbClr val="C00000"/>
              </a:solidFill>
              <a:latin typeface="Calibri" panose="020F0502020204030204" pitchFamily="34" charset="0"/>
              <a:ea typeface="Calibri" panose="020F0502020204030204" pitchFamily="34" charset="0"/>
              <a:cs typeface="Calibri" panose="020F0502020204030204" pitchFamily="34" charset="0"/>
            </a:endParaRPr>
          </a:p>
          <a:p>
            <a:pPr marL="127000" indent="0">
              <a:buNone/>
            </a:pPr>
            <a:r>
              <a:rPr lang="en-US" sz="1200" dirty="0">
                <a:solidFill>
                  <a:srgbClr val="C00000"/>
                </a:solidFill>
                <a:latin typeface="Calibri" panose="020F0502020204030204" pitchFamily="34" charset="0"/>
                <a:ea typeface="Calibri" panose="020F0502020204030204" pitchFamily="34" charset="0"/>
                <a:cs typeface="Calibri" panose="020F0502020204030204" pitchFamily="34" charset="0"/>
              </a:rPr>
              <a:t>                ELSE 0</a:t>
            </a:r>
          </a:p>
          <a:p>
            <a:pPr marL="127000" indent="0">
              <a:buNone/>
            </a:pPr>
            <a:r>
              <a:rPr lang="en-US" sz="1200" dirty="0">
                <a:solidFill>
                  <a:srgbClr val="C00000"/>
                </a:solidFill>
                <a:latin typeface="Calibri" panose="020F0502020204030204" pitchFamily="34" charset="0"/>
                <a:ea typeface="Calibri" panose="020F0502020204030204" pitchFamily="34" charset="0"/>
                <a:cs typeface="Calibri" panose="020F0502020204030204" pitchFamily="34" charset="0"/>
              </a:rPr>
              <a:t>            END</a:t>
            </a:r>
          </a:p>
          <a:p>
            <a:pPr marL="127000" indent="0">
              <a:buNone/>
            </a:pPr>
            <a:r>
              <a:rPr lang="en-US" sz="1200" dirty="0">
                <a:solidFill>
                  <a:srgbClr val="C00000"/>
                </a:solidFill>
                <a:latin typeface="Calibri" panose="020F0502020204030204" pitchFamily="34" charset="0"/>
                <a:ea typeface="Calibri" panose="020F0502020204030204" pitchFamily="34" charset="0"/>
                <a:cs typeface="Calibri" panose="020F0502020204030204" pitchFamily="34" charset="0"/>
              </a:rPr>
              <a:t>        ),</a:t>
            </a:r>
          </a:p>
          <a:p>
            <a:pPr marL="127000" indent="0">
              <a:buNone/>
            </a:pPr>
            <a:r>
              <a:rPr lang="en-US" sz="1200" dirty="0">
                <a:solidFill>
                  <a:srgbClr val="C00000"/>
                </a:solidFill>
                <a:latin typeface="Calibri" panose="020F0502020204030204" pitchFamily="34" charset="0"/>
                <a:ea typeface="Calibri" panose="020F0502020204030204" pitchFamily="34" charset="0"/>
                <a:cs typeface="Calibri" panose="020F0502020204030204" pitchFamily="34" charset="0"/>
              </a:rPr>
              <a:t>        2</a:t>
            </a:r>
          </a:p>
          <a:p>
            <a:pPr marL="127000" indent="0">
              <a:buNone/>
            </a:pPr>
            <a:r>
              <a:rPr lang="en-US" sz="1200" dirty="0">
                <a:solidFill>
                  <a:srgbClr val="C00000"/>
                </a:solidFill>
                <a:latin typeface="Calibri" panose="020F0502020204030204" pitchFamily="34" charset="0"/>
                <a:ea typeface="Calibri" panose="020F0502020204030204" pitchFamily="34" charset="0"/>
                <a:cs typeface="Calibri" panose="020F0502020204030204" pitchFamily="34" charset="0"/>
              </a:rPr>
              <a:t>    ) AS </a:t>
            </a:r>
            <a:r>
              <a:rPr lang="en-US" sz="1200" dirty="0" err="1">
                <a:solidFill>
                  <a:srgbClr val="C00000"/>
                </a:solidFill>
                <a:latin typeface="Calibri" panose="020F0502020204030204" pitchFamily="34" charset="0"/>
                <a:ea typeface="Calibri" panose="020F0502020204030204" pitchFamily="34" charset="0"/>
                <a:cs typeface="Calibri" panose="020F0502020204030204" pitchFamily="34" charset="0"/>
              </a:rPr>
              <a:t>Avg_Delay_Hours</a:t>
            </a:r>
            <a:endParaRPr lang="en-US" sz="1200" dirty="0">
              <a:solidFill>
                <a:srgbClr val="C00000"/>
              </a:solidFill>
              <a:latin typeface="Calibri" panose="020F0502020204030204" pitchFamily="34" charset="0"/>
              <a:ea typeface="Calibri" panose="020F0502020204030204" pitchFamily="34" charset="0"/>
              <a:cs typeface="Calibri" panose="020F0502020204030204" pitchFamily="34" charset="0"/>
            </a:endParaRPr>
          </a:p>
          <a:p>
            <a:pPr marL="127000" indent="0">
              <a:buNone/>
            </a:pPr>
            <a:r>
              <a:rPr lang="en-US" sz="1200" dirty="0">
                <a:solidFill>
                  <a:srgbClr val="C00000"/>
                </a:solidFill>
                <a:latin typeface="Calibri" panose="020F0502020204030204" pitchFamily="34" charset="0"/>
                <a:ea typeface="Calibri" panose="020F0502020204030204" pitchFamily="34" charset="0"/>
                <a:cs typeface="Calibri" panose="020F0502020204030204" pitchFamily="34" charset="0"/>
              </a:rPr>
              <a:t>FROM Shipments</a:t>
            </a:r>
          </a:p>
          <a:p>
            <a:pPr marL="127000" indent="0">
              <a:buNone/>
            </a:pPr>
            <a:r>
              <a:rPr lang="en-US" sz="1200" dirty="0">
                <a:solidFill>
                  <a:srgbClr val="C00000"/>
                </a:solidFill>
                <a:latin typeface="Calibri" panose="020F0502020204030204" pitchFamily="34" charset="0"/>
                <a:ea typeface="Calibri" panose="020F0502020204030204" pitchFamily="34" charset="0"/>
                <a:cs typeface="Calibri" panose="020F0502020204030204" pitchFamily="34" charset="0"/>
              </a:rPr>
              <a:t>GROUP BY </a:t>
            </a:r>
            <a:r>
              <a:rPr lang="en-US" sz="1200" dirty="0" err="1">
                <a:solidFill>
                  <a:srgbClr val="C00000"/>
                </a:solidFill>
                <a:latin typeface="Calibri" panose="020F0502020204030204" pitchFamily="34" charset="0"/>
                <a:ea typeface="Calibri" panose="020F0502020204030204" pitchFamily="34" charset="0"/>
                <a:cs typeface="Calibri" panose="020F0502020204030204" pitchFamily="34" charset="0"/>
              </a:rPr>
              <a:t>Route_ID</a:t>
            </a:r>
            <a:r>
              <a:rPr lang="en-US" sz="1200" dirty="0">
                <a:solidFill>
                  <a:srgbClr val="C00000"/>
                </a:solidFill>
                <a:latin typeface="Calibri" panose="020F0502020204030204" pitchFamily="34" charset="0"/>
                <a:ea typeface="Calibri" panose="020F0502020204030204" pitchFamily="34" charset="0"/>
                <a:cs typeface="Calibri" panose="020F0502020204030204" pitchFamily="34" charset="0"/>
              </a:rPr>
              <a:t>;</a:t>
            </a:r>
          </a:p>
          <a:p>
            <a:pPr marL="127000" indent="0">
              <a:buNone/>
            </a:pPr>
            <a:endParaRPr lang="en-US" sz="1200" dirty="0">
              <a:latin typeface="Calibri" panose="020F0502020204030204" pitchFamily="34" charset="0"/>
              <a:ea typeface="Calibri" panose="020F0502020204030204" pitchFamily="34" charset="0"/>
              <a:cs typeface="Calibri" panose="020F0502020204030204" pitchFamily="34" charset="0"/>
            </a:endParaRPr>
          </a:p>
          <a:p>
            <a:pPr marL="127000" indent="0">
              <a:buNone/>
            </a:pPr>
            <a:endParaRPr lang="en-US" sz="1200" dirty="0">
              <a:latin typeface="Calibri" panose="020F0502020204030204" pitchFamily="34" charset="0"/>
              <a:ea typeface="Calibri" panose="020F0502020204030204" pitchFamily="34" charset="0"/>
              <a:cs typeface="Calibri" panose="020F0502020204030204" pitchFamily="34" charset="0"/>
            </a:endParaRPr>
          </a:p>
          <a:p>
            <a:pPr marL="127000" indent="0">
              <a:buNone/>
            </a:pPr>
            <a:r>
              <a:rPr lang="en-US" sz="1200" b="1" u="sng" dirty="0">
                <a:latin typeface="Calibri" panose="020F0502020204030204" pitchFamily="34" charset="0"/>
                <a:ea typeface="Calibri" panose="020F0502020204030204" pitchFamily="34" charset="0"/>
                <a:cs typeface="Calibri" panose="020F0502020204030204" pitchFamily="34" charset="0"/>
              </a:rPr>
              <a:t>What was calculated:</a:t>
            </a:r>
            <a:br>
              <a:rPr lang="en-US" sz="1200" dirty="0">
                <a:latin typeface="Calibri" panose="020F0502020204030204" pitchFamily="34" charset="0"/>
                <a:ea typeface="Calibri" panose="020F0502020204030204" pitchFamily="34" charset="0"/>
                <a:cs typeface="Calibri" panose="020F0502020204030204" pitchFamily="34" charset="0"/>
              </a:rPr>
            </a:br>
            <a:r>
              <a:rPr lang="en-US" sz="1200" dirty="0">
                <a:latin typeface="Calibri" panose="020F0502020204030204" pitchFamily="34" charset="0"/>
                <a:ea typeface="Calibri" panose="020F0502020204030204" pitchFamily="34" charset="0"/>
                <a:cs typeface="Calibri" panose="020F0502020204030204" pitchFamily="34" charset="0"/>
              </a:rPr>
              <a:t>The average delay (in hours) experienced on each route.</a:t>
            </a:r>
          </a:p>
          <a:p>
            <a:pPr marL="127000" indent="0">
              <a:buNone/>
            </a:pPr>
            <a:endParaRPr lang="en-US" sz="1200" u="sng" dirty="0">
              <a:latin typeface="Calibri" panose="020F0502020204030204" pitchFamily="34" charset="0"/>
              <a:ea typeface="Calibri" panose="020F0502020204030204" pitchFamily="34" charset="0"/>
              <a:cs typeface="Calibri" panose="020F0502020204030204" pitchFamily="34" charset="0"/>
            </a:endParaRPr>
          </a:p>
          <a:p>
            <a:pPr marL="127000" indent="0">
              <a:buNone/>
            </a:pPr>
            <a:r>
              <a:rPr lang="en-US" sz="1200" b="1" u="sng" dirty="0">
                <a:latin typeface="Calibri" panose="020F0502020204030204" pitchFamily="34" charset="0"/>
                <a:ea typeface="Calibri" panose="020F0502020204030204" pitchFamily="34" charset="0"/>
                <a:cs typeface="Calibri" panose="020F0502020204030204" pitchFamily="34" charset="0"/>
              </a:rPr>
              <a:t>What we got:</a:t>
            </a:r>
            <a:br>
              <a:rPr lang="en-US" sz="1200" u="sng" dirty="0">
                <a:latin typeface="Calibri" panose="020F0502020204030204" pitchFamily="34" charset="0"/>
                <a:ea typeface="Calibri" panose="020F0502020204030204" pitchFamily="34" charset="0"/>
                <a:cs typeface="Calibri" panose="020F0502020204030204" pitchFamily="34" charset="0"/>
              </a:rPr>
            </a:br>
            <a:r>
              <a:rPr lang="en-US" sz="1200" dirty="0">
                <a:latin typeface="Calibri" panose="020F0502020204030204" pitchFamily="34" charset="0"/>
                <a:ea typeface="Calibri" panose="020F0502020204030204" pitchFamily="34" charset="0"/>
                <a:cs typeface="Calibri" panose="020F0502020204030204" pitchFamily="34" charset="0"/>
              </a:rPr>
              <a:t>Routes with consistently higher delays were highlighted, supporting targeted route-level improvements.</a:t>
            </a:r>
          </a:p>
          <a:p>
            <a:pPr marL="127000" indent="0">
              <a:buNone/>
            </a:pPr>
            <a:endParaRPr lang="en-US" sz="1200" dirty="0">
              <a:latin typeface="Calibri" panose="020F0502020204030204" pitchFamily="34" charset="0"/>
              <a:ea typeface="Calibri" panose="020F0502020204030204" pitchFamily="34" charset="0"/>
              <a:cs typeface="Calibri" panose="020F0502020204030204" pitchFamily="34" charset="0"/>
            </a:endParaRPr>
          </a:p>
          <a:p>
            <a:pPr marL="127000" indent="0">
              <a:buNone/>
            </a:pPr>
            <a:endParaRPr lang="en-US" dirty="0"/>
          </a:p>
        </p:txBody>
      </p:sp>
      <p:pic>
        <p:nvPicPr>
          <p:cNvPr id="4" name="Picture 3">
            <a:extLst>
              <a:ext uri="{FF2B5EF4-FFF2-40B4-BE49-F238E27FC236}">
                <a16:creationId xmlns:a16="http://schemas.microsoft.com/office/drawing/2014/main" id="{45A0D633-01B2-4C91-9035-AB2BAFD6C326}"/>
              </a:ext>
            </a:extLst>
          </p:cNvPr>
          <p:cNvPicPr>
            <a:picLocks noChangeAspect="1"/>
          </p:cNvPicPr>
          <p:nvPr/>
        </p:nvPicPr>
        <p:blipFill>
          <a:blip r:embed="rId2"/>
          <a:stretch>
            <a:fillRect/>
          </a:stretch>
        </p:blipFill>
        <p:spPr>
          <a:xfrm>
            <a:off x="4919539" y="652299"/>
            <a:ext cx="1762371" cy="2333951"/>
          </a:xfrm>
          <a:prstGeom prst="rect">
            <a:avLst/>
          </a:prstGeom>
        </p:spPr>
      </p:pic>
    </p:spTree>
    <p:extLst>
      <p:ext uri="{BB962C8B-B14F-4D97-AF65-F5344CB8AC3E}">
        <p14:creationId xmlns:p14="http://schemas.microsoft.com/office/powerpoint/2010/main" val="172179240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EFA7DA"/>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5A65E5D9-634F-4FA7-B37A-E46696EDD7B2}"/>
              </a:ext>
            </a:extLst>
          </p:cNvPr>
          <p:cNvSpPr>
            <a:spLocks noGrp="1"/>
          </p:cNvSpPr>
          <p:nvPr>
            <p:ph type="body" idx="1"/>
          </p:nvPr>
        </p:nvSpPr>
        <p:spPr>
          <a:xfrm>
            <a:off x="123825" y="0"/>
            <a:ext cx="8810625" cy="5229225"/>
          </a:xfrm>
        </p:spPr>
        <p:txBody>
          <a:bodyPr/>
          <a:lstStyle/>
          <a:p>
            <a:r>
              <a:rPr lang="en-US" sz="1400" dirty="0">
                <a:latin typeface="Calibri" panose="020F0502020204030204" pitchFamily="34" charset="0"/>
                <a:ea typeface="Calibri" panose="020F0502020204030204" pitchFamily="34" charset="0"/>
                <a:cs typeface="Calibri" panose="020F0502020204030204" pitchFamily="34" charset="0"/>
              </a:rPr>
              <a:t>Warehouse Utilization % = (</a:t>
            </a:r>
            <a:r>
              <a:rPr lang="en-US" sz="1400" dirty="0" err="1">
                <a:latin typeface="Calibri" panose="020F0502020204030204" pitchFamily="34" charset="0"/>
                <a:ea typeface="Calibri" panose="020F0502020204030204" pitchFamily="34" charset="0"/>
                <a:cs typeface="Calibri" panose="020F0502020204030204" pitchFamily="34" charset="0"/>
              </a:rPr>
              <a:t>Shipments_Handled</a:t>
            </a:r>
            <a:r>
              <a:rPr lang="en-US" sz="1400" dirty="0">
                <a:latin typeface="Calibri" panose="020F0502020204030204" pitchFamily="34" charset="0"/>
                <a:ea typeface="Calibri" panose="020F0502020204030204" pitchFamily="34" charset="0"/>
                <a:cs typeface="Calibri" panose="020F0502020204030204" pitchFamily="34" charset="0"/>
              </a:rPr>
              <a:t> / </a:t>
            </a:r>
            <a:r>
              <a:rPr lang="en-US" sz="1400" dirty="0" err="1">
                <a:latin typeface="Calibri" panose="020F0502020204030204" pitchFamily="34" charset="0"/>
                <a:ea typeface="Calibri" panose="020F0502020204030204" pitchFamily="34" charset="0"/>
                <a:cs typeface="Calibri" panose="020F0502020204030204" pitchFamily="34" charset="0"/>
              </a:rPr>
              <a:t>Capacity_per_day</a:t>
            </a:r>
            <a:r>
              <a:rPr lang="en-US" sz="1400" dirty="0">
                <a:latin typeface="Calibri" panose="020F0502020204030204" pitchFamily="34" charset="0"/>
                <a:ea typeface="Calibri" panose="020F0502020204030204" pitchFamily="34" charset="0"/>
                <a:cs typeface="Calibri" panose="020F0502020204030204" pitchFamily="34" charset="0"/>
              </a:rPr>
              <a:t>) * 100. </a:t>
            </a:r>
          </a:p>
          <a:p>
            <a:endParaRPr lang="en-US" sz="1400" dirty="0">
              <a:latin typeface="Calibri" panose="020F0502020204030204" pitchFamily="34" charset="0"/>
              <a:ea typeface="Calibri" panose="020F0502020204030204" pitchFamily="34" charset="0"/>
              <a:cs typeface="Calibri" panose="020F0502020204030204" pitchFamily="34" charset="0"/>
            </a:endParaRPr>
          </a:p>
          <a:p>
            <a:pPr marL="127000" indent="0">
              <a:buNone/>
            </a:pPr>
            <a:r>
              <a:rPr lang="en-US" sz="1200" dirty="0">
                <a:solidFill>
                  <a:srgbClr val="C00000"/>
                </a:solidFill>
                <a:latin typeface="Calibri" panose="020F0502020204030204" pitchFamily="34" charset="0"/>
                <a:ea typeface="Calibri" panose="020F0502020204030204" pitchFamily="34" charset="0"/>
                <a:cs typeface="Calibri" panose="020F0502020204030204" pitchFamily="34" charset="0"/>
              </a:rPr>
              <a:t>SELECT</a:t>
            </a:r>
          </a:p>
          <a:p>
            <a:pPr marL="127000" indent="0">
              <a:buNone/>
            </a:pPr>
            <a:r>
              <a:rPr lang="en-US" sz="1200" dirty="0">
                <a:solidFill>
                  <a:srgbClr val="C00000"/>
                </a:solidFill>
                <a:latin typeface="Calibri" panose="020F0502020204030204" pitchFamily="34" charset="0"/>
                <a:ea typeface="Calibri" panose="020F0502020204030204" pitchFamily="34" charset="0"/>
                <a:cs typeface="Calibri" panose="020F0502020204030204" pitchFamily="34" charset="0"/>
              </a:rPr>
              <a:t>    </a:t>
            </a:r>
            <a:r>
              <a:rPr lang="en-US" sz="1200" dirty="0" err="1">
                <a:solidFill>
                  <a:srgbClr val="C00000"/>
                </a:solidFill>
                <a:latin typeface="Calibri" panose="020F0502020204030204" pitchFamily="34" charset="0"/>
                <a:ea typeface="Calibri" panose="020F0502020204030204" pitchFamily="34" charset="0"/>
                <a:cs typeface="Calibri" panose="020F0502020204030204" pitchFamily="34" charset="0"/>
              </a:rPr>
              <a:t>w.Warehouse_ID</a:t>
            </a:r>
            <a:r>
              <a:rPr lang="en-US" sz="1200" dirty="0">
                <a:solidFill>
                  <a:srgbClr val="C00000"/>
                </a:solidFill>
                <a:latin typeface="Calibri" panose="020F0502020204030204" pitchFamily="34" charset="0"/>
                <a:ea typeface="Calibri" panose="020F0502020204030204" pitchFamily="34" charset="0"/>
                <a:cs typeface="Calibri" panose="020F0502020204030204" pitchFamily="34" charset="0"/>
              </a:rPr>
              <a:t>,</a:t>
            </a:r>
          </a:p>
          <a:p>
            <a:pPr marL="127000" indent="0">
              <a:buNone/>
            </a:pPr>
            <a:r>
              <a:rPr lang="en-US" sz="1200" dirty="0">
                <a:solidFill>
                  <a:srgbClr val="C00000"/>
                </a:solidFill>
                <a:latin typeface="Calibri" panose="020F0502020204030204" pitchFamily="34" charset="0"/>
                <a:ea typeface="Calibri" panose="020F0502020204030204" pitchFamily="34" charset="0"/>
                <a:cs typeface="Calibri" panose="020F0502020204030204" pitchFamily="34" charset="0"/>
              </a:rPr>
              <a:t>    </a:t>
            </a:r>
            <a:r>
              <a:rPr lang="en-US" sz="1200" dirty="0" err="1">
                <a:solidFill>
                  <a:srgbClr val="C00000"/>
                </a:solidFill>
                <a:latin typeface="Calibri" panose="020F0502020204030204" pitchFamily="34" charset="0"/>
                <a:ea typeface="Calibri" panose="020F0502020204030204" pitchFamily="34" charset="0"/>
                <a:cs typeface="Calibri" panose="020F0502020204030204" pitchFamily="34" charset="0"/>
              </a:rPr>
              <a:t>w.City</a:t>
            </a:r>
            <a:r>
              <a:rPr lang="en-US" sz="1200" dirty="0">
                <a:solidFill>
                  <a:srgbClr val="C00000"/>
                </a:solidFill>
                <a:latin typeface="Calibri" panose="020F0502020204030204" pitchFamily="34" charset="0"/>
                <a:ea typeface="Calibri" panose="020F0502020204030204" pitchFamily="34" charset="0"/>
                <a:cs typeface="Calibri" panose="020F0502020204030204" pitchFamily="34" charset="0"/>
              </a:rPr>
              <a:t>,</a:t>
            </a:r>
          </a:p>
          <a:p>
            <a:pPr marL="127000" indent="0">
              <a:buNone/>
            </a:pPr>
            <a:r>
              <a:rPr lang="en-US" sz="1200" dirty="0">
                <a:solidFill>
                  <a:srgbClr val="C00000"/>
                </a:solidFill>
                <a:latin typeface="Calibri" panose="020F0502020204030204" pitchFamily="34" charset="0"/>
                <a:ea typeface="Calibri" panose="020F0502020204030204" pitchFamily="34" charset="0"/>
                <a:cs typeface="Calibri" panose="020F0502020204030204" pitchFamily="34" charset="0"/>
              </a:rPr>
              <a:t>    </a:t>
            </a:r>
            <a:r>
              <a:rPr lang="en-US" sz="1200" dirty="0" err="1">
                <a:solidFill>
                  <a:srgbClr val="C00000"/>
                </a:solidFill>
                <a:latin typeface="Calibri" panose="020F0502020204030204" pitchFamily="34" charset="0"/>
                <a:ea typeface="Calibri" panose="020F0502020204030204" pitchFamily="34" charset="0"/>
                <a:cs typeface="Calibri" panose="020F0502020204030204" pitchFamily="34" charset="0"/>
              </a:rPr>
              <a:t>w.Country</a:t>
            </a:r>
            <a:r>
              <a:rPr lang="en-US" sz="1200" dirty="0">
                <a:solidFill>
                  <a:srgbClr val="C00000"/>
                </a:solidFill>
                <a:latin typeface="Calibri" panose="020F0502020204030204" pitchFamily="34" charset="0"/>
                <a:ea typeface="Calibri" panose="020F0502020204030204" pitchFamily="34" charset="0"/>
                <a:cs typeface="Calibri" panose="020F0502020204030204" pitchFamily="34" charset="0"/>
              </a:rPr>
              <a:t>,</a:t>
            </a:r>
          </a:p>
          <a:p>
            <a:pPr marL="127000" indent="0">
              <a:buNone/>
            </a:pPr>
            <a:r>
              <a:rPr lang="en-US" sz="1200" dirty="0">
                <a:solidFill>
                  <a:srgbClr val="C00000"/>
                </a:solidFill>
                <a:latin typeface="Calibri" panose="020F0502020204030204" pitchFamily="34" charset="0"/>
                <a:ea typeface="Calibri" panose="020F0502020204030204" pitchFamily="34" charset="0"/>
                <a:cs typeface="Calibri" panose="020F0502020204030204" pitchFamily="34" charset="0"/>
              </a:rPr>
              <a:t>    COUNT(</a:t>
            </a:r>
            <a:r>
              <a:rPr lang="en-US" sz="1200" dirty="0" err="1">
                <a:solidFill>
                  <a:srgbClr val="C00000"/>
                </a:solidFill>
                <a:latin typeface="Calibri" panose="020F0502020204030204" pitchFamily="34" charset="0"/>
                <a:ea typeface="Calibri" panose="020F0502020204030204" pitchFamily="34" charset="0"/>
                <a:cs typeface="Calibri" panose="020F0502020204030204" pitchFamily="34" charset="0"/>
              </a:rPr>
              <a:t>s.Shipment_ID</a:t>
            </a:r>
            <a:r>
              <a:rPr lang="en-US" sz="1200" dirty="0">
                <a:solidFill>
                  <a:srgbClr val="C00000"/>
                </a:solidFill>
                <a:latin typeface="Calibri" panose="020F0502020204030204" pitchFamily="34" charset="0"/>
                <a:ea typeface="Calibri" panose="020F0502020204030204" pitchFamily="34" charset="0"/>
                <a:cs typeface="Calibri" panose="020F0502020204030204" pitchFamily="34" charset="0"/>
              </a:rPr>
              <a:t>) AS </a:t>
            </a:r>
            <a:r>
              <a:rPr lang="en-US" sz="1200" dirty="0" err="1">
                <a:solidFill>
                  <a:srgbClr val="C00000"/>
                </a:solidFill>
                <a:latin typeface="Calibri" panose="020F0502020204030204" pitchFamily="34" charset="0"/>
                <a:ea typeface="Calibri" panose="020F0502020204030204" pitchFamily="34" charset="0"/>
                <a:cs typeface="Calibri" panose="020F0502020204030204" pitchFamily="34" charset="0"/>
              </a:rPr>
              <a:t>Shipments_Handled</a:t>
            </a:r>
            <a:r>
              <a:rPr lang="en-US" sz="1200" dirty="0">
                <a:solidFill>
                  <a:srgbClr val="C00000"/>
                </a:solidFill>
                <a:latin typeface="Calibri" panose="020F0502020204030204" pitchFamily="34" charset="0"/>
                <a:ea typeface="Calibri" panose="020F0502020204030204" pitchFamily="34" charset="0"/>
                <a:cs typeface="Calibri" panose="020F0502020204030204" pitchFamily="34" charset="0"/>
              </a:rPr>
              <a:t>,</a:t>
            </a:r>
          </a:p>
          <a:p>
            <a:pPr marL="127000" indent="0">
              <a:buNone/>
            </a:pPr>
            <a:r>
              <a:rPr lang="en-US" sz="1200" dirty="0">
                <a:solidFill>
                  <a:srgbClr val="C00000"/>
                </a:solidFill>
                <a:latin typeface="Calibri" panose="020F0502020204030204" pitchFamily="34" charset="0"/>
                <a:ea typeface="Calibri" panose="020F0502020204030204" pitchFamily="34" charset="0"/>
                <a:cs typeface="Calibri" panose="020F0502020204030204" pitchFamily="34" charset="0"/>
              </a:rPr>
              <a:t>    </a:t>
            </a:r>
            <a:r>
              <a:rPr lang="en-US" sz="1200" dirty="0" err="1">
                <a:solidFill>
                  <a:srgbClr val="C00000"/>
                </a:solidFill>
                <a:latin typeface="Calibri" panose="020F0502020204030204" pitchFamily="34" charset="0"/>
                <a:ea typeface="Calibri" panose="020F0502020204030204" pitchFamily="34" charset="0"/>
                <a:cs typeface="Calibri" panose="020F0502020204030204" pitchFamily="34" charset="0"/>
              </a:rPr>
              <a:t>w.Capacity_per_day</a:t>
            </a:r>
            <a:r>
              <a:rPr lang="en-US" sz="1200" dirty="0">
                <a:solidFill>
                  <a:srgbClr val="C00000"/>
                </a:solidFill>
                <a:latin typeface="Calibri" panose="020F0502020204030204" pitchFamily="34" charset="0"/>
                <a:ea typeface="Calibri" panose="020F0502020204030204" pitchFamily="34" charset="0"/>
                <a:cs typeface="Calibri" panose="020F0502020204030204" pitchFamily="34" charset="0"/>
              </a:rPr>
              <a:t>,</a:t>
            </a:r>
          </a:p>
          <a:p>
            <a:pPr marL="127000" indent="0">
              <a:buNone/>
            </a:pPr>
            <a:r>
              <a:rPr lang="en-US" sz="1200" dirty="0">
                <a:solidFill>
                  <a:srgbClr val="C00000"/>
                </a:solidFill>
                <a:latin typeface="Calibri" panose="020F0502020204030204" pitchFamily="34" charset="0"/>
                <a:ea typeface="Calibri" panose="020F0502020204030204" pitchFamily="34" charset="0"/>
                <a:cs typeface="Calibri" panose="020F0502020204030204" pitchFamily="34" charset="0"/>
              </a:rPr>
              <a:t>    ROUND(</a:t>
            </a:r>
          </a:p>
          <a:p>
            <a:pPr marL="127000" indent="0">
              <a:buNone/>
            </a:pPr>
            <a:r>
              <a:rPr lang="en-US" sz="1200" dirty="0">
                <a:solidFill>
                  <a:srgbClr val="C00000"/>
                </a:solidFill>
                <a:latin typeface="Calibri" panose="020F0502020204030204" pitchFamily="34" charset="0"/>
                <a:ea typeface="Calibri" panose="020F0502020204030204" pitchFamily="34" charset="0"/>
                <a:cs typeface="Calibri" panose="020F0502020204030204" pitchFamily="34" charset="0"/>
              </a:rPr>
              <a:t>        100 * COUNT(</a:t>
            </a:r>
            <a:r>
              <a:rPr lang="en-US" sz="1200" dirty="0" err="1">
                <a:solidFill>
                  <a:srgbClr val="C00000"/>
                </a:solidFill>
                <a:latin typeface="Calibri" panose="020F0502020204030204" pitchFamily="34" charset="0"/>
                <a:ea typeface="Calibri" panose="020F0502020204030204" pitchFamily="34" charset="0"/>
                <a:cs typeface="Calibri" panose="020F0502020204030204" pitchFamily="34" charset="0"/>
              </a:rPr>
              <a:t>s.Shipment_ID</a:t>
            </a:r>
            <a:r>
              <a:rPr lang="en-US" sz="1200" dirty="0">
                <a:solidFill>
                  <a:srgbClr val="C00000"/>
                </a:solidFill>
                <a:latin typeface="Calibri" panose="020F0502020204030204" pitchFamily="34" charset="0"/>
                <a:ea typeface="Calibri" panose="020F0502020204030204" pitchFamily="34" charset="0"/>
                <a:cs typeface="Calibri" panose="020F0502020204030204" pitchFamily="34" charset="0"/>
              </a:rPr>
              <a:t>) /</a:t>
            </a:r>
          </a:p>
          <a:p>
            <a:pPr marL="127000" indent="0">
              <a:buNone/>
            </a:pPr>
            <a:r>
              <a:rPr lang="en-US" sz="1200" dirty="0">
                <a:solidFill>
                  <a:srgbClr val="C00000"/>
                </a:solidFill>
                <a:latin typeface="Calibri" panose="020F0502020204030204" pitchFamily="34" charset="0"/>
                <a:ea typeface="Calibri" panose="020F0502020204030204" pitchFamily="34" charset="0"/>
                <a:cs typeface="Calibri" panose="020F0502020204030204" pitchFamily="34" charset="0"/>
              </a:rPr>
              <a:t>        CASE</a:t>
            </a:r>
          </a:p>
          <a:p>
            <a:pPr marL="127000" indent="0">
              <a:buNone/>
            </a:pPr>
            <a:r>
              <a:rPr lang="en-US" sz="1200" dirty="0">
                <a:solidFill>
                  <a:srgbClr val="C00000"/>
                </a:solidFill>
                <a:latin typeface="Calibri" panose="020F0502020204030204" pitchFamily="34" charset="0"/>
                <a:ea typeface="Calibri" panose="020F0502020204030204" pitchFamily="34" charset="0"/>
                <a:cs typeface="Calibri" panose="020F0502020204030204" pitchFamily="34" charset="0"/>
              </a:rPr>
              <a:t>            WHEN </a:t>
            </a:r>
            <a:r>
              <a:rPr lang="en-US" sz="1200" dirty="0" err="1">
                <a:solidFill>
                  <a:srgbClr val="C00000"/>
                </a:solidFill>
                <a:latin typeface="Calibri" panose="020F0502020204030204" pitchFamily="34" charset="0"/>
                <a:ea typeface="Calibri" panose="020F0502020204030204" pitchFamily="34" charset="0"/>
                <a:cs typeface="Calibri" panose="020F0502020204030204" pitchFamily="34" charset="0"/>
              </a:rPr>
              <a:t>w.Capacity_per_day</a:t>
            </a:r>
            <a:r>
              <a:rPr lang="en-US" sz="1200" dirty="0">
                <a:solidFill>
                  <a:srgbClr val="C00000"/>
                </a:solidFill>
                <a:latin typeface="Calibri" panose="020F0502020204030204" pitchFamily="34" charset="0"/>
                <a:ea typeface="Calibri" panose="020F0502020204030204" pitchFamily="34" charset="0"/>
                <a:cs typeface="Calibri" panose="020F0502020204030204" pitchFamily="34" charset="0"/>
              </a:rPr>
              <a:t> &gt; 0</a:t>
            </a:r>
          </a:p>
          <a:p>
            <a:pPr marL="127000" indent="0">
              <a:buNone/>
            </a:pPr>
            <a:r>
              <a:rPr lang="en-US" sz="1200" dirty="0">
                <a:solidFill>
                  <a:srgbClr val="C00000"/>
                </a:solidFill>
                <a:latin typeface="Calibri" panose="020F0502020204030204" pitchFamily="34" charset="0"/>
                <a:ea typeface="Calibri" panose="020F0502020204030204" pitchFamily="34" charset="0"/>
                <a:cs typeface="Calibri" panose="020F0502020204030204" pitchFamily="34" charset="0"/>
              </a:rPr>
              <a:t>            THEN </a:t>
            </a:r>
            <a:r>
              <a:rPr lang="en-US" sz="1200" dirty="0" err="1">
                <a:solidFill>
                  <a:srgbClr val="C00000"/>
                </a:solidFill>
                <a:latin typeface="Calibri" panose="020F0502020204030204" pitchFamily="34" charset="0"/>
                <a:ea typeface="Calibri" panose="020F0502020204030204" pitchFamily="34" charset="0"/>
                <a:cs typeface="Calibri" panose="020F0502020204030204" pitchFamily="34" charset="0"/>
              </a:rPr>
              <a:t>w.Capacity_per_day</a:t>
            </a:r>
            <a:endParaRPr lang="en-US" sz="1200" dirty="0">
              <a:solidFill>
                <a:srgbClr val="C00000"/>
              </a:solidFill>
              <a:latin typeface="Calibri" panose="020F0502020204030204" pitchFamily="34" charset="0"/>
              <a:ea typeface="Calibri" panose="020F0502020204030204" pitchFamily="34" charset="0"/>
              <a:cs typeface="Calibri" panose="020F0502020204030204" pitchFamily="34" charset="0"/>
            </a:endParaRPr>
          </a:p>
          <a:p>
            <a:pPr marL="127000" indent="0">
              <a:buNone/>
            </a:pPr>
            <a:r>
              <a:rPr lang="en-US" sz="1200" dirty="0">
                <a:solidFill>
                  <a:srgbClr val="C00000"/>
                </a:solidFill>
                <a:latin typeface="Calibri" panose="020F0502020204030204" pitchFamily="34" charset="0"/>
                <a:ea typeface="Calibri" panose="020F0502020204030204" pitchFamily="34" charset="0"/>
                <a:cs typeface="Calibri" panose="020F0502020204030204" pitchFamily="34" charset="0"/>
              </a:rPr>
              <a:t>            ELSE 1</a:t>
            </a:r>
          </a:p>
          <a:p>
            <a:pPr marL="127000" indent="0">
              <a:buNone/>
            </a:pPr>
            <a:r>
              <a:rPr lang="en-US" sz="1200" dirty="0">
                <a:solidFill>
                  <a:srgbClr val="C00000"/>
                </a:solidFill>
                <a:latin typeface="Calibri" panose="020F0502020204030204" pitchFamily="34" charset="0"/>
                <a:ea typeface="Calibri" panose="020F0502020204030204" pitchFamily="34" charset="0"/>
                <a:cs typeface="Calibri" panose="020F0502020204030204" pitchFamily="34" charset="0"/>
              </a:rPr>
              <a:t>        END,</a:t>
            </a:r>
          </a:p>
          <a:p>
            <a:pPr marL="127000" indent="0">
              <a:buNone/>
            </a:pPr>
            <a:r>
              <a:rPr lang="en-US" sz="1200" dirty="0">
                <a:solidFill>
                  <a:srgbClr val="C00000"/>
                </a:solidFill>
                <a:latin typeface="Calibri" panose="020F0502020204030204" pitchFamily="34" charset="0"/>
                <a:ea typeface="Calibri" panose="020F0502020204030204" pitchFamily="34" charset="0"/>
                <a:cs typeface="Calibri" panose="020F0502020204030204" pitchFamily="34" charset="0"/>
              </a:rPr>
              <a:t>        2</a:t>
            </a:r>
          </a:p>
          <a:p>
            <a:pPr marL="127000" indent="0">
              <a:buNone/>
            </a:pPr>
            <a:r>
              <a:rPr lang="en-US" sz="1200" dirty="0">
                <a:solidFill>
                  <a:srgbClr val="C00000"/>
                </a:solidFill>
                <a:latin typeface="Calibri" panose="020F0502020204030204" pitchFamily="34" charset="0"/>
                <a:ea typeface="Calibri" panose="020F0502020204030204" pitchFamily="34" charset="0"/>
                <a:cs typeface="Calibri" panose="020F0502020204030204" pitchFamily="34" charset="0"/>
              </a:rPr>
              <a:t>    ) AS </a:t>
            </a:r>
            <a:r>
              <a:rPr lang="en-US" sz="1200" dirty="0" err="1">
                <a:solidFill>
                  <a:srgbClr val="C00000"/>
                </a:solidFill>
                <a:latin typeface="Calibri" panose="020F0502020204030204" pitchFamily="34" charset="0"/>
                <a:ea typeface="Calibri" panose="020F0502020204030204" pitchFamily="34" charset="0"/>
                <a:cs typeface="Calibri" panose="020F0502020204030204" pitchFamily="34" charset="0"/>
              </a:rPr>
              <a:t>Warehouse_Utilization_Percentage</a:t>
            </a:r>
            <a:endParaRPr lang="en-US" sz="1200" dirty="0">
              <a:solidFill>
                <a:srgbClr val="C00000"/>
              </a:solidFill>
              <a:latin typeface="Calibri" panose="020F0502020204030204" pitchFamily="34" charset="0"/>
              <a:ea typeface="Calibri" panose="020F0502020204030204" pitchFamily="34" charset="0"/>
              <a:cs typeface="Calibri" panose="020F0502020204030204" pitchFamily="34" charset="0"/>
            </a:endParaRPr>
          </a:p>
          <a:p>
            <a:pPr marL="127000" indent="0">
              <a:buNone/>
            </a:pPr>
            <a:r>
              <a:rPr lang="en-US" sz="1200" dirty="0">
                <a:solidFill>
                  <a:srgbClr val="C00000"/>
                </a:solidFill>
                <a:latin typeface="Calibri" panose="020F0502020204030204" pitchFamily="34" charset="0"/>
                <a:ea typeface="Calibri" panose="020F0502020204030204" pitchFamily="34" charset="0"/>
                <a:cs typeface="Calibri" panose="020F0502020204030204" pitchFamily="34" charset="0"/>
              </a:rPr>
              <a:t>FROM Warehouses w</a:t>
            </a:r>
          </a:p>
          <a:p>
            <a:pPr marL="127000" indent="0">
              <a:buNone/>
            </a:pPr>
            <a:r>
              <a:rPr lang="en-US" sz="1200" dirty="0">
                <a:solidFill>
                  <a:srgbClr val="C00000"/>
                </a:solidFill>
                <a:latin typeface="Calibri" panose="020F0502020204030204" pitchFamily="34" charset="0"/>
                <a:ea typeface="Calibri" panose="020F0502020204030204" pitchFamily="34" charset="0"/>
                <a:cs typeface="Calibri" panose="020F0502020204030204" pitchFamily="34" charset="0"/>
              </a:rPr>
              <a:t>LEFT JOIN Shipments s</a:t>
            </a:r>
          </a:p>
          <a:p>
            <a:pPr marL="127000" indent="0">
              <a:buNone/>
            </a:pPr>
            <a:r>
              <a:rPr lang="en-US" sz="1200" dirty="0">
                <a:solidFill>
                  <a:srgbClr val="C00000"/>
                </a:solidFill>
                <a:latin typeface="Calibri" panose="020F0502020204030204" pitchFamily="34" charset="0"/>
                <a:ea typeface="Calibri" panose="020F0502020204030204" pitchFamily="34" charset="0"/>
                <a:cs typeface="Calibri" panose="020F0502020204030204" pitchFamily="34" charset="0"/>
              </a:rPr>
              <a:t>    ON </a:t>
            </a:r>
            <a:r>
              <a:rPr lang="en-US" sz="1200" dirty="0" err="1">
                <a:solidFill>
                  <a:srgbClr val="C00000"/>
                </a:solidFill>
                <a:latin typeface="Calibri" panose="020F0502020204030204" pitchFamily="34" charset="0"/>
                <a:ea typeface="Calibri" panose="020F0502020204030204" pitchFamily="34" charset="0"/>
                <a:cs typeface="Calibri" panose="020F0502020204030204" pitchFamily="34" charset="0"/>
              </a:rPr>
              <a:t>w.Warehouse_ID</a:t>
            </a:r>
            <a:r>
              <a:rPr lang="en-US" sz="1200" dirty="0">
                <a:solidFill>
                  <a:srgbClr val="C00000"/>
                </a:solidFill>
                <a:latin typeface="Calibri" panose="020F0502020204030204" pitchFamily="34" charset="0"/>
                <a:ea typeface="Calibri" panose="020F0502020204030204" pitchFamily="34" charset="0"/>
                <a:cs typeface="Calibri" panose="020F0502020204030204" pitchFamily="34" charset="0"/>
              </a:rPr>
              <a:t> = </a:t>
            </a:r>
            <a:r>
              <a:rPr lang="en-US" sz="1200" dirty="0" err="1">
                <a:solidFill>
                  <a:srgbClr val="C00000"/>
                </a:solidFill>
                <a:latin typeface="Calibri" panose="020F0502020204030204" pitchFamily="34" charset="0"/>
                <a:ea typeface="Calibri" panose="020F0502020204030204" pitchFamily="34" charset="0"/>
                <a:cs typeface="Calibri" panose="020F0502020204030204" pitchFamily="34" charset="0"/>
              </a:rPr>
              <a:t>s.Warehouse_ID</a:t>
            </a:r>
            <a:endParaRPr lang="en-US" sz="1200" dirty="0">
              <a:solidFill>
                <a:srgbClr val="C00000"/>
              </a:solidFill>
              <a:latin typeface="Calibri" panose="020F0502020204030204" pitchFamily="34" charset="0"/>
              <a:ea typeface="Calibri" panose="020F0502020204030204" pitchFamily="34" charset="0"/>
              <a:cs typeface="Calibri" panose="020F0502020204030204" pitchFamily="34" charset="0"/>
            </a:endParaRPr>
          </a:p>
          <a:p>
            <a:pPr marL="127000" indent="0">
              <a:buNone/>
            </a:pPr>
            <a:r>
              <a:rPr lang="en-US" sz="1200" dirty="0">
                <a:solidFill>
                  <a:srgbClr val="C00000"/>
                </a:solidFill>
                <a:latin typeface="Calibri" panose="020F0502020204030204" pitchFamily="34" charset="0"/>
                <a:ea typeface="Calibri" panose="020F0502020204030204" pitchFamily="34" charset="0"/>
                <a:cs typeface="Calibri" panose="020F0502020204030204" pitchFamily="34" charset="0"/>
              </a:rPr>
              <a:t>GROUP BY</a:t>
            </a:r>
          </a:p>
          <a:p>
            <a:pPr marL="127000" indent="0">
              <a:buNone/>
            </a:pPr>
            <a:r>
              <a:rPr lang="en-US" sz="1200" dirty="0">
                <a:solidFill>
                  <a:srgbClr val="C00000"/>
                </a:solidFill>
                <a:latin typeface="Calibri" panose="020F0502020204030204" pitchFamily="34" charset="0"/>
                <a:ea typeface="Calibri" panose="020F0502020204030204" pitchFamily="34" charset="0"/>
                <a:cs typeface="Calibri" panose="020F0502020204030204" pitchFamily="34" charset="0"/>
              </a:rPr>
              <a:t>    </a:t>
            </a:r>
            <a:r>
              <a:rPr lang="en-US" sz="1200" dirty="0" err="1">
                <a:solidFill>
                  <a:srgbClr val="C00000"/>
                </a:solidFill>
                <a:latin typeface="Calibri" panose="020F0502020204030204" pitchFamily="34" charset="0"/>
                <a:ea typeface="Calibri" panose="020F0502020204030204" pitchFamily="34" charset="0"/>
                <a:cs typeface="Calibri" panose="020F0502020204030204" pitchFamily="34" charset="0"/>
              </a:rPr>
              <a:t>w.Warehouse_ID</a:t>
            </a:r>
            <a:r>
              <a:rPr lang="en-US" sz="1200" dirty="0">
                <a:solidFill>
                  <a:srgbClr val="C00000"/>
                </a:solidFill>
                <a:latin typeface="Calibri" panose="020F0502020204030204" pitchFamily="34" charset="0"/>
                <a:ea typeface="Calibri" panose="020F0502020204030204" pitchFamily="34" charset="0"/>
                <a:cs typeface="Calibri" panose="020F0502020204030204" pitchFamily="34" charset="0"/>
              </a:rPr>
              <a:t>,</a:t>
            </a:r>
          </a:p>
          <a:p>
            <a:pPr marL="127000" indent="0">
              <a:buNone/>
            </a:pPr>
            <a:r>
              <a:rPr lang="en-US" sz="1200" dirty="0">
                <a:solidFill>
                  <a:srgbClr val="C00000"/>
                </a:solidFill>
                <a:latin typeface="Calibri" panose="020F0502020204030204" pitchFamily="34" charset="0"/>
                <a:ea typeface="Calibri" panose="020F0502020204030204" pitchFamily="34" charset="0"/>
                <a:cs typeface="Calibri" panose="020F0502020204030204" pitchFamily="34" charset="0"/>
              </a:rPr>
              <a:t>    </a:t>
            </a:r>
            <a:r>
              <a:rPr lang="en-US" sz="1200" dirty="0" err="1">
                <a:solidFill>
                  <a:srgbClr val="C00000"/>
                </a:solidFill>
                <a:latin typeface="Calibri" panose="020F0502020204030204" pitchFamily="34" charset="0"/>
                <a:ea typeface="Calibri" panose="020F0502020204030204" pitchFamily="34" charset="0"/>
                <a:cs typeface="Calibri" panose="020F0502020204030204" pitchFamily="34" charset="0"/>
              </a:rPr>
              <a:t>w.City</a:t>
            </a:r>
            <a:r>
              <a:rPr lang="en-US" sz="1200" dirty="0">
                <a:solidFill>
                  <a:srgbClr val="C00000"/>
                </a:solidFill>
                <a:latin typeface="Calibri" panose="020F0502020204030204" pitchFamily="34" charset="0"/>
                <a:ea typeface="Calibri" panose="020F0502020204030204" pitchFamily="34" charset="0"/>
                <a:cs typeface="Calibri" panose="020F0502020204030204" pitchFamily="34" charset="0"/>
              </a:rPr>
              <a:t>,</a:t>
            </a:r>
          </a:p>
          <a:p>
            <a:pPr marL="127000" indent="0">
              <a:buNone/>
            </a:pPr>
            <a:r>
              <a:rPr lang="en-US" sz="1200" dirty="0">
                <a:solidFill>
                  <a:srgbClr val="C00000"/>
                </a:solidFill>
                <a:latin typeface="Calibri" panose="020F0502020204030204" pitchFamily="34" charset="0"/>
                <a:ea typeface="Calibri" panose="020F0502020204030204" pitchFamily="34" charset="0"/>
                <a:cs typeface="Calibri" panose="020F0502020204030204" pitchFamily="34" charset="0"/>
              </a:rPr>
              <a:t>    </a:t>
            </a:r>
            <a:r>
              <a:rPr lang="en-US" sz="1200" dirty="0" err="1">
                <a:solidFill>
                  <a:srgbClr val="C00000"/>
                </a:solidFill>
                <a:latin typeface="Calibri" panose="020F0502020204030204" pitchFamily="34" charset="0"/>
                <a:ea typeface="Calibri" panose="020F0502020204030204" pitchFamily="34" charset="0"/>
                <a:cs typeface="Calibri" panose="020F0502020204030204" pitchFamily="34" charset="0"/>
              </a:rPr>
              <a:t>w.Country</a:t>
            </a:r>
            <a:r>
              <a:rPr lang="en-US" sz="1200" dirty="0">
                <a:solidFill>
                  <a:srgbClr val="C00000"/>
                </a:solidFill>
                <a:latin typeface="Calibri" panose="020F0502020204030204" pitchFamily="34" charset="0"/>
                <a:ea typeface="Calibri" panose="020F0502020204030204" pitchFamily="34" charset="0"/>
                <a:cs typeface="Calibri" panose="020F0502020204030204" pitchFamily="34" charset="0"/>
              </a:rPr>
              <a:t>,</a:t>
            </a:r>
          </a:p>
          <a:p>
            <a:pPr marL="127000" indent="0">
              <a:buNone/>
            </a:pPr>
            <a:r>
              <a:rPr lang="en-US" sz="1200" dirty="0">
                <a:solidFill>
                  <a:srgbClr val="C00000"/>
                </a:solidFill>
                <a:latin typeface="Calibri" panose="020F0502020204030204" pitchFamily="34" charset="0"/>
                <a:ea typeface="Calibri" panose="020F0502020204030204" pitchFamily="34" charset="0"/>
                <a:cs typeface="Calibri" panose="020F0502020204030204" pitchFamily="34" charset="0"/>
              </a:rPr>
              <a:t>    </a:t>
            </a:r>
            <a:r>
              <a:rPr lang="en-US" sz="1200" dirty="0" err="1">
                <a:solidFill>
                  <a:srgbClr val="C00000"/>
                </a:solidFill>
                <a:latin typeface="Calibri" panose="020F0502020204030204" pitchFamily="34" charset="0"/>
                <a:ea typeface="Calibri" panose="020F0502020204030204" pitchFamily="34" charset="0"/>
                <a:cs typeface="Calibri" panose="020F0502020204030204" pitchFamily="34" charset="0"/>
              </a:rPr>
              <a:t>w.Capacity_per_day</a:t>
            </a:r>
            <a:r>
              <a:rPr lang="en-US" sz="1200" dirty="0">
                <a:solidFill>
                  <a:srgbClr val="C00000"/>
                </a:solidFill>
                <a:latin typeface="Calibri" panose="020F0502020204030204" pitchFamily="34" charset="0"/>
                <a:ea typeface="Calibri" panose="020F0502020204030204" pitchFamily="34" charset="0"/>
                <a:cs typeface="Calibri" panose="020F0502020204030204" pitchFamily="34" charset="0"/>
              </a:rPr>
              <a:t>;</a:t>
            </a:r>
          </a:p>
          <a:p>
            <a:pPr marL="127000" indent="0">
              <a:buNone/>
            </a:pPr>
            <a:endParaRPr lang="en-US" sz="1200" dirty="0">
              <a:latin typeface="Calibri" panose="020F0502020204030204" pitchFamily="34" charset="0"/>
              <a:ea typeface="Calibri" panose="020F0502020204030204" pitchFamily="34" charset="0"/>
              <a:cs typeface="Calibri" panose="020F0502020204030204" pitchFamily="34" charset="0"/>
            </a:endParaRPr>
          </a:p>
          <a:p>
            <a:pPr marL="127000" indent="0">
              <a:buNone/>
            </a:pPr>
            <a:endParaRPr lang="en-US" sz="1200" dirty="0">
              <a:latin typeface="Calibri" panose="020F0502020204030204" pitchFamily="34" charset="0"/>
              <a:ea typeface="Calibri" panose="020F0502020204030204" pitchFamily="34" charset="0"/>
              <a:cs typeface="Calibri" panose="020F0502020204030204" pitchFamily="34" charset="0"/>
            </a:endParaRPr>
          </a:p>
          <a:p>
            <a:pPr marL="127000" indent="0">
              <a:buNone/>
            </a:pPr>
            <a:endParaRPr lang="en-US" dirty="0"/>
          </a:p>
        </p:txBody>
      </p:sp>
      <p:pic>
        <p:nvPicPr>
          <p:cNvPr id="5" name="Picture 4">
            <a:extLst>
              <a:ext uri="{FF2B5EF4-FFF2-40B4-BE49-F238E27FC236}">
                <a16:creationId xmlns:a16="http://schemas.microsoft.com/office/drawing/2014/main" id="{A32CAE53-425C-425C-BD8A-845921AC9D97}"/>
              </a:ext>
            </a:extLst>
          </p:cNvPr>
          <p:cNvPicPr>
            <a:picLocks noChangeAspect="1"/>
          </p:cNvPicPr>
          <p:nvPr/>
        </p:nvPicPr>
        <p:blipFill>
          <a:blip r:embed="rId2"/>
          <a:stretch>
            <a:fillRect/>
          </a:stretch>
        </p:blipFill>
        <p:spPr>
          <a:xfrm>
            <a:off x="3475716" y="1142869"/>
            <a:ext cx="5668284" cy="1886213"/>
          </a:xfrm>
          <a:prstGeom prst="rect">
            <a:avLst/>
          </a:prstGeom>
        </p:spPr>
      </p:pic>
      <p:sp>
        <p:nvSpPr>
          <p:cNvPr id="2" name="TextBox 1">
            <a:extLst>
              <a:ext uri="{FF2B5EF4-FFF2-40B4-BE49-F238E27FC236}">
                <a16:creationId xmlns:a16="http://schemas.microsoft.com/office/drawing/2014/main" id="{341BD572-1791-4565-BDC5-52279AAFDEF6}"/>
              </a:ext>
            </a:extLst>
          </p:cNvPr>
          <p:cNvSpPr txBox="1"/>
          <p:nvPr/>
        </p:nvSpPr>
        <p:spPr>
          <a:xfrm>
            <a:off x="4924426" y="3228677"/>
            <a:ext cx="3333750" cy="2000548"/>
          </a:xfrm>
          <a:prstGeom prst="rect">
            <a:avLst/>
          </a:prstGeom>
          <a:noFill/>
        </p:spPr>
        <p:txBody>
          <a:bodyPr wrap="square" rtlCol="0">
            <a:spAutoFit/>
          </a:bodyPr>
          <a:lstStyle/>
          <a:p>
            <a:pPr marL="127000" indent="0">
              <a:buNone/>
            </a:pPr>
            <a:r>
              <a:rPr lang="en-US" sz="1200" b="1" u="sng" dirty="0">
                <a:latin typeface="Calibri" panose="020F0502020204030204" pitchFamily="34" charset="0"/>
                <a:ea typeface="Calibri" panose="020F0502020204030204" pitchFamily="34" charset="0"/>
                <a:cs typeface="Calibri" panose="020F0502020204030204" pitchFamily="34" charset="0"/>
              </a:rPr>
              <a:t>What was calculated:</a:t>
            </a:r>
            <a:br>
              <a:rPr lang="en-US" sz="1200" dirty="0">
                <a:latin typeface="Calibri" panose="020F0502020204030204" pitchFamily="34" charset="0"/>
                <a:ea typeface="Calibri" panose="020F0502020204030204" pitchFamily="34" charset="0"/>
                <a:cs typeface="Calibri" panose="020F0502020204030204" pitchFamily="34" charset="0"/>
              </a:rPr>
            </a:br>
            <a:r>
              <a:rPr lang="en-US" sz="1200" dirty="0">
                <a:latin typeface="Calibri" panose="020F0502020204030204" pitchFamily="34" charset="0"/>
                <a:ea typeface="Calibri" panose="020F0502020204030204" pitchFamily="34" charset="0"/>
                <a:cs typeface="Calibri" panose="020F0502020204030204" pitchFamily="34" charset="0"/>
              </a:rPr>
              <a:t>Warehouse utilization percentage based on actual shipments handled versus capacity.</a:t>
            </a:r>
          </a:p>
          <a:p>
            <a:pPr marL="127000" indent="0">
              <a:buNone/>
            </a:pPr>
            <a:endParaRPr lang="en-US" sz="1200" dirty="0">
              <a:latin typeface="Calibri" panose="020F0502020204030204" pitchFamily="34" charset="0"/>
              <a:ea typeface="Calibri" panose="020F0502020204030204" pitchFamily="34" charset="0"/>
              <a:cs typeface="Calibri" panose="020F0502020204030204" pitchFamily="34" charset="0"/>
            </a:endParaRPr>
          </a:p>
          <a:p>
            <a:pPr marL="127000" indent="0">
              <a:buNone/>
            </a:pPr>
            <a:r>
              <a:rPr lang="en-US" sz="1200" b="1" u="sng" dirty="0">
                <a:latin typeface="Calibri" panose="020F0502020204030204" pitchFamily="34" charset="0"/>
                <a:ea typeface="Calibri" panose="020F0502020204030204" pitchFamily="34" charset="0"/>
                <a:cs typeface="Calibri" panose="020F0502020204030204" pitchFamily="34" charset="0"/>
              </a:rPr>
              <a:t>What we got:</a:t>
            </a:r>
            <a:br>
              <a:rPr lang="en-US" sz="1200" dirty="0">
                <a:latin typeface="Calibri" panose="020F0502020204030204" pitchFamily="34" charset="0"/>
                <a:ea typeface="Calibri" panose="020F0502020204030204" pitchFamily="34" charset="0"/>
                <a:cs typeface="Calibri" panose="020F0502020204030204" pitchFamily="34" charset="0"/>
              </a:rPr>
            </a:br>
            <a:r>
              <a:rPr lang="en-US" sz="1200" dirty="0">
                <a:latin typeface="Calibri" panose="020F0502020204030204" pitchFamily="34" charset="0"/>
                <a:ea typeface="Calibri" panose="020F0502020204030204" pitchFamily="34" charset="0"/>
                <a:cs typeface="Calibri" panose="020F0502020204030204" pitchFamily="34" charset="0"/>
              </a:rPr>
              <a:t>Warehouses that are over-utilized or under-utilized were identified, enabling better capacity planning and load balancing.</a:t>
            </a:r>
          </a:p>
          <a:p>
            <a:pPr marL="127000" indent="0">
              <a:buNone/>
            </a:pPr>
            <a:endParaRPr lang="en-US" sz="1400" dirty="0">
              <a:latin typeface="Calibri" panose="020F0502020204030204" pitchFamily="34" charset="0"/>
              <a:ea typeface="Calibri" panose="020F0502020204030204" pitchFamily="34" charset="0"/>
              <a:cs typeface="Calibri" panose="020F0502020204030204" pitchFamily="34" charset="0"/>
            </a:endParaRPr>
          </a:p>
          <a:p>
            <a:endParaRPr lang="en-US" dirty="0"/>
          </a:p>
        </p:txBody>
      </p:sp>
    </p:spTree>
    <p:extLst>
      <p:ext uri="{BB962C8B-B14F-4D97-AF65-F5344CB8AC3E}">
        <p14:creationId xmlns:p14="http://schemas.microsoft.com/office/powerpoint/2010/main" val="419982731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7F73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9E01DE-E7A0-401D-A554-19E5FE590CBE}"/>
              </a:ext>
            </a:extLst>
          </p:cNvPr>
          <p:cNvSpPr>
            <a:spLocks noGrp="1"/>
          </p:cNvSpPr>
          <p:nvPr>
            <p:ph type="title"/>
          </p:nvPr>
        </p:nvSpPr>
        <p:spPr>
          <a:xfrm>
            <a:off x="490250" y="450150"/>
            <a:ext cx="7942550" cy="4090800"/>
          </a:xfrm>
        </p:spPr>
        <p:txBody>
          <a:bodyPr/>
          <a:lstStyle/>
          <a:p>
            <a:pPr rtl="0">
              <a:spcBef>
                <a:spcPts val="0"/>
              </a:spcBef>
              <a:spcAft>
                <a:spcPts val="0"/>
              </a:spcAft>
            </a:pPr>
            <a:r>
              <a:rPr lang="en-US" sz="3200" dirty="0">
                <a:latin typeface="Calibri" panose="020F0502020204030204" pitchFamily="34" charset="0"/>
                <a:ea typeface="Calibri" panose="020F0502020204030204" pitchFamily="34" charset="0"/>
                <a:cs typeface="Calibri" panose="020F0502020204030204" pitchFamily="34" charset="0"/>
              </a:rPr>
              <a:t>TASK 9 : Video Submission</a:t>
            </a:r>
            <a:br>
              <a:rPr lang="en-US" sz="3200" dirty="0">
                <a:latin typeface="Calibri" panose="020F0502020204030204" pitchFamily="34" charset="0"/>
                <a:ea typeface="Calibri" panose="020F0502020204030204" pitchFamily="34" charset="0"/>
                <a:cs typeface="Calibri" panose="020F0502020204030204" pitchFamily="34" charset="0"/>
              </a:rPr>
            </a:br>
            <a:br>
              <a:rPr lang="en-US" sz="3200" dirty="0">
                <a:latin typeface="Calibri" panose="020F0502020204030204" pitchFamily="34" charset="0"/>
                <a:ea typeface="Calibri" panose="020F0502020204030204" pitchFamily="34" charset="0"/>
                <a:cs typeface="Calibri" panose="020F0502020204030204" pitchFamily="34" charset="0"/>
              </a:rPr>
            </a:br>
            <a:r>
              <a:rPr lang="en-US" sz="3200" b="0" i="0" u="sng" strike="noStrike" dirty="0">
                <a:solidFill>
                  <a:srgbClr val="1155CC"/>
                </a:solidFill>
                <a:effectLst/>
                <a:latin typeface="Calibri" panose="020F0502020204030204" pitchFamily="34" charset="0"/>
                <a:ea typeface="Calibri" panose="020F0502020204030204" pitchFamily="34" charset="0"/>
                <a:cs typeface="Calibri" panose="020F0502020204030204" pitchFamily="34" charset="0"/>
                <a:hlinkClick r:id="rId2"/>
              </a:rPr>
              <a:t>Logistics Optimization for Delivery Routes – FedEx </a:t>
            </a:r>
            <a:br>
              <a:rPr lang="en-US" sz="3200" b="0" i="0" u="sng" strike="noStrike" dirty="0">
                <a:solidFill>
                  <a:srgbClr val="1155CC"/>
                </a:solidFill>
                <a:effectLst/>
                <a:latin typeface="Calibri" panose="020F0502020204030204" pitchFamily="34" charset="0"/>
                <a:ea typeface="Calibri" panose="020F0502020204030204" pitchFamily="34" charset="0"/>
                <a:cs typeface="Calibri" panose="020F0502020204030204" pitchFamily="34" charset="0"/>
              </a:rPr>
            </a:br>
            <a:br>
              <a:rPr lang="en-US" sz="1800" b="0" i="0" u="sng" strike="noStrike" dirty="0">
                <a:solidFill>
                  <a:srgbClr val="1155CC"/>
                </a:solidFill>
                <a:effectLst/>
                <a:latin typeface="Arial" panose="020B0604020202020204" pitchFamily="34" charset="0"/>
              </a:rPr>
            </a:br>
            <a:br>
              <a:rPr lang="en-US" sz="1100" b="0" dirty="0">
                <a:effectLst/>
              </a:rPr>
            </a:br>
            <a:br>
              <a:rPr lang="en-US" sz="1100" dirty="0"/>
            </a:br>
            <a:endParaRPr lang="en-US" sz="32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411571134"/>
      </p:ext>
    </p:extLst>
  </p:cSld>
  <p:clrMapOvr>
    <a:masterClrMapping/>
  </p:clrMapOvr>
</p:sld>
</file>

<file path=ppt/theme/theme1.xml><?xml version="1.0" encoding="utf-8"?>
<a:theme xmlns:a="http://schemas.openxmlformats.org/drawingml/2006/main" name="Team Status Meeting">
  <a:themeElements>
    <a:clrScheme name="Simple Light">
      <a:dk1>
        <a:srgbClr val="121212"/>
      </a:dk1>
      <a:lt1>
        <a:srgbClr val="FFFFFF"/>
      </a:lt1>
      <a:dk2>
        <a:srgbClr val="121212"/>
      </a:dk2>
      <a:lt2>
        <a:srgbClr val="FFFFFF"/>
      </a:lt2>
      <a:accent1>
        <a:srgbClr val="FF6617"/>
      </a:accent1>
      <a:accent2>
        <a:srgbClr val="00534B"/>
      </a:accent2>
      <a:accent3>
        <a:srgbClr val="10AD61"/>
      </a:accent3>
      <a:accent4>
        <a:srgbClr val="FFBAFD"/>
      </a:accent4>
      <a:accent5>
        <a:srgbClr val="9CE1FF"/>
      </a:accent5>
      <a:accent6>
        <a:srgbClr val="FFFFFF"/>
      </a:accent6>
      <a:hlink>
        <a:srgbClr val="121212"/>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651</TotalTime>
  <Words>5104</Words>
  <Application>Microsoft Office PowerPoint</Application>
  <PresentationFormat>On-screen Show (16:9)</PresentationFormat>
  <Paragraphs>576</Paragraphs>
  <Slides>35</Slides>
  <Notes>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35</vt:i4>
      </vt:variant>
    </vt:vector>
  </HeadingPairs>
  <TitlesOfParts>
    <vt:vector size="42" baseType="lpstr">
      <vt:lpstr>Calibri</vt:lpstr>
      <vt:lpstr>Covered By Your Grace</vt:lpstr>
      <vt:lpstr>Rubik</vt:lpstr>
      <vt:lpstr>Segoe Script</vt:lpstr>
      <vt:lpstr>Arial</vt:lpstr>
      <vt:lpstr>Roboto Serif</vt:lpstr>
      <vt:lpstr>Team Status Meeting</vt:lpstr>
      <vt:lpstr>Logistics Optimization for Delivery Routes – FedEx</vt:lpstr>
      <vt:lpstr>The goal is to come up with a SQL, based Logistics Analytics System for FedEx that can analyze shipment performance data across the global logistics network. With this system, it has aimed to:   Integrate ordering, routing, warehousing, agent, and shipment tracking data from relational databases.  Pinpoint the causes of delays, the bottlenecks, and the inefficiencies in the operations of both international and regional routes.  The outcome will be that performance evaluation will be made possible at the level of the route, warehouse, and delivery agent.  Offer data, backed insights that can be used to work on various aspects such as on, time delivery, route optimization, increasing warehouse throughput, and at the same time lowering operational costs.  The final analysis will be instrumental in making strategic decisions on how to best utilize hubs, optimize routes, and maintain service level reliability across FedEx's global operations. </vt:lpstr>
      <vt:lpstr>TASK 1 :  Data Cleaning &amp; Preparation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TASK 4: WAREHOUSE PERFORMANCE </vt:lpstr>
      <vt:lpstr>PowerPoint Presentation</vt:lpstr>
      <vt:lpstr>PowerPoint Presentation</vt:lpstr>
      <vt:lpstr>PowerPoint Presentation</vt:lpstr>
      <vt:lpstr>TASK 5: DELIVERY AGENT PERFORMANCE</vt:lpstr>
      <vt:lpstr>PowerPoint Presentation</vt:lpstr>
      <vt:lpstr>PowerPoint Presentation</vt:lpstr>
      <vt:lpstr>PowerPoint Presentation</vt:lpstr>
      <vt:lpstr>PowerPoint Presentation</vt:lpstr>
      <vt:lpstr>PowerPoint Presentation</vt:lpstr>
      <vt:lpstr>Task 6: Shipment Tracking Analytics</vt:lpstr>
      <vt:lpstr>PowerPoint Presentation</vt:lpstr>
      <vt:lpstr>PowerPoint Presentation</vt:lpstr>
      <vt:lpstr>PowerPoint Presentation</vt:lpstr>
      <vt:lpstr>Task 7: Advanced KPI Reporting</vt:lpstr>
      <vt:lpstr>PowerPoint Presentation</vt:lpstr>
      <vt:lpstr>PowerPoint Presentation</vt:lpstr>
      <vt:lpstr>PowerPoint Presentation</vt:lpstr>
      <vt:lpstr>TASK 9 : Video Submission  Logistics Optimization for Delivery Routes – FedEx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Logistics Optimization for Delivery Routes – FedEx</dc:title>
  <dc:creator>Digi</dc:creator>
  <cp:lastModifiedBy>Srivallika Dagdhar</cp:lastModifiedBy>
  <cp:revision>44</cp:revision>
  <dcterms:modified xsi:type="dcterms:W3CDTF">2026-01-22T10:59:55Z</dcterms:modified>
</cp:coreProperties>
</file>